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68" r:id="rId2"/>
    <p:sldId id="269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9144000" cy="5148263"/>
  <p:notesSz cx="6858000" cy="9144000"/>
  <p:defaultTextStyle>
    <a:defPPr>
      <a:defRPr lang="en-US"/>
    </a:defPPr>
    <a:lvl1pPr marL="0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66446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32892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99337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65783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832229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98675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65121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931566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50" d="100"/>
          <a:sy n="150" d="100"/>
        </p:scale>
        <p:origin x="-514" y="-101"/>
      </p:cViewPr>
      <p:guideLst>
        <p:guide orient="horz" pos="162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8AFA80-42E6-4D6E-98A8-76EB73FCA56B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5800"/>
            <a:ext cx="60896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5EFDED-03A5-4C32-9A03-CAB6ED320F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04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366446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732892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099337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465783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832229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2198675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2565121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931566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5800"/>
            <a:ext cx="60896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accent6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4501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20327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9" y="592"/>
            <a:ext cx="2250363" cy="1045267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8" y="592"/>
            <a:ext cx="2250363" cy="1045267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94"/>
            <a:ext cx="1851282" cy="752805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21758"/>
            <a:ext cx="2389068" cy="926594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50" y="4059410"/>
            <a:ext cx="2795414" cy="1084311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34" name="Google Shape;34;p2"/>
          <p:cNvSpPr txBox="1">
            <a:spLocks noGrp="1"/>
          </p:cNvSpPr>
          <p:nvPr>
            <p:ph type="ctrTitle"/>
          </p:nvPr>
        </p:nvSpPr>
        <p:spPr>
          <a:xfrm>
            <a:off x="1858703" y="1824521"/>
            <a:ext cx="5361300" cy="144944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2"/>
          <p:cNvSpPr txBox="1">
            <a:spLocks noGrp="1"/>
          </p:cNvSpPr>
          <p:nvPr>
            <p:ph type="subTitle" idx="1"/>
          </p:nvPr>
        </p:nvSpPr>
        <p:spPr>
          <a:xfrm>
            <a:off x="1858700" y="3416318"/>
            <a:ext cx="5361300" cy="5230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8520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solidFill>
          <a:schemeClr val="accent3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11539"/>
            <a:ext cx="4386900" cy="2836724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2" y="3964785"/>
            <a:ext cx="2910145" cy="1183435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50" y="5"/>
            <a:ext cx="2795414" cy="1084311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47" name="Google Shape;47;p3"/>
          <p:cNvSpPr txBox="1">
            <a:spLocks noGrp="1"/>
          </p:cNvSpPr>
          <p:nvPr>
            <p:ph type="title"/>
          </p:nvPr>
        </p:nvSpPr>
        <p:spPr>
          <a:xfrm>
            <a:off x="1888684" y="1747717"/>
            <a:ext cx="5377500" cy="164762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015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solidFill>
          <a:schemeClr val="dk2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3" name="Google Shape;53;p4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1"/>
          </p:nvPr>
        </p:nvSpPr>
        <p:spPr>
          <a:xfrm>
            <a:off x="819150" y="1992568"/>
            <a:ext cx="75057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2807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0" name="Google Shape;60;p5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5"/>
          <p:cNvSpPr txBox="1">
            <a:spLocks noGrp="1"/>
          </p:cNvSpPr>
          <p:nvPr>
            <p:ph type="body" idx="1"/>
          </p:nvPr>
        </p:nvSpPr>
        <p:spPr>
          <a:xfrm>
            <a:off x="819150" y="1992568"/>
            <a:ext cx="36861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5"/>
          <p:cNvSpPr txBox="1">
            <a:spLocks noGrp="1"/>
          </p:cNvSpPr>
          <p:nvPr>
            <p:ph type="body" idx="2"/>
          </p:nvPr>
        </p:nvSpPr>
        <p:spPr>
          <a:xfrm>
            <a:off x="4638675" y="1992568"/>
            <a:ext cx="36861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935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8" name="Google Shape;68;p6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69" name="Google Shape;69;p6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553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accent3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3" name="Google Shape;73;p7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3709200" cy="1384281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7"/>
          <p:cNvSpPr txBox="1">
            <a:spLocks noGrp="1"/>
          </p:cNvSpPr>
          <p:nvPr>
            <p:ph type="body" idx="1"/>
          </p:nvPr>
        </p:nvSpPr>
        <p:spPr>
          <a:xfrm>
            <a:off x="830700" y="2321198"/>
            <a:ext cx="3709200" cy="2121763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94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5758"/>
            <a:ext cx="7369200" cy="2319046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5552"/>
            <a:ext cx="5560500" cy="3592824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80" name="Google Shape;80;p8"/>
          <p:cNvGrpSpPr/>
          <p:nvPr/>
        </p:nvGrpSpPr>
        <p:grpSpPr>
          <a:xfrm>
            <a:off x="256001" y="-118"/>
            <a:ext cx="2251347" cy="1044374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5" y="4526314"/>
            <a:ext cx="1593306" cy="617644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63" y="1245"/>
            <a:ext cx="3257455" cy="1262682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1393929" y="1302351"/>
            <a:ext cx="6366900" cy="254155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9pPr>
          </a:lstStyle>
          <a:p>
            <a:endParaRPr/>
          </a:p>
        </p:txBody>
      </p:sp>
      <p:sp>
        <p:nvSpPr>
          <p:cNvPr id="94" name="Google Shape;94;p8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066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2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7" name="Google Shape;97;p9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8" name="Google Shape;98;p9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9" name="Google Shape;99;p9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6424200" cy="705653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100" name="Google Shape;100;p9"/>
          <p:cNvSpPr txBox="1">
            <a:spLocks noGrp="1"/>
          </p:cNvSpPr>
          <p:nvPr>
            <p:ph type="subTitle" idx="1"/>
          </p:nvPr>
        </p:nvSpPr>
        <p:spPr>
          <a:xfrm>
            <a:off x="819150" y="1552136"/>
            <a:ext cx="5859900" cy="39396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9"/>
          <p:cNvSpPr txBox="1">
            <a:spLocks noGrp="1"/>
          </p:cNvSpPr>
          <p:nvPr>
            <p:ph type="body" idx="2"/>
          </p:nvPr>
        </p:nvSpPr>
        <p:spPr>
          <a:xfrm>
            <a:off x="819150" y="2469335"/>
            <a:ext cx="5859900" cy="2097440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p9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864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7" name="Google Shape;107;p10"/>
          <p:cNvSpPr txBox="1">
            <a:spLocks noGrp="1"/>
          </p:cNvSpPr>
          <p:nvPr>
            <p:ph type="body" idx="1"/>
          </p:nvPr>
        </p:nvSpPr>
        <p:spPr>
          <a:xfrm>
            <a:off x="328025" y="4167355"/>
            <a:ext cx="7415100" cy="605660"/>
          </a:xfrm>
          <a:prstGeom prst="rect">
            <a:avLst/>
          </a:prstGeom>
        </p:spPr>
        <p:txBody>
          <a:bodyPr spcFirstLastPara="1" wrap="square" lIns="73277" tIns="73277" rIns="73277" bIns="73277" anchor="b" anchorCtr="0">
            <a:normAutofit/>
          </a:bodyPr>
          <a:lstStyle>
            <a:lvl1pPr marL="366446" lvl="0" indent="-18322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8" name="Google Shape;108;p10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4559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accent3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6699"/>
            <a:ext cx="3574800" cy="2311539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23397"/>
            <a:ext cx="2520952" cy="1025113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50" y="5"/>
            <a:ext cx="2795414" cy="1084311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119" name="Google Shape;119;p11"/>
          <p:cNvSpPr txBox="1">
            <a:spLocks noGrp="1"/>
          </p:cNvSpPr>
          <p:nvPr>
            <p:ph type="title" hasCustomPrompt="1"/>
          </p:nvPr>
        </p:nvSpPr>
        <p:spPr>
          <a:xfrm>
            <a:off x="1385850" y="1385131"/>
            <a:ext cx="6372300" cy="1380978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1"/>
          </p:nvPr>
        </p:nvSpPr>
        <p:spPr>
          <a:xfrm>
            <a:off x="1385850" y="2866502"/>
            <a:ext cx="6372300" cy="64169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710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920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438"/>
            <a:ext cx="8520600" cy="57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3542"/>
            <a:ext cx="8520600" cy="3394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o" kern="0">
                <a:solidFill>
                  <a:srgbClr val="233A44"/>
                </a:solidFill>
              </a:rPr>
              <a:pPr>
                <a:buClr>
                  <a:srgbClr val="000000"/>
                </a:buClr>
                <a:buFont typeface="Arial"/>
                <a:buNone/>
              </a:pPr>
              <a:t>‹#›</a:t>
            </a:fld>
            <a:endParaRPr kern="0"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179816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1Kl7ehxihb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>
            <a:spLocks noGrp="1"/>
          </p:cNvSpPr>
          <p:nvPr>
            <p:ph type="ctrTitle"/>
          </p:nvPr>
        </p:nvSpPr>
        <p:spPr>
          <a:xfrm>
            <a:off x="1280700" y="1548133"/>
            <a:ext cx="6582600" cy="144944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 fontScale="90000"/>
          </a:bodyPr>
          <a:lstStyle/>
          <a:p>
            <a:pPr>
              <a:lnSpc>
                <a:spcPct val="115000"/>
              </a:lnSpc>
            </a:pPr>
            <a:r>
              <a:rPr lang="ro" sz="1400" b="1" dirty="0">
                <a:solidFill>
                  <a:srgbClr val="000000"/>
                </a:solidFill>
                <a:ea typeface="Arial"/>
                <a:cs typeface="Arial"/>
                <a:sym typeface="Arial"/>
              </a:rPr>
              <a:t>PROIECT</a:t>
            </a:r>
            <a:endParaRPr sz="1400" b="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>
              <a:lnSpc>
                <a:spcPct val="115000"/>
              </a:lnSpc>
            </a:pPr>
            <a:r>
              <a:rPr lang="ro" sz="1300" b="1" dirty="0">
                <a:solidFill>
                  <a:srgbClr val="000000"/>
                </a:solidFill>
                <a:ea typeface="Arial"/>
                <a:cs typeface="Arial"/>
                <a:sym typeface="Arial"/>
              </a:rPr>
              <a:t>~ Testarea Sistemelor Software ~</a:t>
            </a:r>
            <a:endParaRPr sz="1300" b="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>
              <a:lnSpc>
                <a:spcPct val="115000"/>
              </a:lnSpc>
            </a:pPr>
            <a:endParaRPr sz="13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0179">
              <a:lnSpc>
                <a:spcPct val="115000"/>
              </a:lnSpc>
              <a:spcAft>
                <a:spcPts val="321"/>
              </a:spcAft>
            </a:pPr>
            <a:r>
              <a:rPr lang="ro" sz="17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T1 – </a:t>
            </a:r>
            <a:r>
              <a:rPr lang="vi-VN" sz="1900" b="1" dirty="0">
                <a:solidFill>
                  <a:schemeClr val="bg2">
                    <a:lumMod val="50000"/>
                  </a:schemeClr>
                </a:solidFill>
              </a:rPr>
              <a:t>Testare unitară în </a:t>
            </a:r>
            <a:r>
              <a:rPr lang="vi-VN" sz="1900" b="1" dirty="0" smtClean="0">
                <a:solidFill>
                  <a:schemeClr val="bg2">
                    <a:lumMod val="50000"/>
                  </a:schemeClr>
                </a:solidFill>
              </a:rPr>
              <a:t>Python</a:t>
            </a:r>
            <a:r>
              <a:rPr lang="ro-RO" sz="1900" b="1" dirty="0" smtClean="0">
                <a:solidFill>
                  <a:schemeClr val="bg2">
                    <a:lumMod val="50000"/>
                  </a:schemeClr>
                </a:solidFill>
              </a:rPr>
              <a:t/>
            </a:r>
            <a:br>
              <a:rPr lang="ro-RO" sz="1900" b="1" dirty="0" smtClean="0">
                <a:solidFill>
                  <a:schemeClr val="bg2">
                    <a:lumMod val="50000"/>
                  </a:schemeClr>
                </a:solidFill>
              </a:rPr>
            </a:br>
            <a:r>
              <a:rPr lang="ro-RO" sz="1900" b="1" dirty="0" smtClean="0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Fitness Class Booking</a:t>
            </a:r>
            <a:endParaRPr sz="3200" dirty="0">
              <a:solidFill>
                <a:schemeClr val="bg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1"/>
          </p:nvPr>
        </p:nvSpPr>
        <p:spPr>
          <a:xfrm>
            <a:off x="3596975" y="3199085"/>
            <a:ext cx="4477200" cy="5230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Autofit/>
          </a:bodyPr>
          <a:lstStyle/>
          <a:p>
            <a:pPr marL="0" indent="0">
              <a:lnSpc>
                <a:spcPct val="95000"/>
              </a:lnSpc>
              <a:buSzPts val="935"/>
            </a:pPr>
            <a:r>
              <a:rPr lang="ro" sz="1000" dirty="0">
                <a:solidFill>
                  <a:srgbClr val="000000"/>
                </a:solidFill>
                <a:latin typeface="Nunito"/>
                <a:ea typeface="Arial"/>
                <a:cs typeface="Arial"/>
                <a:sym typeface="Arial"/>
              </a:rPr>
              <a:t> Proiect realizat de: Mihăilă Denisa, Grupa 352</a:t>
            </a:r>
            <a:endParaRPr sz="1000" dirty="0">
              <a:solidFill>
                <a:srgbClr val="000000"/>
              </a:solidFill>
              <a:latin typeface="Nunito"/>
              <a:ea typeface="Arial"/>
              <a:cs typeface="Arial"/>
              <a:sym typeface="Arial"/>
            </a:endParaRPr>
          </a:p>
          <a:p>
            <a:pPr marL="0" indent="0">
              <a:lnSpc>
                <a:spcPct val="95000"/>
              </a:lnSpc>
              <a:buSzPts val="935"/>
            </a:pPr>
            <a:r>
              <a:rPr lang="ro" sz="1000" dirty="0">
                <a:solidFill>
                  <a:srgbClr val="000000"/>
                </a:solidFill>
                <a:latin typeface="Nunito"/>
                <a:ea typeface="Arial"/>
                <a:cs typeface="Arial"/>
                <a:sym typeface="Arial"/>
              </a:rPr>
              <a:t>                                         Nițe Dan-Alexandru, Grupa 344</a:t>
            </a:r>
            <a:endParaRPr dirty="0">
              <a:latin typeface="Nunito"/>
            </a:endParaRPr>
          </a:p>
        </p:txBody>
      </p:sp>
      <p:sp>
        <p:nvSpPr>
          <p:cNvPr id="130" name="Google Shape;130;p13"/>
          <p:cNvSpPr txBox="1"/>
          <p:nvPr/>
        </p:nvSpPr>
        <p:spPr>
          <a:xfrm>
            <a:off x="3072000" y="328629"/>
            <a:ext cx="3000000" cy="625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spAutoFit/>
          </a:bodyPr>
          <a:lstStyle/>
          <a:p>
            <a:pPr algn="ctr">
              <a:lnSpc>
                <a:spcPct val="115000"/>
              </a:lnSpc>
              <a:buClr>
                <a:srgbClr val="000000"/>
              </a:buClr>
              <a:buFont typeface="Arial"/>
              <a:buNone/>
            </a:pP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Universitatea din București</a:t>
            </a:r>
            <a:b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</a:b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Facultatea de Matematică și Informatică</a:t>
            </a:r>
            <a:b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</a:b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Anul Universitar 2025-2026</a:t>
            </a:r>
            <a:endParaRPr sz="900" kern="0" dirty="0">
              <a:solidFill>
                <a:srgbClr val="999999"/>
              </a:solidFill>
              <a:latin typeface="Nunito"/>
              <a:cs typeface="Arial"/>
              <a:sym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436912" y="4555331"/>
            <a:ext cx="227017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800" i="1" dirty="0" err="1">
                <a:solidFill>
                  <a:schemeClr val="tx1">
                    <a:lumMod val="65000"/>
                  </a:schemeClr>
                </a:solidFill>
                <a:latin typeface="Nunito"/>
              </a:rPr>
              <a:t>Videoclip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</a:rPr>
              <a:t> </a:t>
            </a:r>
            <a:r>
              <a:rPr lang="en-US" sz="800" i="1" dirty="0" err="1">
                <a:solidFill>
                  <a:schemeClr val="tx1">
                    <a:lumMod val="65000"/>
                  </a:schemeClr>
                </a:solidFill>
                <a:latin typeface="Nunito"/>
              </a:rPr>
              <a:t>rulare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</a:rPr>
              <a:t>: 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  <a:hlinkClick r:id="rId3"/>
              </a:rPr>
              <a:t>https://youtu.be/1Kl7ehxihbY</a:t>
            </a:r>
            <a:endParaRPr lang="en-US" sz="800" i="1" dirty="0">
              <a:solidFill>
                <a:schemeClr val="tx1">
                  <a:lumMod val="65000"/>
                </a:schemeClr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3434954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673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Nunito"/>
              </a:rPr>
              <a:t>Clasa FitnessClassBooking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26331"/>
            <a:ext cx="4343400" cy="259080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28600" y="1126331"/>
            <a:ext cx="71169" cy="25908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1480" y="1172051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dirty="0">
                <a:solidFill>
                  <a:srgbClr val="233A44"/>
                </a:solidFill>
                <a:latin typeface="Nunito"/>
              </a:rPr>
              <a:t>__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init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__(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class_name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, instructor,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max_spots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,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price_per_session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94" y="1507331"/>
            <a:ext cx="419845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 err="1" smtClean="0">
                <a:solidFill>
                  <a:srgbClr val="233A44"/>
                </a:solidFill>
                <a:latin typeface="Nunito"/>
              </a:rPr>
              <a:t>Validează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 parametrii primiți</a:t>
            </a:r>
            <a:r>
              <a:rPr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 smtClean="0">
                <a:solidFill>
                  <a:srgbClr val="233A44"/>
                </a:solidFill>
                <a:latin typeface="Nunito"/>
              </a:rPr>
              <a:t>și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 apoi</a:t>
            </a:r>
            <a:r>
              <a:rPr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>
                <a:solidFill>
                  <a:srgbClr val="233A44"/>
                </a:solidFill>
                <a:latin typeface="Nunito"/>
              </a:rPr>
              <a:t>inițializează</a:t>
            </a:r>
            <a:r>
              <a:rPr sz="900" dirty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>
                <a:solidFill>
                  <a:srgbClr val="233A44"/>
                </a:solidFill>
                <a:latin typeface="Nunito"/>
              </a:rPr>
              <a:t>obiectul</a:t>
            </a:r>
            <a:r>
              <a:rPr sz="900" dirty="0">
                <a:solidFill>
                  <a:srgbClr val="233A44"/>
                </a:solidFill>
                <a:latin typeface="Nunito"/>
              </a:rPr>
              <a:t>. </a:t>
            </a:r>
            <a:endParaRPr lang="ro-RO" sz="900" dirty="0" smtClean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class_name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una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dintre clasele valide: "dance", "pilates", "yoga", "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zumba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”, altfel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se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aruncă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ValueError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instructor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de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tip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str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nu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poate fi șir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gol </a:t>
            </a:r>
            <a:r>
              <a:rPr lang="ro-RO" sz="800" dirty="0">
                <a:solidFill>
                  <a:srgbClr val="233A44"/>
                </a:solidFill>
                <a:latin typeface="Nunito"/>
              </a:rPr>
              <a:t>”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 și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nu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poate conține doar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spații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" "</a:t>
            </a:r>
          </a:p>
          <a:p>
            <a:r>
              <a:rPr lang="vi-VN" sz="800" dirty="0" smtClean="0">
                <a:solidFill>
                  <a:srgbClr val="233A44"/>
                </a:solidFill>
                <a:latin typeface="Nunito"/>
              </a:rPr>
              <a:t>verificare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cu strip() 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pentru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elimin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area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spațiil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or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de la început și final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max_spots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ro-RO" sz="800" dirty="0">
                <a:solidFill>
                  <a:srgbClr val="233A44"/>
                </a:solidFill>
                <a:latin typeface="Nunito"/>
              </a:rPr>
              <a:t>d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e tip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int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în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intervalul [1, 30]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valorile True și False sunt respinse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explicit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prin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isinstance(max_spots, bool), deoarece în Python bool este subclasă de int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price_per_session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ro-RO" sz="800" dirty="0">
                <a:solidFill>
                  <a:srgbClr val="233A44"/>
                </a:solidFill>
                <a:latin typeface="Nunito"/>
              </a:rPr>
              <a:t>n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umăr de tip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int sau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float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strict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mai mare decât 0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sz="80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0" y="1126331"/>
            <a:ext cx="4343400" cy="259080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0" y="1126331"/>
            <a:ext cx="82296" cy="2590800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09160" y="1172051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dirty="0" err="1">
                <a:solidFill>
                  <a:srgbClr val="233A44"/>
                </a:solidFill>
                <a:latin typeface="Nunito"/>
              </a:rPr>
              <a:t>book_spot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(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) →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str</a:t>
            </a:r>
            <a:endParaRPr sz="1050" b="1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507331"/>
            <a:ext cx="3703320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 err="1">
                <a:solidFill>
                  <a:srgbClr val="233A44"/>
                </a:solidFill>
                <a:latin typeface="Nunito"/>
              </a:rPr>
              <a:t>Rezervă</a:t>
            </a:r>
            <a:r>
              <a:rPr sz="900" dirty="0">
                <a:solidFill>
                  <a:srgbClr val="233A44"/>
                </a:solidFill>
                <a:latin typeface="Nunito"/>
              </a:rPr>
              <a:t> un </a:t>
            </a:r>
            <a:r>
              <a:rPr sz="900" dirty="0" err="1" smtClean="0">
                <a:solidFill>
                  <a:srgbClr val="233A44"/>
                </a:solidFill>
                <a:latin typeface="Nunito"/>
              </a:rPr>
              <a:t>loc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stabil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ind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900" dirty="0">
                <a:solidFill>
                  <a:srgbClr val="233A44"/>
                </a:solidFill>
                <a:latin typeface="Nunito"/>
              </a:rPr>
              <a:t>rezultatul unei rezervări în funcție de locurile disponibile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.</a:t>
            </a:r>
            <a:endParaRPr lang="ro-RO" sz="900" dirty="0" smtClean="0">
              <a:solidFill>
                <a:srgbClr val="233A44"/>
              </a:solidFill>
              <a:latin typeface="Nunito"/>
            </a:endParaRPr>
          </a:p>
          <a:p>
            <a:endParaRPr lang="ro-RO" sz="9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există locuri libere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adăugat în _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confirmed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booked_spots crește cu 1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"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confirmed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</a:t>
            </a: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sala este plină, dar waitlist-ul are 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loc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adăugat în waitlist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se returnează "waitlist"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Dacă </a:t>
            </a:r>
            <a:r>
              <a:rPr lang="vi-VN" sz="800" b="1" dirty="0">
                <a:solidFill>
                  <a:srgbClr val="233A44"/>
                </a:solidFill>
                <a:latin typeface="Nunito"/>
              </a:rPr>
              <a:t>sala și waitlist-ul sunt pline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respins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se returnează "rejected"</a:t>
            </a:r>
            <a:endParaRPr sz="80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52400" y="710833"/>
            <a:ext cx="874380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0" i="0">
                <a:solidFill>
                  <a:srgbClr val="233A44"/>
                </a:solidFill>
                <a:latin typeface="Nunito"/>
              </a:defRPr>
            </a:lvl1pPr>
          </a:lstStyle>
          <a:p>
            <a:r>
              <a:rPr lang="ro-RO" b="1" dirty="0" smtClean="0"/>
              <a:t>	</a:t>
            </a:r>
            <a:r>
              <a:rPr lang="vi-VN" b="1" dirty="0" smtClean="0"/>
              <a:t>FitnessClassBooking</a:t>
            </a:r>
            <a:r>
              <a:rPr lang="vi-VN" dirty="0"/>
              <a:t> gestionează rezervările pentru o ședință de fitness. </a:t>
            </a:r>
            <a:r>
              <a:rPr lang="vi-VN" dirty="0"/>
              <a:t>Suportă locuri confirmate, o listă de așteptare de maximum 5 persoane și anulări cu promovare automată din waitlist.</a:t>
            </a:r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2971800" y="516732"/>
            <a:ext cx="2971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sz="1200" b="1" i="1" dirty="0" smtClean="0">
                <a:solidFill>
                  <a:srgbClr val="233A44"/>
                </a:solidFill>
                <a:latin typeface="Nunito"/>
              </a:rPr>
              <a:t>Descrierea</a:t>
            </a:r>
            <a:r>
              <a:rPr lang="ro-RO" sz="1200" b="1" dirty="0">
                <a:solidFill>
                  <a:srgbClr val="233A44"/>
                </a:solidFill>
                <a:latin typeface="Nunito"/>
              </a:rPr>
              <a:t> </a:t>
            </a:r>
            <a:r>
              <a:rPr lang="ro-RO" sz="1200" b="1" i="1" dirty="0" smtClean="0">
                <a:solidFill>
                  <a:srgbClr val="233A44"/>
                </a:solidFill>
                <a:latin typeface="Nunito"/>
              </a:rPr>
              <a:t>și Metodele Clasei  </a:t>
            </a:r>
            <a:endParaRPr sz="1200" b="1" i="1" dirty="0">
              <a:solidFill>
                <a:srgbClr val="233A44"/>
              </a:solidFill>
              <a:latin typeface="Nunito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8" y="3793331"/>
            <a:ext cx="4201062" cy="1067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880" y="3793329"/>
            <a:ext cx="2314405" cy="1067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5494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9144000" cy="669131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Clasa FitnessClassBooking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872927"/>
            <a:ext cx="4343400" cy="2615604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28600" y="876395"/>
            <a:ext cx="82296" cy="2612136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922115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 err="1">
                <a:solidFill>
                  <a:srgbClr val="233A44"/>
                </a:solidFill>
                <a:latin typeface="Nunito"/>
              </a:rPr>
              <a:t>cancel_booking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(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) → 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bool</a:t>
            </a:r>
            <a:endParaRPr sz="1050" b="1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7614" y="1354931"/>
            <a:ext cx="416052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233A44"/>
                </a:solidFill>
                <a:latin typeface="Nunito"/>
              </a:rPr>
              <a:t>Anulează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rezervarea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unui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client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confirmat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sau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waitlist. 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pPr algn="l"/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Promovează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automat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primul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waitlist la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anulare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confirmed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.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Dacă </a:t>
            </a:r>
            <a:r>
              <a:rPr lang="vi-VN" sz="800" b="1" dirty="0">
                <a:solidFill>
                  <a:srgbClr val="233A44"/>
                </a:solidFill>
                <a:latin typeface="Nunito"/>
              </a:rPr>
              <a:t>clientul este în lista de confirmați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este eliminat din _confirmed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booked_spots scade cu 1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există persoane în waitlist, prima este promovată automat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metoda returnează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True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clientul este doar pe waitlist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este eliminat din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waitlist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metoda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True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clientul nu este găsit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nu se modifică nicio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listă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metoda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False</a:t>
            </a:r>
            <a:r>
              <a:rPr sz="800" b="0" i="0" dirty="0" smtClean="0">
                <a:solidFill>
                  <a:srgbClr val="233A44"/>
                </a:solidFill>
                <a:latin typeface="Nunito"/>
              </a:rPr>
              <a:t> </a:t>
            </a:r>
            <a:endParaRPr sz="8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0" y="861575"/>
            <a:ext cx="4343400" cy="2626956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0" y="861575"/>
            <a:ext cx="82296" cy="2626956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0" y="907295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 err="1">
                <a:solidFill>
                  <a:srgbClr val="233A44"/>
                </a:solidFill>
                <a:latin typeface="Nunito"/>
              </a:rPr>
              <a:t>calculate_cost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(sessions, 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has_membership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) → float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1544111"/>
            <a:ext cx="416052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dirty="0" smtClean="0">
                <a:solidFill>
                  <a:srgbClr val="233A44"/>
                </a:solidFill>
                <a:latin typeface="Nunito"/>
              </a:rPr>
              <a:t>Calculează c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ost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ul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total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pentru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1–20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ședințe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. 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pPr algn="l"/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Reduceri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aditive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: −20%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membership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+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−10%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volum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(≥10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ședințe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). </a:t>
            </a:r>
            <a:endParaRPr lang="ro-RO" sz="1000" dirty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Mai întâi se calculează costul de bază: cost = sessions *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price_per_session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Apoi se pornește de la un discount inițial de 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utilizatorul are membership: se adaugă o reducere de 20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numărul de ședințe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es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t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cel puțin 10: se adaugă o reducere de volum de 10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Reducerile sunt aditive: membership + volum = 20% + 10% = 30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%;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La final, costul este rotunjit la două zecimale cu round(..., 2).</a:t>
            </a:r>
            <a:endParaRPr sz="800" b="0" i="0" dirty="0">
              <a:solidFill>
                <a:srgbClr val="233A44"/>
              </a:solidFill>
              <a:latin typeface="Nunito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2878" y="3539998"/>
            <a:ext cx="1724025" cy="13564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875" y="3640931"/>
            <a:ext cx="1771650" cy="10068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6884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5331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Strategia 1 – Clase de Echivalență (EP)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452723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EC01–EC30  |  test_equivalence_partitioning.py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240" y="745331"/>
            <a:ext cx="29839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0796B"/>
                </a:solidFill>
                <a:latin typeface="Nunito"/>
              </a:rPr>
              <a:t>__</a:t>
            </a:r>
            <a:r>
              <a:rPr sz="1200" b="1" i="0" dirty="0" err="1">
                <a:solidFill>
                  <a:srgbClr val="00796B"/>
                </a:solidFill>
                <a:latin typeface="Nunito"/>
              </a:rPr>
              <a:t>init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__  (EC01–EC12, EC26–EC28)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39466" y="728382"/>
            <a:ext cx="266090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D9563F"/>
                </a:solidFill>
                <a:latin typeface="Nunito"/>
              </a:rPr>
              <a:t>book_spot</a:t>
            </a:r>
            <a:r>
              <a:rPr sz="1200" b="1" i="0" dirty="0">
                <a:solidFill>
                  <a:srgbClr val="D9563F"/>
                </a:solidFill>
                <a:latin typeface="Nunito"/>
              </a:rPr>
              <a:t>  (EC13–EC16, EC29)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8215" y="2147409"/>
            <a:ext cx="30845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C4A15A"/>
                </a:solidFill>
                <a:latin typeface="Nunito"/>
              </a:rPr>
              <a:t>calculate_cost</a:t>
            </a:r>
            <a:r>
              <a:rPr sz="1200" b="1" i="0" dirty="0">
                <a:solidFill>
                  <a:srgbClr val="C4A15A"/>
                </a:solidFill>
                <a:latin typeface="Nunito"/>
              </a:rPr>
              <a:t>  (EC20–EC25, EC30)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271" y="1022505"/>
            <a:ext cx="4159931" cy="3380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9536" y="977811"/>
            <a:ext cx="3540766" cy="116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6168" y="2421731"/>
            <a:ext cx="3348669" cy="14853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7" name="TextBox 36"/>
          <p:cNvSpPr txBox="1"/>
          <p:nvPr/>
        </p:nvSpPr>
        <p:spPr>
          <a:xfrm>
            <a:off x="5867400" y="3869531"/>
            <a:ext cx="21546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2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c</a:t>
            </a:r>
            <a:r>
              <a:rPr lang="ro-RO"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ancel_booking </a:t>
            </a:r>
            <a:r>
              <a:rPr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(EC</a:t>
            </a:r>
            <a:r>
              <a:rPr lang="ro-RO"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17-19</a:t>
            </a:r>
            <a:r>
              <a:rPr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)</a:t>
            </a:r>
            <a:endParaRPr sz="1200" b="1" i="0" dirty="0">
              <a:solidFill>
                <a:schemeClr val="accent6">
                  <a:lumMod val="60000"/>
                  <a:lumOff val="40000"/>
                </a:schemeClr>
              </a:solidFill>
              <a:latin typeface="Nunito"/>
            </a:endParaRPr>
          </a:p>
        </p:txBody>
      </p:sp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147" y="4146530"/>
            <a:ext cx="2957544" cy="7706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43681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Strategia 2 – Valori de Frontieră (BVA)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BVA01–BVA23  |  test_boundary_value_analysis.py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98755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 err="1">
                <a:solidFill>
                  <a:srgbClr val="999999"/>
                </a:solidFill>
                <a:latin typeface="Nunito"/>
              </a:rPr>
              <a:t>Principiu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: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erori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apar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frecvent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la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limite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lang="ro-RO" sz="1000" i="1" dirty="0">
                <a:solidFill>
                  <a:srgbClr val="999999"/>
                </a:solidFill>
                <a:latin typeface="Nunito"/>
              </a:rPr>
              <a:t> </a:t>
            </a:r>
            <a:r>
              <a:rPr lang="ro-RO" sz="1000" i="1" dirty="0" smtClean="0">
                <a:solidFill>
                  <a:srgbClr val="999999"/>
                </a:solidFill>
                <a:latin typeface="Nunito"/>
              </a:rPr>
              <a:t>-</a:t>
            </a:r>
            <a:r>
              <a:rPr sz="1000" b="0" i="1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se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testează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sub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, la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și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imediat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peste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307592"/>
            <a:ext cx="26151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" y="1353312"/>
            <a:ext cx="25237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Frontieră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307592"/>
            <a:ext cx="18836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35224" y="1353312"/>
            <a:ext cx="17922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Sub frontieră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307592"/>
            <a:ext cx="18836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183" y="1353312"/>
            <a:ext cx="17922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La frontieră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12280" y="1307592"/>
            <a:ext cx="19751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67144" y="1353312"/>
            <a:ext cx="18836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Peste frontieră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664208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7744" y="1728216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max_spots ≥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1664208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35224" y="172821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 → ValueError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64208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183" y="172821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 → valid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1664208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67144" y="1728216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valid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93976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37744" y="2157984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max_spots ≤ 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2093976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35224" y="215798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29 → valid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093976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183" y="215798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30 → valid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2093976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67144" y="215798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31 → ValueError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523744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37744" y="2587751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price &gt;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2523744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35224" y="2587751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−0.01 → ValueError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2523744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183" y="2587751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0.0 → ValueError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12280" y="2523744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67144" y="2587751"/>
            <a:ext cx="18836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0.01 →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valid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82880" y="2953512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37744" y="3017520"/>
            <a:ext cx="2523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book_spot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– </a:t>
            </a:r>
            <a:r>
              <a:rPr lang="ro-RO" sz="1000" dirty="0" smtClean="0">
                <a:solidFill>
                  <a:srgbClr val="00796B"/>
                </a:solidFill>
                <a:latin typeface="Nunito"/>
              </a:rPr>
              <a:t>booked </a:t>
            </a:r>
            <a:r>
              <a:rPr lang="en-US" sz="1000" dirty="0" smtClean="0">
                <a:solidFill>
                  <a:srgbClr val="00796B"/>
                </a:solidFill>
                <a:latin typeface="Nunito"/>
              </a:rPr>
              <a:t>&lt; </a:t>
            </a:r>
            <a:r>
              <a:rPr lang="en-US" sz="1000" dirty="0" err="1" smtClean="0">
                <a:solidFill>
                  <a:srgbClr val="00796B"/>
                </a:solidFill>
                <a:latin typeface="Nunito"/>
              </a:rPr>
              <a:t>max_spots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880360" y="2953512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935224" y="3017520"/>
            <a:ext cx="1792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max−1 </a:t>
            </a:r>
            <a:r>
              <a:rPr lang="en-US" sz="1000" b="0" i="0" dirty="0" smtClean="0">
                <a:solidFill>
                  <a:srgbClr val="233A44"/>
                </a:solidFill>
                <a:latin typeface="Nunito"/>
              </a:rPr>
              <a:t>booked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confirmed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46320" y="2953512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183" y="3017520"/>
            <a:ext cx="1792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00" dirty="0">
                <a:solidFill>
                  <a:srgbClr val="233A44"/>
                </a:solidFill>
                <a:latin typeface="Nunito"/>
              </a:rPr>
              <a:t>m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ax</a:t>
            </a:r>
            <a:r>
              <a:rPr lang="en-US" sz="1000" b="0" i="0" dirty="0" smtClean="0">
                <a:solidFill>
                  <a:srgbClr val="233A44"/>
                </a:solidFill>
                <a:latin typeface="Nunito"/>
              </a:rPr>
              <a:t> booked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waitlist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12280" y="2953512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867144" y="3017520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3383280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37744" y="344728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book_spot – waitlist &lt; 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3383280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935224" y="3447288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4 pe WL → waitlist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46320" y="3383280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901183" y="3447288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5 pe WL → rejected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12280" y="3383280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867144" y="3447288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2880" y="3813048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37744" y="3877056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calculate_cost – sessions ≥ 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80360" y="3813048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935224" y="387705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 → ValueError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0" y="3813048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901183" y="387705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 → valid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12280" y="3813048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867144" y="3877056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valid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2880" y="4242816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37744" y="4306824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calculate_cost – sessions ≤ 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80360" y="4242816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935224" y="430682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19 → valid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846320" y="4242816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901183" y="430682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20 → valid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12280" y="4242816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430682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21 → ValueError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82880" y="4672584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37744" y="4736592"/>
            <a:ext cx="2523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calculate_cost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– </a:t>
            </a:r>
            <a:r>
              <a:rPr lang="en-US" sz="1000" b="0" i="0" dirty="0" smtClean="0">
                <a:solidFill>
                  <a:srgbClr val="00796B"/>
                </a:solidFill>
                <a:latin typeface="Nunito"/>
              </a:rPr>
              <a:t>sessions </a:t>
            </a:r>
            <a:r>
              <a:rPr sz="1000" b="0" i="0" dirty="0" smtClean="0">
                <a:solidFill>
                  <a:srgbClr val="00796B"/>
                </a:solidFill>
                <a:latin typeface="Nunito"/>
              </a:rPr>
              <a:t>≥ 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10 </a:t>
            </a:r>
            <a:r>
              <a:rPr lang="en-US" sz="1000" b="0" i="0" dirty="0" smtClean="0">
                <a:solidFill>
                  <a:srgbClr val="00796B"/>
                </a:solidFill>
                <a:latin typeface="Nunito"/>
              </a:rPr>
              <a:t>(discount)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2880360" y="4672584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935224" y="4736592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9 → fără disc.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846320" y="4672584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901183" y="4736592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10 → −10%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12280" y="4672584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867144" y="4736592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11 → −10%</a:t>
            </a:r>
          </a:p>
        </p:txBody>
      </p:sp>
    </p:spTree>
    <p:extLst>
      <p:ext uri="{BB962C8B-B14F-4D97-AF65-F5344CB8AC3E}">
        <p14:creationId xmlns:p14="http://schemas.microsoft.com/office/powerpoint/2010/main" val="321186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 dirty="0" err="1">
                <a:solidFill>
                  <a:srgbClr val="FFFFFF"/>
                </a:solidFill>
                <a:latin typeface="Nunito"/>
              </a:rPr>
              <a:t>Strategiile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3–4 </a:t>
            </a:r>
            <a:r>
              <a:rPr sz="2200" b="1" dirty="0">
                <a:solidFill>
                  <a:srgbClr val="FFFFFF"/>
                </a:solidFill>
                <a:latin typeface="Nunito"/>
              </a:rPr>
              <a:t>– </a:t>
            </a:r>
            <a:r>
              <a:rPr lang="en-US" sz="2200" b="1" dirty="0">
                <a:solidFill>
                  <a:srgbClr val="FFFFFF"/>
                </a:solidFill>
                <a:latin typeface="Nunito"/>
              </a:rPr>
              <a:t>Statement &amp; Decision Coverage</a:t>
            </a:r>
            <a:endParaRPr sz="2200" b="1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test_coverage.py  | 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TestStatementCoverage</a:t>
            </a:r>
            <a:r>
              <a:rPr sz="1100" b="0" i="1" dirty="0">
                <a:solidFill>
                  <a:srgbClr val="D6E4E3"/>
                </a:solidFill>
                <a:latin typeface="Nunito"/>
              </a:rPr>
              <a:t> +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TestDecisionCoverage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4297680" cy="411480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4297680" cy="3657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40233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Nunito"/>
              </a:rPr>
              <a:t>Instrucțiuni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(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Statement</a:t>
            </a:r>
            <a:r>
              <a:rPr lang="ro-RO" sz="1300" b="1" i="0" dirty="0" smtClean="0">
                <a:solidFill>
                  <a:srgbClr val="FFFFFF"/>
                </a:solidFill>
                <a:latin typeface="Nunito"/>
              </a:rPr>
              <a:t> Coverage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)</a:t>
            </a:r>
            <a:endParaRPr sz="13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040" y="1426464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Nunito"/>
              </a:rPr>
              <a:t>Fiecare instrucțiune executată ≥1 dată.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728216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__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init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__: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1000" dirty="0" smtClean="0">
                <a:solidFill>
                  <a:srgbClr val="233A44"/>
                </a:solidFill>
                <a:latin typeface="Nunito"/>
              </a:rPr>
              <a:t>Calea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validă (toate assignment-urile) + câte un test pentru fiecare dintre cele 4 ramuri de eroare (ValueError)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0040" y="2116931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book_spot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1000" dirty="0" smtClean="0">
                <a:solidFill>
                  <a:srgbClr val="233A44"/>
                </a:solidFill>
                <a:latin typeface="Nunito"/>
              </a:rPr>
              <a:t>ValueError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(client invalid) + "confirmed" (loc liber) + "waitlist" (sală plină) + "rejected" (waitlist plin)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0040" y="2551175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cancel_booking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: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True fără promovare + True cu promovare din waitlist + False (client negăsit)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20040" y="2955131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calculate_cost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en-US" sz="1000" dirty="0" err="1" smtClean="0">
                <a:solidFill>
                  <a:srgbClr val="233A44"/>
                </a:solidFill>
                <a:latin typeface="Nunito"/>
              </a:rPr>
              <a:t>ValueError</a:t>
            </a:r>
            <a:r>
              <a:rPr lang="en-US" sz="10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(sessions invalid) + cost </a:t>
            </a:r>
            <a:r>
              <a:rPr lang="en-US" sz="1000" dirty="0" err="1">
                <a:solidFill>
                  <a:srgbClr val="233A44"/>
                </a:solidFill>
                <a:latin typeface="Nunito"/>
              </a:rPr>
              <a:t>fără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 discount + discount membership + discount </a:t>
            </a:r>
            <a:r>
              <a:rPr lang="en-US" sz="1000" dirty="0" err="1">
                <a:solidFill>
                  <a:srgbClr val="233A44"/>
                </a:solidFill>
                <a:latin typeface="Nunito"/>
              </a:rPr>
              <a:t>volum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82880" y="4617720"/>
            <a:ext cx="42976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28600" y="467258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Nunito"/>
              </a:rPr>
              <a:t>Rezultat: 100% statement coverage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987552"/>
            <a:ext cx="4297680" cy="411480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663440" y="987552"/>
            <a:ext cx="4297680" cy="36576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1024128"/>
            <a:ext cx="40233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Nunito"/>
              </a:rPr>
              <a:t>Decizii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(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Decision</a:t>
            </a:r>
            <a:r>
              <a:rPr lang="ro-RO" sz="1300" b="1" i="0" dirty="0" smtClean="0">
                <a:solidFill>
                  <a:srgbClr val="FFFFFF"/>
                </a:solidFill>
                <a:latin typeface="Nunito"/>
              </a:rPr>
              <a:t> Coverage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)</a:t>
            </a:r>
            <a:endParaRPr sz="13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00600" y="1426464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Nunito"/>
              </a:rPr>
              <a:t>Fiecare ramură if/elif/else testată True și False.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1728216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36592" y="1764792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3248" y="1764792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validare client_name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2057400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36592" y="2093976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3248" y="2093976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booked_spots &lt; max_spots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60" y="2386584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36592" y="2423160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242316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len(waitlist) &lt; 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2715768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736592" y="2752344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2752344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name in _confirmed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09160" y="3044951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36592" y="3081527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13248" y="3081527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if self.waitlist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09160" y="3374135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736592" y="3410711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13248" y="3410711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name in waitlist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09160" y="3703320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36592" y="3739896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13248" y="3739896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has_membership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09160" y="4032504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36592" y="4069080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406908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sessions &gt;= 10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63440" y="4617720"/>
            <a:ext cx="4297680" cy="384048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709160" y="467258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Nunito"/>
              </a:rPr>
              <a:t>Rezultat: 100% decision coverage</a:t>
            </a:r>
          </a:p>
        </p:txBody>
      </p:sp>
    </p:spTree>
    <p:extLst>
      <p:ext uri="{BB962C8B-B14F-4D97-AF65-F5344CB8AC3E}">
        <p14:creationId xmlns:p14="http://schemas.microsoft.com/office/powerpoint/2010/main" val="473713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94099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17443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Nunito"/>
              </a:rPr>
              <a:t>Strategia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5 – </a:t>
            </a:r>
            <a:r>
              <a:rPr sz="22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Nunito"/>
              </a:rPr>
              <a:t>Condiții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(Condition Coverage)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440531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test_coverage.py  | 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TestConditionCoverage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1955" y="794099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 err="1">
                <a:solidFill>
                  <a:srgbClr val="999999"/>
                </a:solidFill>
                <a:latin typeface="Nunito"/>
              </a:rPr>
              <a:t>Principiu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: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fiecare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condiție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atomică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dintr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-o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decizie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compusă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(OR/AND)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evaluată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atât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True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cât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și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False, independent de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celelalte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144620"/>
            <a:ext cx="8686800" cy="170688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11718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Nunito"/>
              </a:rPr>
              <a:t>__</a:t>
            </a:r>
            <a:r>
              <a:rPr sz="1100" b="1" i="0" dirty="0" err="1">
                <a:solidFill>
                  <a:srgbClr val="FFFFFF"/>
                </a:solidFill>
                <a:latin typeface="Nunito"/>
              </a:rPr>
              <a:t>init</a:t>
            </a:r>
            <a:r>
              <a:rPr sz="1100" b="1" i="0" dirty="0">
                <a:solidFill>
                  <a:srgbClr val="FFFFFF"/>
                </a:solidFill>
                <a:latin typeface="Nunito"/>
              </a:rPr>
              <a:t>__ – instructor  (OR cu 3 </a:t>
            </a:r>
            <a:r>
              <a:rPr sz="1100" b="1" i="0" dirty="0" err="1">
                <a:solidFill>
                  <a:srgbClr val="FFFFFF"/>
                </a:solidFill>
                <a:latin typeface="Nunito"/>
              </a:rPr>
              <a:t>atomi</a:t>
            </a:r>
            <a:r>
              <a:rPr sz="1100" b="1" i="0" dirty="0">
                <a:solidFill>
                  <a:srgbClr val="FFFFFF"/>
                </a:solidFill>
                <a:latin typeface="Nunito"/>
              </a:rPr>
              <a:t>)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321403"/>
            <a:ext cx="12435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" y="1367123"/>
            <a:ext cx="11521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smtClean="0">
                <a:solidFill>
                  <a:srgbClr val="FFFFFF"/>
                </a:solidFill>
                <a:latin typeface="Nunito"/>
              </a:rPr>
              <a:t>ID</a:t>
            </a:r>
            <a:r>
              <a:rPr lang="en-US" sz="1000" b="1" i="0" dirty="0" smtClean="0">
                <a:solidFill>
                  <a:srgbClr val="FFFFFF"/>
                </a:solidFill>
                <a:latin typeface="Nunito"/>
              </a:rPr>
              <a:t> </a:t>
            </a:r>
            <a:r>
              <a:rPr lang="en-US" sz="1000" b="1" i="0" dirty="0" err="1" smtClean="0">
                <a:solidFill>
                  <a:srgbClr val="FFFFFF"/>
                </a:solidFill>
                <a:latin typeface="Nunito"/>
              </a:rPr>
              <a:t>condi</a:t>
            </a:r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ț</a:t>
            </a:r>
            <a:r>
              <a:rPr lang="en-US" sz="1000" b="1" i="0" dirty="0" err="1" smtClean="0">
                <a:solidFill>
                  <a:srgbClr val="FFFFFF"/>
                </a:solidFill>
                <a:latin typeface="Nunito"/>
              </a:rPr>
              <a:t>ie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08760" y="1321403"/>
            <a:ext cx="24323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63624" y="1367123"/>
            <a:ext cx="23408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Condiție atomică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1321403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78224" y="1367123"/>
            <a:ext cx="20665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True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321403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8503" y="136712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smtClean="0">
                <a:solidFill>
                  <a:srgbClr val="FFFFFF"/>
                </a:solidFill>
                <a:latin typeface="Nunito"/>
              </a:rPr>
              <a:t>False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82880" y="1623155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4" y="1687163"/>
            <a:ext cx="12710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C_instr_isinstance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08760" y="1623155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63624" y="1687163"/>
            <a:ext cx="23408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not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isinstance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(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instr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uctor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str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1623155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78224" y="168716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123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63640" y="1623155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8503" y="168716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rgbClr val="233A44"/>
                </a:solidFill>
                <a:latin typeface="Nunito"/>
              </a:rPr>
              <a:t>"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Ana Pop"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82880" y="1970627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37744" y="2034635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C_instr_empty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08760" y="1970627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63624" y="2034635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instructor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1970627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78224" y="2034635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”</a:t>
            </a:r>
            <a:r>
              <a:rPr lang="ro-RO" sz="1000" dirty="0">
                <a:solidFill>
                  <a:srgbClr val="233A44"/>
                </a:solidFill>
                <a:latin typeface="Nunito"/>
              </a:rPr>
              <a:t>”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63640" y="1970627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18503" y="2034635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"Ana Pop"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82880" y="2318099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7744" y="2382106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C_instr_strip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08760" y="2318099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63624" y="2382106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instructor.strip()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23360" y="231809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078224" y="238210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” ”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263640" y="231809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18503" y="238210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"Ana Pop"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valid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2676334"/>
            <a:ext cx="8686800" cy="202597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4320" y="264118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__init__ – max_spots  (OR cu 4 atomi)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2885027"/>
            <a:ext cx="12435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37744" y="3657599"/>
            <a:ext cx="11521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ID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08760" y="2885027"/>
            <a:ext cx="24323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563624" y="2930746"/>
            <a:ext cx="23408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Condiție atomică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360" y="2885027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078224" y="2930746"/>
            <a:ext cx="20665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True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2885027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18503" y="293074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err="1" smtClean="0">
                <a:solidFill>
                  <a:srgbClr val="FFFFFF"/>
                </a:solidFill>
                <a:latin typeface="Nunito"/>
              </a:rPr>
              <a:t>Fals</a:t>
            </a:r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182880" y="3186779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52400" y="3250787"/>
            <a:ext cx="1356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 err="1">
                <a:solidFill>
                  <a:srgbClr val="00796B"/>
                </a:solidFill>
                <a:latin typeface="Nunito"/>
              </a:rPr>
              <a:t>C_init_isinstance_bool</a:t>
            </a:r>
            <a:endParaRPr sz="9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508760" y="3186779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3250787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isinstance(max_spots, bool)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23360" y="318677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078224" y="3250787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True 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(bool)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6263640" y="318677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318503" y="3250787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182880" y="3534251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373" y="3598334"/>
            <a:ext cx="1295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 err="1" smtClean="0">
                <a:solidFill>
                  <a:srgbClr val="00796B"/>
                </a:solidFill>
                <a:latin typeface="Nunito"/>
              </a:rPr>
              <a:t>C_init_isinstance_int</a:t>
            </a:r>
            <a:endParaRPr sz="9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508760" y="3534251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563624" y="3598259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isinstance(max_spots,int)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23360" y="3534251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078224" y="3598259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1.0 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(float)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6263640" y="3534251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318503" y="3598259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82880" y="3881723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37744" y="3945731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C_init_min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508760" y="3881723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563624" y="3945731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max_spots &lt; 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23360" y="3881723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078224" y="3945731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0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6263640" y="3881723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318503" y="3945731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 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182880" y="4229195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237744" y="4293203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C_init_max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508760" y="4229195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563624" y="4293203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max_spots &gt; 30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23360" y="4229195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078224" y="429320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31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6263640" y="4229195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18503" y="429320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30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valid</a:t>
            </a:r>
          </a:p>
        </p:txBody>
      </p:sp>
    </p:spTree>
    <p:extLst>
      <p:ext uri="{BB962C8B-B14F-4D97-AF65-F5344CB8AC3E}">
        <p14:creationId xmlns:p14="http://schemas.microsoft.com/office/powerpoint/2010/main" val="1327273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Strategia 6 – CFG &amp; Complexitate Ciclomatică (Basis Path)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test_independent_circuits.py  |  McCabe: V(G) = e − n + </a:t>
            </a:r>
            <a:r>
              <a:rPr sz="1100" b="0" i="1" dirty="0" smtClean="0">
                <a:solidFill>
                  <a:srgbClr val="D6E4E3"/>
                </a:solidFill>
                <a:latin typeface="Nunito"/>
              </a:rPr>
              <a:t>2p</a:t>
            </a:r>
            <a:r>
              <a:rPr lang="ro-RO" sz="1100" b="0" i="1" dirty="0" smtClean="0">
                <a:solidFill>
                  <a:srgbClr val="D6E4E3"/>
                </a:solidFill>
                <a:latin typeface="Nunito"/>
              </a:rPr>
              <a:t> </a:t>
            </a:r>
            <a:r>
              <a:rPr lang="en-US" sz="1100" b="0" i="1" dirty="0" smtClean="0">
                <a:solidFill>
                  <a:srgbClr val="D6E4E3"/>
                </a:solidFill>
                <a:latin typeface="Nunito"/>
              </a:rPr>
              <a:t>| e = no. of edges | n = no. of nodes | p = no. of connected components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2103120" cy="2560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__init__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33A44"/>
                </a:solidFill>
                <a:latin typeface="Nunito"/>
              </a:rPr>
              <a:t>V(G) =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378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999999"/>
                </a:solidFill>
                <a:latin typeface="Nunito"/>
              </a:rPr>
              <a:t>5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404872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04872" y="987552"/>
            <a:ext cx="2103120" cy="256032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book_spot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26864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26864" y="987552"/>
            <a:ext cx="2103120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0016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cancel_booking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8856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48856" y="987552"/>
            <a:ext cx="2103120" cy="256032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22008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calculate_cost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1812131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233A44"/>
                </a:solidFill>
                <a:latin typeface="Nunito"/>
              </a:rPr>
              <a:t>Total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circuite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independente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: 17  |  Total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teste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 basis path: 17</a:t>
            </a:r>
          </a:p>
        </p:txBody>
      </p:sp>
      <p:pic>
        <p:nvPicPr>
          <p:cNvPr id="26" name="Picture 25" descr="init_cfg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" y="2094392"/>
            <a:ext cx="2103120" cy="2724496"/>
          </a:xfrm>
          <a:prstGeom prst="rect">
            <a:avLst/>
          </a:prstGeom>
        </p:spPr>
      </p:pic>
      <p:pic>
        <p:nvPicPr>
          <p:cNvPr id="28" name="Picture 27" descr="book_spot_cfg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872" y="2212848"/>
            <a:ext cx="2011680" cy="2606040"/>
          </a:xfrm>
          <a:prstGeom prst="rect">
            <a:avLst/>
          </a:prstGeom>
        </p:spPr>
      </p:pic>
      <p:pic>
        <p:nvPicPr>
          <p:cNvPr id="30" name="Picture 29" descr="cancel_booking_cfg.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2212848"/>
            <a:ext cx="2011680" cy="2606040"/>
          </a:xfrm>
          <a:prstGeom prst="rect">
            <a:avLst/>
          </a:prstGeom>
        </p:spPr>
      </p:pic>
      <p:pic>
        <p:nvPicPr>
          <p:cNvPr id="32" name="Picture 31" descr="calculate_cost_cfg.draw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8856" y="2212848"/>
            <a:ext cx="2011680" cy="26060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4290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9248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7150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784023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Strategiile 7–8 – Mutation Testing (mutmut)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test_mutation.py  |  mutmut 2.5.1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23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1627632" cy="25603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46888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Total mutanți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901952" y="987552"/>
            <a:ext cx="1627632" cy="2560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5960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Uciși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65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21024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21024" y="987552"/>
            <a:ext cx="1627632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85032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Suspicioși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5032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0096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340096" y="987552"/>
            <a:ext cx="1627632" cy="256032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04104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Supraviețuitori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4104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59168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059168" y="987552"/>
            <a:ext cx="1627632" cy="256032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23176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Scor inițial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75.6%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186537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 err="1">
                <a:solidFill>
                  <a:srgbClr val="00796B"/>
                </a:solidFill>
                <a:latin typeface="Nunito"/>
              </a:rPr>
              <a:t>Grup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 </a:t>
            </a:r>
            <a:r>
              <a:rPr lang="ro-RO" sz="1200" b="1" dirty="0">
                <a:solidFill>
                  <a:srgbClr val="00796B"/>
                </a:solidFill>
                <a:latin typeface="Nunito"/>
              </a:rPr>
              <a:t>B</a:t>
            </a:r>
            <a:r>
              <a:rPr sz="1200" b="1" i="0" dirty="0" smtClean="0">
                <a:solidFill>
                  <a:srgbClr val="00796B"/>
                </a:solidFill>
                <a:latin typeface="Nunito"/>
              </a:rPr>
              <a:t> –</a:t>
            </a:r>
            <a:r>
              <a:rPr lang="ro-RO" sz="1200" b="1" i="0" dirty="0" smtClean="0">
                <a:solidFill>
                  <a:srgbClr val="00796B"/>
                </a:solidFill>
                <a:latin typeface="Nunito"/>
              </a:rPr>
              <a:t> 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Mutant quasi-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echivalent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(1 mutant) —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Documentat</a:t>
            </a:r>
            <a:r>
              <a:rPr sz="1200" b="1" i="0" dirty="0" smtClean="0">
                <a:solidFill>
                  <a:srgbClr val="00796B"/>
                </a:solidFill>
                <a:latin typeface="Nunito"/>
              </a:rPr>
              <a:t> </a:t>
            </a:r>
            <a:endParaRPr sz="1200" b="1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82880" y="2194560"/>
            <a:ext cx="69494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37744" y="2240279"/>
            <a:ext cx="60350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Mutant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2194560"/>
            <a:ext cx="23408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" y="2240279"/>
            <a:ext cx="22494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Original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194560"/>
            <a:ext cx="14264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438144" y="2240279"/>
            <a:ext cx="13350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Modificare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92039" y="2194560"/>
            <a:ext cx="3834383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46902" y="2240279"/>
            <a:ext cx="367588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De ce e quasi-echivalent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82880" y="2551176"/>
            <a:ext cx="69494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7744" y="2615184"/>
            <a:ext cx="6035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00796B"/>
                </a:solidFill>
                <a:latin typeface="Nunito"/>
              </a:rPr>
              <a:t>M</a:t>
            </a:r>
            <a:r>
              <a:rPr lang="ro-RO" sz="1000" b="0" i="0" dirty="0" smtClean="0">
                <a:solidFill>
                  <a:srgbClr val="00796B"/>
                </a:solidFill>
                <a:latin typeface="Nunito"/>
              </a:rPr>
              <a:t>49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960120" y="2551176"/>
            <a:ext cx="23408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14984" y="2615184"/>
            <a:ext cx="22494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 else ""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383280" y="2551176"/>
            <a:ext cx="14264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38144" y="2615184"/>
            <a:ext cx="1335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"" → "XXXX"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892039" y="2551176"/>
            <a:ext cx="3834383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867657" y="2574131"/>
            <a:ext cx="3883149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850" dirty="0">
                <a:solidFill>
                  <a:srgbClr val="233A44"/>
                </a:solidFill>
                <a:latin typeface="Nunito"/>
              </a:rPr>
              <a:t>Diferența apare doar dacă există un client confirmat cu numele exact "XXXX" și se apelează cancel_booking(None) — scenariu imposibil în practică</a:t>
            </a:r>
            <a:endParaRPr sz="85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82880" y="3695795"/>
            <a:ext cx="69494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37744" y="3759803"/>
            <a:ext cx="6035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00796B"/>
                </a:solidFill>
                <a:latin typeface="Nunito"/>
              </a:rPr>
              <a:t>M7</a:t>
            </a:r>
            <a:r>
              <a:rPr lang="ro-RO" sz="1000" b="0" i="0" dirty="0" smtClean="0">
                <a:solidFill>
                  <a:srgbClr val="00796B"/>
                </a:solidFill>
                <a:latin typeface="Nunito"/>
              </a:rPr>
              <a:t>5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960120" y="3695795"/>
            <a:ext cx="23408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14984" y="3759803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round(cost, 2)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83280" y="3695795"/>
            <a:ext cx="14264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438144" y="3759803"/>
            <a:ext cx="1335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892040" y="3695795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946903" y="3759803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Cost cu 3 zecimale în loc de 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49440" y="3695795"/>
            <a:ext cx="1837943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004303" y="3759803"/>
            <a:ext cx="17465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test_kill_M7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_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cost_rounds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82880" y="4174331"/>
            <a:ext cx="1280160" cy="27432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28600" y="4220051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Grup 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08760" y="4220051"/>
            <a:ext cx="45110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950" dirty="0">
                <a:solidFill>
                  <a:srgbClr val="999999"/>
                </a:solidFill>
                <a:latin typeface="Nunito"/>
              </a:rPr>
              <a:t>6 mutanți string — modifică mesajele ValueError cu 'XX'; excepția e aruncată → comportament identic → nu se omoară (M9, M14, M21, M26, M39, M70)</a:t>
            </a:r>
            <a:endParaRPr sz="9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158497" y="3298126"/>
            <a:ext cx="69494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213361" y="3343845"/>
            <a:ext cx="60350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Mutant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35737" y="3298126"/>
            <a:ext cx="23408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90601" y="3343845"/>
            <a:ext cx="22494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Original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358897" y="3298126"/>
            <a:ext cx="14264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413761" y="3343845"/>
            <a:ext cx="13350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Modificare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67657" y="3298126"/>
            <a:ext cx="19751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922520" y="3343845"/>
            <a:ext cx="18836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Efect bug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25057" y="3298126"/>
            <a:ext cx="1837943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979920" y="3343845"/>
            <a:ext cx="174650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Test killer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2400" y="2985611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 err="1">
                <a:solidFill>
                  <a:srgbClr val="00796B"/>
                </a:solidFill>
                <a:latin typeface="Nunito"/>
              </a:rPr>
              <a:t>Grup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 C – 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Mutant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comportamental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neechivalent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(1 mutant) —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Omorât</a:t>
            </a:r>
            <a:endParaRPr sz="1200" b="1" i="0" dirty="0">
              <a:solidFill>
                <a:srgbClr val="00796B"/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979784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Rezultate Finale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127 teste  |  100% coverage  |  toate strategiile acoperite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2103120" cy="2743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teste unitare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toate trec (0 eșuate)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04872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04872" y="987552"/>
            <a:ext cx="2103120" cy="274320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stmt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55 stmts / 0 miss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26864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26864" y="987552"/>
            <a:ext cx="2103120" cy="27432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0016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branch 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26 branches / 0 miss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8856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48856" y="987552"/>
            <a:ext cx="2103120" cy="274320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22008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mutation killing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298448"/>
            <a:ext cx="19568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2800" b="1" i="0" dirty="0" smtClean="0">
                <a:solidFill>
                  <a:srgbClr val="233A44"/>
                </a:solidFill>
                <a:latin typeface="Nunito"/>
              </a:rPr>
              <a:t>1/1</a:t>
            </a:r>
            <a:endParaRPr sz="2800" b="1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922008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comportamental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" y="2819359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 dirty="0">
                <a:solidFill>
                  <a:srgbClr val="999999"/>
                </a:solidFill>
                <a:latin typeface="Nunito"/>
              </a:rPr>
              <a:t>coverage report -m --include="fitness_class_booking.py"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26933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 dirty="0">
                <a:solidFill>
                  <a:srgbClr val="999999"/>
                </a:solidFill>
                <a:latin typeface="Nunito"/>
              </a:rPr>
              <a:t>python -m </a:t>
            </a:r>
            <a:r>
              <a:rPr sz="850" b="0" i="1" dirty="0" err="1">
                <a:solidFill>
                  <a:srgbClr val="999999"/>
                </a:solidFill>
                <a:latin typeface="Nunito"/>
              </a:rPr>
              <a:t>pytest</a:t>
            </a:r>
            <a:r>
              <a:rPr sz="850" b="0" i="1" dirty="0">
                <a:solidFill>
                  <a:srgbClr val="999999"/>
                </a:solidFill>
                <a:latin typeface="Nunito"/>
              </a:rPr>
              <a:t> test_*.py -v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3640931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33A44"/>
                </a:solidFill>
                <a:latin typeface="Nunito"/>
              </a:rPr>
              <a:t>Strategii acoperite: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3960971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S1: Clase de echivalență (EC01–EC30)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960971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dirty="0">
                <a:solidFill>
                  <a:srgbClr val="00796B"/>
                </a:solidFill>
                <a:latin typeface="Nunito"/>
              </a:rPr>
              <a:t>✓ S5: </a:t>
            </a:r>
            <a:r>
              <a:rPr sz="1000" dirty="0" err="1">
                <a:solidFill>
                  <a:srgbClr val="00796B"/>
                </a:solidFill>
                <a:latin typeface="Nunito"/>
              </a:rPr>
              <a:t>Acoperire</a:t>
            </a:r>
            <a:r>
              <a:rPr sz="1000" dirty="0">
                <a:solidFill>
                  <a:srgbClr val="00796B"/>
                </a:solidFill>
                <a:latin typeface="Nunito"/>
              </a:rPr>
              <a:t> </a:t>
            </a:r>
            <a:r>
              <a:rPr sz="1000" dirty="0" err="1">
                <a:solidFill>
                  <a:srgbClr val="00796B"/>
                </a:solidFill>
                <a:latin typeface="Nunito"/>
              </a:rPr>
              <a:t>condiții</a:t>
            </a:r>
            <a:endParaRPr sz="100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2880" y="4217003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796B"/>
                </a:solidFill>
                <a:latin typeface="Nunito"/>
              </a:rPr>
              <a:t>✓ S2: </a:t>
            </a:r>
            <a:r>
              <a:rPr sz="1000" b="0" i="0" dirty="0" err="1">
                <a:solidFill>
                  <a:srgbClr val="00796B"/>
                </a:solidFill>
                <a:latin typeface="Nunito"/>
              </a:rPr>
              <a:t>Valori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de </a:t>
            </a:r>
            <a:r>
              <a:rPr sz="1000" b="0" i="0" dirty="0" err="1">
                <a:solidFill>
                  <a:srgbClr val="00796B"/>
                </a:solidFill>
                <a:latin typeface="Nunito"/>
              </a:rPr>
              <a:t>frontieră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(BVA01–BVA23)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217003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accent1"/>
                </a:solidFill>
                <a:latin typeface="Nunito"/>
              </a:rPr>
              <a:t>✓ S6: Basis path / CFG (McCabe V(G)=17)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" y="4473035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S3: Acoperire instrucțiuni (100%)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473035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accent1"/>
                </a:solidFill>
                <a:latin typeface="Nunito"/>
              </a:rPr>
              <a:t>✓ S7: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Raport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mutmut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 (86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mutanți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" y="4729067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S4: Acoperire decizii (100%)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4729067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chemeClr val="accent1"/>
                </a:solidFill>
                <a:latin typeface="Nunito"/>
              </a:rPr>
              <a:t>✓ S8: Teste suplimentare anti-mutanți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28"/>
          <a:stretch/>
        </p:blipFill>
        <p:spPr bwMode="auto">
          <a:xfrm>
            <a:off x="187497" y="2269330"/>
            <a:ext cx="4439367" cy="5005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2067" y="2537336"/>
            <a:ext cx="5053013" cy="1301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21548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Mediu de Lucru, Structura Proiectului &amp; Referințe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Hardware / Software / Fișiere / Comenzi / Documentație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74320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92608" y="1078992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Nunito"/>
              </a:rPr>
              <a:t>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" y="1426464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HP Victus 16 – i7-12700H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788" y="1658630"/>
            <a:ext cx="25237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smtClean="0">
                <a:solidFill>
                  <a:srgbClr val="233A44"/>
                </a:solidFill>
                <a:latin typeface="Nunito"/>
              </a:rPr>
              <a:t>16 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GB DDR5 / 512 GB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2089499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HP Laptop 15 – i7-1165G7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788" y="2295144"/>
            <a:ext cx="25237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smtClean="0">
                <a:solidFill>
                  <a:srgbClr val="233A44"/>
                </a:solidFill>
                <a:latin typeface="Nunito"/>
              </a:rPr>
              <a:t>16 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GB DDR4 / 512 GB SSD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987552"/>
            <a:ext cx="274320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18688" y="1078992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563F"/>
                </a:solidFill>
                <a:latin typeface="Nunito"/>
              </a:rPr>
              <a:t>Software &amp; Mediu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1426464"/>
            <a:ext cx="26334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33A44"/>
                </a:solidFill>
                <a:latin typeface="Nunito"/>
              </a:rPr>
              <a:t>• Windows 11 + WSL2 + Ubuntu 24.04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8688" y="167335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Python 3.12.3 (WSL) / 3.13.3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1920240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pytest 9.0.2 | coverage 7.13.5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2167128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33A44"/>
                </a:solidFill>
                <a:latin typeface="Nunito"/>
              </a:rPr>
              <a:t>• </a:t>
            </a:r>
            <a:r>
              <a:rPr sz="1100" b="0" i="0" dirty="0" err="1">
                <a:solidFill>
                  <a:srgbClr val="233A44"/>
                </a:solidFill>
                <a:latin typeface="Nunito"/>
              </a:rPr>
              <a:t>mutmut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 2.5.1 | VS Code 1.116.0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2414016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venv: tss_venv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987552"/>
            <a:ext cx="292608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44768" y="1078992"/>
            <a:ext cx="2706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4A15A"/>
                </a:solidFill>
                <a:latin typeface="Nunito"/>
              </a:rPr>
              <a:t>Structura proiectului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1278731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fitness_class_booking.py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1525619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test_equivalence_partitioning.py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772507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test_boundary_value_analysis.py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2019395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test_coverage.py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2266283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test_independent_circuits.py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2513171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test_mutation.py  |  run_coverage.sh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760059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teste_ai/  |  screenshots/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090672"/>
            <a:ext cx="512064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82880" y="3090672"/>
            <a:ext cx="5120640" cy="274320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" y="311810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Cum se rulează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3401568"/>
            <a:ext cx="5120640" cy="1664208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2608" y="3483864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source tss_venv/bin/activate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" y="3703320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bash run_coverage.sh          # rulare rapidă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" y="3922776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python -m pytest test_*.py -v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" y="4142232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python -m coverage run --branch -m pytest test_*.py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4361688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14F597"/>
                </a:solidFill>
                <a:latin typeface="Courier New"/>
              </a:rPr>
              <a:t>python -m coverage report -m --include='fitness_class_booking.py'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" y="4631531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 err="1">
                <a:solidFill>
                  <a:srgbClr val="14F597"/>
                </a:solidFill>
                <a:latin typeface="Courier New"/>
              </a:rPr>
              <a:t>mutmut</a:t>
            </a:r>
            <a:r>
              <a:rPr sz="950" b="0" i="0" dirty="0">
                <a:solidFill>
                  <a:srgbClr val="14F597"/>
                </a:solidFill>
                <a:latin typeface="Courier New"/>
              </a:rPr>
              <a:t> run --paths-to-mutate fitness_class_booking.py \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" y="4800600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    --tests-dir . --runner 'python -m pytest'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090672"/>
            <a:ext cx="347472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0" y="3090672"/>
            <a:ext cx="3474720" cy="2743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577840" y="3118104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Referințe &amp; Documentație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341233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[1] pytest – docs.pytest.org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96128" y="3659218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[2] coverage.py – coverage.readthedocs.io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96128" y="3906107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[3] mutmut – mutmut.readthedocs.io/en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96128" y="4152995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 smtClean="0">
                <a:solidFill>
                  <a:srgbClr val="233A44"/>
                </a:solidFill>
                <a:latin typeface="Nunito"/>
              </a:rPr>
              <a:t>draw.io </a:t>
            </a:r>
            <a:r>
              <a:rPr sz="950" b="0" i="0" dirty="0">
                <a:solidFill>
                  <a:srgbClr val="233A44"/>
                </a:solidFill>
                <a:latin typeface="Nunito"/>
              </a:rPr>
              <a:t>– diagrams.net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96128" y="4399883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unittest – docs.python.org/3/library/unittest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8" y="464677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VS Code – code.visualstudio.com/docs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6128" y="4893659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WSL – learn.microsoft.com/windows/wsl</a:t>
            </a:r>
          </a:p>
        </p:txBody>
      </p:sp>
    </p:spTree>
    <p:extLst>
      <p:ext uri="{BB962C8B-B14F-4D97-AF65-F5344CB8AC3E}">
        <p14:creationId xmlns:p14="http://schemas.microsoft.com/office/powerpoint/2010/main" val="74348021"/>
      </p:ext>
    </p:extLst>
  </p:cSld>
  <p:clrMapOvr>
    <a:masterClrMapping/>
  </p:clrMapOvr>
</p:sld>
</file>

<file path=ppt/theme/theme1.xml><?xml version="1.0" encoding="utf-8"?>
<a:theme xmlns:a="http://schemas.openxmlformats.org/drawingml/2006/main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1560</Words>
  <Application>Microsoft Office PowerPoint</Application>
  <PresentationFormat>Custom</PresentationFormat>
  <Paragraphs>293</Paragraphs>
  <Slides>11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Shift</vt:lpstr>
      <vt:lpstr>PROIECT ~ Testarea Sistemelor Software ~  T1 – Testare unitară în Python Fitness Class Booking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PROIECT ~ Testarea Sistemelor Software ~  T1 – Testare unitară în Python</dc:title>
  <dc:creator>user</dc:creator>
  <cp:lastModifiedBy>user</cp:lastModifiedBy>
  <cp:revision>18</cp:revision>
  <dcterms:created xsi:type="dcterms:W3CDTF">2006-08-16T00:00:00Z</dcterms:created>
  <dcterms:modified xsi:type="dcterms:W3CDTF">2026-04-21T15:41:44Z</dcterms:modified>
</cp:coreProperties>
</file>