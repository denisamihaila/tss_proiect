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Contextul proiectului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T1 - testare unitară în Python | documentație completă în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434340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35024"/>
            <a:ext cx="4069080" cy="10332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0E2337"/>
                </a:solidFill>
                <a:latin typeface="Consolas"/>
              </a:defRPr>
            </a:pPr>
            <a:r>
              <a:t>evaluate_client_package(</a:t>
            </a:r>
            <a:br/>
            <a:r>
              <a:t>    session_history,</a:t>
            </a:r>
            <a:br/>
            <a:r>
              <a:t>    package_sessions,</a:t>
            </a:r>
            <a:br/>
            <a:r>
              <a:t>    has_membership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188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2893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008076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3" y="16550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teste principale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188720"/>
            <a:ext cx="12344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289304"/>
            <a:ext cx="11430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1E70B9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3" y="1655064"/>
            <a:ext cx="1124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teste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1887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893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16550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188720"/>
            <a:ext cx="15087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289304"/>
            <a:ext cx="14173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200" b="1">
                <a:solidFill>
                  <a:srgbClr val="E696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1655064"/>
            <a:ext cx="13990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survived mutmut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2926080"/>
          <a:ext cx="10744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4023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Artefact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 în proiect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fitness_class_booking.py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clasa și metoda testată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test_*.py, teste_ai/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suită proprie + suită AI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Dovezi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screenshots/, logs/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rezultate rulate local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Analiză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mutmut, cosmic_ray/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mutation testing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1520" y="53492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0E2337"/>
                </a:solidFill>
                <a:latin typeface="Aptos"/>
              </a:defRPr>
            </a:pPr>
            <a:r>
              <a:t>Ideea aplicației: evaluarea unui pachet de ședințe fitness, cu validări, cost, discount și status final.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Cerințe T1 mapate pe implementare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Slide-ul rezumă explicit cerințele proiectului și unde apar în cod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5486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86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Strategie cerută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Fișier / dovadă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Partiționare în clase de echivalență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test_equivalence_partitioning.py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Analiza valorilor de frontieră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test_boundary_value_analysis.py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Coverage instrucțiune / decizie / condiție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test_coverage.py + coverage.py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Circuite independente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test_independent_circuits.py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Mutation testing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test_mutation.py + mutmut + Cosmic Ray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234440"/>
          <a:ext cx="4983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38862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Element structural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Implementare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3 parametri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session_history, package_sessions, has_membership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Buclă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for session_status in session_history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if cu else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attended vs celelalte statusuri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if fără else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if has_membership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Condiție compusă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remaining_sessions == 0 and no_show == 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3977639"/>
            <a:ext cx="10789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069079"/>
            <a:ext cx="105338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Motivația alegerii metodei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10287000" cy="640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  <a:latin typeface="Aptos"/>
              </a:defRPr>
            </a:pPr>
            <a:r>
              <a:t>Domeniul este ușor de explicat, dar are reguli de business clare.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  <a:latin typeface="Aptos"/>
              </a:defRPr>
            </a:pPr>
            <a:r>
              <a:t>Metoda produce atât valori numerice, cât și statusuri simbolice.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  <a:latin typeface="Aptos"/>
              </a:defRPr>
            </a:pPr>
            <a:r>
              <a:t>Există cazuri valide, invalide, limite, ramuri și mutanți relevanți pentru analiză.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Funcționalitatea testată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Reguli de business și rezultat returnat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53492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44577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Efect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Consumă ședință?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attended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clientul a participat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no_show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clientul nu s-a prezentat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cancelled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anulare la timp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nu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55080" y="1234440"/>
            <a:ext cx="5074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325880"/>
            <a:ext cx="48188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Rezultat returnat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46177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attended, no_show, cancelled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used_sessions și remaining_sessions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total_cost rotunjit la 2 zecimale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status: active / completed_successfully / completed_with_absences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571500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29584"/>
            <a:ext cx="5440680" cy="12161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100" b="0">
                <a:solidFill>
                  <a:srgbClr val="0E2337"/>
                </a:solidFill>
                <a:latin typeface="Consolas"/>
              </a:defRPr>
            </a:pPr>
            <a:r>
              <a:t>booking.evaluate_client_package(</a:t>
            </a:r>
            <a:br/>
            <a:r>
              <a:t>    ["attended", "attended", "cancelled", "no_show"],</a:t>
            </a:r>
            <a:br/>
            <a:r>
              <a:t>    5,</a:t>
            </a:r>
            <a:br/>
            <a:r>
              <a:t>    True,</a:t>
            </a:r>
            <a:br/>
            <a:r>
              <a:t>)</a:t>
            </a:r>
            <a:br/>
            <a:r>
              <a:t># used=3, remaining=2, total_cost=200.0, status="active"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429000"/>
            <a:ext cx="4526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520440"/>
            <a:ext cx="427024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Regulă de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794760"/>
            <a:ext cx="4114800" cy="731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cost inițial = pachet * preț/ședință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membership =&gt; reducere 20%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anulările nu schimbă numărul de ședințe consumate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Validări și contract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Testele verifică atât rezultatele normale, cât și mesajele de eroare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88720"/>
          <a:ext cx="4983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3543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Constructor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Regulă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class_name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dance / pilates / yoga / zumba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instructor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șir nevid după strip()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price_per_session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număr pozitiv, bool respins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1188720"/>
          <a:ext cx="5440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</a:tblGrid>
              <a:tr h="35052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Metodă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Regulă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session_history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listă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package_sessions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int în intervalul [1, 20]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has_membership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strict bool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status istoric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attended / no_show / cancelled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consum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nu poate depăși pachetul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3703320"/>
            <a:ext cx="4983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794759"/>
            <a:ext cx="472744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Detaliu Python testat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526280" cy="6858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bool este subclasă de int;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True și False sunt respinse pentru parametrii numerici;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cazul apare și în suita AI, și în testele de mutație.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57600"/>
            <a:ext cx="4983480" cy="14173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use_effec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345" y="3657600"/>
            <a:ext cx="219518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Proiectarea suitei principale de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99 de teste organizate după tehnicile cerute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43000"/>
          <a:ext cx="10835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403860"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Fișier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Strategie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test_equivalence_partitioning.py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echivalență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domenii valide/invalide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test_boundary_value_analysis.py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frontiere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limite minime/maxime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test_coverage.py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instrucțiuni, decizii, condiții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test_independent_circuits.py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circuite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drumuri reprezentative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test_mutation.py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mutații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mutanți neechivalenți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008076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echivalență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1E70B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frontiere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E6961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3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circuite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BE2D2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mutații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416052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26110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0E2337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462686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Testare funcțională: echivalență și frontiere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Clase valide/invalide și valori la limita domeniului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234440"/>
            <a:ext cx="48188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Clase valide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27048"/>
            <a:ext cx="4663440" cy="914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istoric gol sau mixt;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pachet activ / finalizat;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membership activ sau inactiv;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status final cu succes sau cu absențe.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1234440"/>
            <a:ext cx="48188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Clase invalide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27048"/>
            <a:ext cx="4663440" cy="914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tipuri greșite pentru parametri;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status necunoscut în istoric;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package_sessions în afara [1, 20];</a:t>
            </a:r>
          </a:p>
          <a:p>
            <a:pPr>
              <a:spcAft>
                <a:spcPts val="200"/>
              </a:spcAft>
              <a:defRPr sz="1150">
                <a:solidFill>
                  <a:srgbClr val="222A35"/>
                </a:solidFill>
                <a:latin typeface="Aptos"/>
              </a:defRPr>
            </a:pPr>
            <a:r>
              <a:t>istoric ce consumă peste pachet.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7472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0E2337"/>
                </a:solidFill>
                <a:latin typeface="Aptos"/>
              </a:defRPr>
            </a:pPr>
            <a:r>
              <a:t>Valori de frontieră urmărite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BE2D2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invalid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2304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8024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min 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33088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1E70B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peste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3872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9592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1E70B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8736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sub max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34656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max valid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3886200"/>
            <a:ext cx="1417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3986784"/>
            <a:ext cx="1325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BE2D2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4352544"/>
            <a:ext cx="1307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invalid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812280" y="3429000"/>
          <a:ext cx="4343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</a:tblGrid>
              <a:tr h="36576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Frontieră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Interpretare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preț = 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invalid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preț pozitiv foarte mic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valid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used_sessions = package_sessions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pachet finalizat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used_sessions &gt; package_sessions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ValueError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Testare structurală, diagrame și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Coverage 100% pe fișierul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62356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coverage_report_100_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8597"/>
            <a:ext cx="5623560" cy="98324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143000"/>
          <a:ext cx="24231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</a:tblGrid>
              <a:tr h="2819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Metrică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Rezultat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Statements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Branches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Partial branches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281160" y="1143000"/>
            <a:ext cx="19659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9176" y="1234440"/>
            <a:ext cx="170992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Ramuri urmărite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508760"/>
            <a:ext cx="1600200" cy="868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960">
                <a:solidFill>
                  <a:srgbClr val="222A35"/>
                </a:solidFill>
                <a:latin typeface="Aptos"/>
              </a:defRPr>
            </a:pPr>
            <a:r>
              <a:t>validări</a:t>
            </a:r>
          </a:p>
          <a:p>
            <a:pPr>
              <a:spcAft>
                <a:spcPts val="200"/>
              </a:spcAft>
              <a:defRPr sz="960">
                <a:solidFill>
                  <a:srgbClr val="222A35"/>
                </a:solidFill>
                <a:latin typeface="Aptos"/>
              </a:defRPr>
            </a:pPr>
            <a:r>
              <a:t>statusuri</a:t>
            </a:r>
          </a:p>
          <a:p>
            <a:pPr>
              <a:spcAft>
                <a:spcPts val="200"/>
              </a:spcAft>
              <a:defRPr sz="960">
                <a:solidFill>
                  <a:srgbClr val="222A35"/>
                </a:solidFill>
                <a:latin typeface="Aptos"/>
              </a:defRPr>
            </a:pPr>
            <a:r>
              <a:t>membership</a:t>
            </a:r>
          </a:p>
          <a:p>
            <a:pPr>
              <a:spcAft>
                <a:spcPts val="200"/>
              </a:spcAft>
              <a:defRPr sz="960">
                <a:solidFill>
                  <a:srgbClr val="222A35"/>
                </a:solidFill>
                <a:latin typeface="Aptos"/>
              </a:defRPr>
            </a:pPr>
            <a:r>
              <a:t>status final</a:t>
            </a:r>
          </a:p>
          <a:p>
            <a:pPr>
              <a:spcAft>
                <a:spcPts val="200"/>
              </a:spcAft>
              <a:defRPr sz="960">
                <a:solidFill>
                  <a:srgbClr val="222A35"/>
                </a:solidFill>
                <a:latin typeface="Aptos"/>
              </a:defRPr>
            </a:pPr>
            <a:r>
              <a:t>overflow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2331720" cy="26060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fg_diagrama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48" y="2926080"/>
            <a:ext cx="1822982" cy="26060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291840" y="2926080"/>
            <a:ext cx="3794760" cy="26060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use_effect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04059"/>
            <a:ext cx="3794760" cy="24500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06640" y="2926080"/>
            <a:ext cx="3840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3017520"/>
            <a:ext cx="358444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Interpretare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37560"/>
            <a:ext cx="3429000" cy="14173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Coverage-ul confirmă execuția completă a codului.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CFG-ul arată validările, bucla și deciziile finale.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Graful cauză-efect leagă intrările de status și cost.</a:t>
            </a:r>
          </a:p>
          <a:p>
            <a:pPr>
              <a:spcAft>
                <a:spcPts val="200"/>
              </a:spcAft>
              <a:defRPr sz="1100">
                <a:solidFill>
                  <a:srgbClr val="222A35"/>
                </a:solidFill>
                <a:latin typeface="Aptos"/>
              </a:defRPr>
            </a:pPr>
            <a:r>
              <a:t>Mutation testing verifică mai departe precizia aserțiunilor.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Mutation testing: mutmut și Cosmic 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Analiză a rezistenței suitei la modificări artificiale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603504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mutmu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7" y="1143000"/>
            <a:ext cx="5426765" cy="20574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143000"/>
          <a:ext cx="4389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mutmut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Rezultat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verificați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95/95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killed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suspicious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survived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timeout/skipped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0/0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703320"/>
          <a:ext cx="5257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3383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Cosmic Ray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Rezultat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mutanți finalizați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survived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rată supraviețuire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5.42%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scor aproximativ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94.58%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3703320"/>
            <a:ext cx="5029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3794759"/>
            <a:ext cx="47731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Interpretare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96512"/>
            <a:ext cx="4572000" cy="868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În mutmut, Suspicious indică rulări lente, nu mutanți supraviețuitori.</a:t>
            </a:r>
          </a:p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Cosmic Ray folosește operatori diferiți și oferă o analiză complementară.</a:t>
            </a:r>
          </a:p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Testele suplimentare verifică diferențele attended / no_show / cancelled, costul și discountul.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Utilizarea AI și suita separată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Comparație între suita proprie și suita generată/asistată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303520" cy="1143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pytest_ai_70_pa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03285"/>
            <a:ext cx="5303520" cy="82242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143000"/>
          <a:ext cx="5166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356616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Fișier AI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Orientare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test_ai_generated_booking.py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scenarii dataclass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test_ai_equivalence_and_validation.py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echivalență + validare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test_ai_boundary_and_structural.py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frontiere + ramuri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test_ai_paths_and_mutation_focus.py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proprietăți + mutații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971800"/>
          <a:ext cx="5806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</a:tblGrid>
              <a:tr h="40233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Criteriu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Suita proprie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Suita AI</a:t>
                      </a:r>
                    </a:p>
                  </a:txBody>
                  <a:tcPr marL="36576" marR="36576" marT="18288" marB="18288">
                    <a:solidFill>
                      <a:srgbClr val="0E23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Număr teste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99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Organizare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pe tehnici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pe scenarii/proprietăți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Rol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demonstrează cerința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perspectivă independentă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Exemple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BVA, coverage, mutații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A35"/>
                          </a:solidFill>
                          <a:latin typeface="Aptos"/>
                        </a:defRPr>
                      </a:pPr>
                      <a:r>
                        <a:t>bool vs int, string equality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66560" y="3246120"/>
            <a:ext cx="4343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3337560"/>
            <a:ext cx="408736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Concluzie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639312"/>
            <a:ext cx="3886200" cy="7772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Instrumentul AI a fost folosit pentru analiză și completare, nu ca oracol final.</a:t>
            </a:r>
          </a:p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Toate propunerile păstrate au fost validate prin rulări locale.</a:t>
            </a:r>
          </a:p>
          <a:p>
            <a:pPr>
              <a:spcAft>
                <a:spcPts val="200"/>
              </a:spcAft>
              <a:defRPr sz="1050">
                <a:solidFill>
                  <a:srgbClr val="222A35"/>
                </a:solidFill>
                <a:latin typeface="Aptos"/>
              </a:defRPr>
            </a:pPr>
            <a:r>
              <a:t>Suita AI rămâne separată de suita principală.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76"/>
          </a:solidFill>
          <a:ln w="12700">
            <a:solidFill>
              <a:srgbClr val="008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400" b="1">
                <a:solidFill>
                  <a:srgbClr val="0E2337"/>
                </a:solidFill>
                <a:latin typeface="Aptos"/>
              </a:defRPr>
            </a:pPr>
            <a:r>
              <a:t>Rezultate finale și livrabile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8813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50" b="0">
                <a:solidFill>
                  <a:srgbClr val="566576"/>
                </a:solidFill>
                <a:latin typeface="Aptos"/>
              </a:defRPr>
            </a:pPr>
            <a:r>
              <a:t>Rezumat pentru predare și demonstrație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029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50" b="0">
                <a:solidFill>
                  <a:srgbClr val="566576"/>
                </a:solidFill>
                <a:latin typeface="Aptos"/>
              </a:defRPr>
            </a:pPr>
            <a:r>
              <a:t>TSS T1 - FitnessClassBooking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1">
                <a:solidFill>
                  <a:srgbClr val="00807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43584"/>
            <a:ext cx="16459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008076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609344"/>
            <a:ext cx="16276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teste principale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143000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243584"/>
            <a:ext cx="16459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1E70B9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1609344"/>
            <a:ext cx="16276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teste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143000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243584"/>
            <a:ext cx="16459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2E7D32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609344"/>
            <a:ext cx="16276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1143000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1243584"/>
            <a:ext cx="16459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E696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609344"/>
            <a:ext cx="16276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survived mutmut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45167" y="1143000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243584"/>
            <a:ext cx="164591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0E2337"/>
                </a:solidFill>
                <a:latin typeface="Aptos"/>
              </a:defRPr>
            </a:pPr>
            <a:r>
              <a:t>94.58%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609344"/>
            <a:ext cx="16276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80" b="0">
                <a:solidFill>
                  <a:srgbClr val="566576"/>
                </a:solidFill>
                <a:latin typeface="Aptos"/>
              </a:defRPr>
            </a:pPr>
            <a:r>
              <a:t>Cosmic Ray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7432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834640"/>
            <a:ext cx="50474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Livrabile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36392"/>
            <a:ext cx="4846320" cy="10058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README.md - documentația completă;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TSS_T1_FitnessClassBooking.pptx - prezentarea;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screenshots/, logs/, cosmic_ray/ - dovezi de rulare;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diagramele finale CFG și cauză-efect.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74320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5" y="2834640"/>
            <a:ext cx="4818888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080" b="1">
                <a:solidFill>
                  <a:srgbClr val="008076"/>
                </a:solidFill>
                <a:latin typeface="Aptos"/>
              </a:defRPr>
            </a:pPr>
            <a:r>
              <a:t>Concluzie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136392"/>
            <a:ext cx="4617720" cy="10058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Metoda este compactă, dar acoperă cerințele structurale.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Suita combină testare funcțională, structurală și mutation testing.</a:t>
            </a:r>
          </a:p>
          <a:p>
            <a:pPr>
              <a:spcAft>
                <a:spcPts val="200"/>
              </a:spcAft>
              <a:defRPr sz="1120">
                <a:solidFill>
                  <a:srgbClr val="222A35"/>
                </a:solidFill>
                <a:latin typeface="Aptos"/>
              </a:defRPr>
            </a:pPr>
            <a:r>
              <a:t>Demo-ul video trebuie să arate rularea proiectului și a testelor.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103784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0E2337"/>
                </a:solidFill>
                <a:latin typeface="Aptos"/>
              </a:defRPr>
            </a:pPr>
            <a:r>
              <a:t>Pentru predare: prezentarea rezumă proiectul, iar README-ul rămâne documentația detaliată care poate fi citită separat.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