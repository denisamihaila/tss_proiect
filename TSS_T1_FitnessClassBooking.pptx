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600" b="1">
                <a:solidFill>
                  <a:srgbClr val="102033"/>
                </a:solidFill>
                <a:latin typeface="Aptos"/>
              </a:defRPr>
            </a:pPr>
            <a:r>
              <a:t>TSS T1 - Testare unitară în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0392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0">
                <a:solidFill>
                  <a:srgbClr val="5B6979"/>
                </a:solidFill>
                <a:latin typeface="Aptos"/>
              </a:defRPr>
            </a:pPr>
            <a:r>
              <a:t>FitnessClassBooking | evaluarea unui pachet de ședințe fitness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900" b="0">
                <a:solidFill>
                  <a:srgbClr val="5B6979"/>
                </a:solidFill>
                <a:latin typeface="Aptos"/>
              </a:defRPr>
            </a:pPr>
            <a:r>
              <a:t>TSS T1 - FitnessClassBooking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57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00897B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42062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5B6979"/>
                </a:solidFill>
                <a:latin typeface="Aptos"/>
              </a:defRPr>
            </a:pPr>
            <a:r>
              <a:t>Metoda principală testată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4480560" cy="1325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01952"/>
            <a:ext cx="4151376" cy="10881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800" b="0">
                <a:solidFill>
                  <a:srgbClr val="102033"/>
                </a:solidFill>
                <a:latin typeface="Consolas"/>
              </a:defRPr>
            </a:pPr>
            <a:r>
              <a:t>evaluate_client_package(</a:t>
            </a:r>
            <a:br/>
            <a:r>
              <a:t>    session_history,</a:t>
            </a:r>
            <a:br/>
            <a:r>
              <a:t>    package_sessions,</a:t>
            </a:r>
            <a:br/>
            <a:r>
              <a:t>    has_membership</a:t>
            </a:r>
            <a:br/>
            <a: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600200"/>
            <a:ext cx="1463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728216"/>
            <a:ext cx="137160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00897B"/>
                </a:solidFill>
                <a:latin typeface="Aptos"/>
              </a:defRPr>
            </a:pPr>
            <a:r>
              <a:t>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2167128"/>
            <a:ext cx="131673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teste în suita principală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600200"/>
            <a:ext cx="16916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728216"/>
            <a:ext cx="160020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  <a:latin typeface="Aptos"/>
              </a:defRPr>
            </a:pPr>
            <a: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34072" y="2167128"/>
            <a:ext cx="154533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coverage pe fișierul principal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600200"/>
            <a:ext cx="16916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1728216"/>
            <a:ext cx="160020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1976D2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8592" y="2167128"/>
            <a:ext cx="154533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mutanți survived în mutmut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3657600"/>
          <a:ext cx="107899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4000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Artefact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Fișier/folder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Rol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Cod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fitness_class_booking.py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clasa testată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Teste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test_*.py + teste_ai/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suită proprie și AI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Dovezi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screenshots/, logs/, cosmic_ray/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rezultate rulate local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600" b="1">
                <a:solidFill>
                  <a:srgbClr val="102033"/>
                </a:solidFill>
                <a:latin typeface="Aptos"/>
              </a:defRPr>
            </a:pPr>
            <a:r>
              <a:t>Cerință și alegerea funcționalității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0392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0">
                <a:solidFill>
                  <a:srgbClr val="5B6979"/>
                </a:solidFill>
                <a:latin typeface="Aptos"/>
              </a:defRPr>
            </a:pPr>
            <a:r>
              <a:t>Tema T1 cere testare unitară în Python și strategii funcționale + structurale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900" b="0">
                <a:solidFill>
                  <a:srgbClr val="5B6979"/>
                </a:solidFill>
                <a:latin typeface="Aptos"/>
              </a:defRPr>
            </a:pPr>
            <a:r>
              <a:t>TSS T1 - FitnessClassBooking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57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00897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5669280" cy="2194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550">
                <a:solidFill>
                  <a:srgbClr val="1F2937"/>
                </a:solidFill>
                <a:latin typeface="Aptos"/>
              </a:defRPr>
            </a:pPr>
            <a:r>
              <a:t>Framework folosit: pytest pentru teste unitare automate.</a:t>
            </a:r>
          </a:p>
          <a:p>
            <a:pPr>
              <a:spcAft>
                <a:spcPts val="500"/>
              </a:spcAft>
              <a:defRPr sz="1550">
                <a:solidFill>
                  <a:srgbClr val="1F2937"/>
                </a:solidFill>
                <a:latin typeface="Aptos"/>
              </a:defRPr>
            </a:pPr>
            <a:r>
              <a:t>Strategii cerute: echivalență, frontiere, coverage, circuite independente, mutation testing.</a:t>
            </a:r>
          </a:p>
          <a:p>
            <a:pPr>
              <a:spcAft>
                <a:spcPts val="500"/>
              </a:spcAft>
              <a:defRPr sz="1550">
                <a:solidFill>
                  <a:srgbClr val="1F2937"/>
                </a:solidFill>
                <a:latin typeface="Aptos"/>
              </a:defRPr>
            </a:pPr>
            <a:r>
              <a:t>Metoda are 3 parametri, buclă, if cu else, if fără else, condiție simplă și condiție compusă.</a:t>
            </a:r>
          </a:p>
          <a:p>
            <a:pPr>
              <a:spcAft>
                <a:spcPts val="500"/>
              </a:spcAft>
              <a:defRPr sz="1550">
                <a:solidFill>
                  <a:srgbClr val="1F2937"/>
                </a:solidFill>
                <a:latin typeface="Aptos"/>
              </a:defRPr>
            </a:pPr>
            <a:r>
              <a:t>Domeniul ales este realist: pachete de ședințe pentru clase de fitness.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1325880"/>
            <a:ext cx="44805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1435607"/>
            <a:ext cx="415137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1">
                <a:solidFill>
                  <a:srgbClr val="00897B"/>
                </a:solidFill>
                <a:latin typeface="Aptos"/>
              </a:defRPr>
            </a:pPr>
            <a:r>
              <a:t>De ce această metodă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9712" y="1737360"/>
            <a:ext cx="406908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Aptos"/>
              </a:defRPr>
            </a:pPr>
            <a:r>
              <a:t>are reguli de business clare;</a:t>
            </a:r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Aptos"/>
              </a:defRPr>
            </a:pPr>
            <a:r>
              <a:t>produce rezultate numerice și statusuri;</a:t>
            </a:r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Aptos"/>
              </a:defRPr>
            </a:pPr>
            <a:r>
              <a:t>permite cazuri valide și invalide;</a:t>
            </a:r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Aptos"/>
              </a:defRPr>
            </a:pPr>
            <a:r>
              <a:t>este suficient de compactă pentru analiză completă.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85800" y="4251960"/>
          <a:ext cx="104241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08610">
                <a:tc>
                  <a:txBody>
                    <a:bodyPr/>
                    <a:lstStyle/>
                    <a:p>
                      <a:pPr>
                        <a:defRPr sz="10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Cerință structurală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Implementare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06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3 parametri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6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session_history, package_sessions, has_membership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06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buclă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6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for session_status in session_history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06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condiție compusă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6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remaining_sessions == 0 and no_show == 0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600" b="1">
                <a:solidFill>
                  <a:srgbClr val="102033"/>
                </a:solidFill>
                <a:latin typeface="Aptos"/>
              </a:defRPr>
            </a:pPr>
            <a:r>
              <a:t>Modelul de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0392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0">
                <a:solidFill>
                  <a:srgbClr val="5B6979"/>
                </a:solidFill>
                <a:latin typeface="Aptos"/>
              </a:defRPr>
            </a:pPr>
            <a:r>
              <a:t>Cum se interpretează istoricul ședințelor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900" b="0">
                <a:solidFill>
                  <a:srgbClr val="5B6979"/>
                </a:solidFill>
                <a:latin typeface="Aptos"/>
              </a:defRPr>
            </a:pPr>
            <a:r>
              <a:t>TSS T1 - FitnessClassBooking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57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00897B"/>
                </a:solidFill>
                <a:latin typeface="Aptos"/>
              </a:defRPr>
            </a:pPr>
            <a: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41732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Semnificație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Consumă?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attended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clientul a participat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da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no_show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clientul nu s-a prezentat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da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cancelled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anulare la timp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nu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629400" y="1325880"/>
            <a:ext cx="44805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1435607"/>
            <a:ext cx="415137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1">
                <a:solidFill>
                  <a:srgbClr val="00897B"/>
                </a:solidFill>
                <a:latin typeface="Aptos"/>
              </a:defRPr>
            </a:pPr>
            <a:r>
              <a:t>Reguli de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37360"/>
            <a:ext cx="4069080" cy="10058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320">
                <a:solidFill>
                  <a:srgbClr val="1F2937"/>
                </a:solidFill>
                <a:latin typeface="Aptos"/>
              </a:defRPr>
            </a:pPr>
            <a:r>
              <a:t>cost = package_sessions * price_per_session</a:t>
            </a:r>
          </a:p>
          <a:p>
            <a:pPr>
              <a:spcAft>
                <a:spcPts val="500"/>
              </a:spcAft>
              <a:defRPr sz="1320">
                <a:solidFill>
                  <a:srgbClr val="1F2937"/>
                </a:solidFill>
                <a:latin typeface="Aptos"/>
              </a:defRPr>
            </a:pPr>
            <a:r>
              <a:t>membership aplică discount de 20%</a:t>
            </a:r>
          </a:p>
          <a:p>
            <a:pPr>
              <a:spcAft>
                <a:spcPts val="500"/>
              </a:spcAft>
              <a:defRPr sz="1320">
                <a:solidFill>
                  <a:srgbClr val="1F2937"/>
                </a:solidFill>
                <a:latin typeface="Aptos"/>
              </a:defRPr>
            </a:pPr>
            <a:r>
              <a:t>rezultatul este rotunjit la 2 zecimale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749039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600" b="1">
                <a:solidFill>
                  <a:srgbClr val="102033"/>
                </a:solidFill>
                <a:latin typeface="Aptos"/>
              </a:defRPr>
            </a:pPr>
            <a:r>
              <a:t>Status final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60520"/>
            <a:ext cx="28346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88536"/>
            <a:ext cx="274320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00897B"/>
                </a:solidFill>
                <a:latin typeface="Aptos"/>
              </a:defRPr>
            </a:pPr>
            <a:r>
              <a:t>active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727448"/>
            <a:ext cx="268833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mai există ședințe disponibile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94760" y="4160520"/>
            <a:ext cx="28346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4288536"/>
            <a:ext cx="274320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7912" y="4727448"/>
            <a:ext cx="268833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terminat fără absențe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4160520"/>
            <a:ext cx="3108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4288536"/>
            <a:ext cx="30175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F5A623"/>
                </a:solidFill>
                <a:latin typeface="Aptos"/>
              </a:defRPr>
            </a:pPr>
            <a:r>
              <a:t>with absences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4727448"/>
            <a:ext cx="296265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terminat cu cel puțin un no_show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600" b="1">
                <a:solidFill>
                  <a:srgbClr val="102033"/>
                </a:solidFill>
                <a:latin typeface="Aptos"/>
              </a:defRPr>
            </a:pPr>
            <a:r>
              <a:t>Structura metodei și validări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0392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0">
                <a:solidFill>
                  <a:srgbClr val="5B6979"/>
                </a:solidFill>
                <a:latin typeface="Aptos"/>
              </a:defRPr>
            </a:pPr>
            <a:r>
              <a:t>Contractul public al metodei testate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900" b="0">
                <a:solidFill>
                  <a:srgbClr val="5B6979"/>
                </a:solidFill>
                <a:latin typeface="Aptos"/>
              </a:defRPr>
            </a:pPr>
            <a:r>
              <a:t>TSS T1 - FitnessClassBooking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57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00897B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325880"/>
            <a:ext cx="5120640" cy="15087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44752"/>
            <a:ext cx="4791455" cy="1271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500" b="0">
                <a:solidFill>
                  <a:srgbClr val="102033"/>
                </a:solidFill>
                <a:latin typeface="Consolas"/>
              </a:defRPr>
            </a:pPr>
            <a:r>
              <a:t>evaluate_client_package(</a:t>
            </a:r>
            <a:br/>
            <a:r>
              <a:t>    session_history: list[str],</a:t>
            </a:r>
            <a:br/>
            <a:r>
              <a:t>    package_sessions: int,</a:t>
            </a:r>
            <a:br/>
            <a:r>
              <a:t>    has_membership: bool,</a:t>
            </a:r>
            <a:br/>
            <a:r>
              <a:t>) -&gt; dict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72200" y="1234440"/>
          <a:ext cx="52120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2606040"/>
              </a:tblGrid>
              <a:tr h="480060">
                <a:tc>
                  <a:txBody>
                    <a:bodyPr/>
                    <a:lstStyle/>
                    <a:p>
                      <a:pPr>
                        <a:defRPr sz="10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Validare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Eroare așteptată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19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session_history non-listă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invalid package data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19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package_sessions în afara [1, 20]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invalid package data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19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has_membership non-bool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invalid package data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19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status necunoscut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invalid session status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19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consum peste pachet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used sessions cannot exceed...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85800" y="3429000"/>
            <a:ext cx="51206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538728"/>
            <a:ext cx="4791455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1">
                <a:solidFill>
                  <a:srgbClr val="00897B"/>
                </a:solidFill>
                <a:latin typeface="Aptos"/>
              </a:defRPr>
            </a:pPr>
            <a:r>
              <a:t>Detaliu important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794760"/>
            <a:ext cx="4617720" cy="868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937"/>
                </a:solidFill>
                <a:latin typeface="Aptos"/>
              </a:defRPr>
            </a:pPr>
            <a:r>
              <a:t>bool este subclasă de int;</a:t>
            </a:r>
          </a:p>
          <a:p>
            <a:pPr>
              <a:spcAft>
                <a:spcPts val="500"/>
              </a:spcAft>
              <a:defRPr sz="1300">
                <a:solidFill>
                  <a:srgbClr val="1F2937"/>
                </a:solidFill>
                <a:latin typeface="Aptos"/>
              </a:defRPr>
            </a:pPr>
            <a:r>
              <a:t>True/False sunt respinse explicit pentru valori numerice;</a:t>
            </a:r>
          </a:p>
          <a:p>
            <a:pPr>
              <a:spcAft>
                <a:spcPts val="500"/>
              </a:spcAft>
              <a:defRPr sz="1300">
                <a:solidFill>
                  <a:srgbClr val="1F2937"/>
                </a:solidFill>
                <a:latin typeface="Aptos"/>
              </a:defRPr>
            </a:pPr>
            <a:r>
              <a:t>acest caz este verificat și în suita 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343400"/>
            <a:ext cx="4754880" cy="14173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use_effec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4925" y="4343400"/>
            <a:ext cx="2195188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600" b="1">
                <a:solidFill>
                  <a:srgbClr val="102033"/>
                </a:solidFill>
                <a:latin typeface="Aptos"/>
              </a:defRPr>
            </a:pPr>
            <a:r>
              <a:t>Testare funcțională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0392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0">
                <a:solidFill>
                  <a:srgbClr val="5B6979"/>
                </a:solidFill>
                <a:latin typeface="Aptos"/>
              </a:defRPr>
            </a:pPr>
            <a:r>
              <a:t>Clase de echivalență și valori de frontieră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900" b="0">
                <a:solidFill>
                  <a:srgbClr val="5B6979"/>
                </a:solidFill>
                <a:latin typeface="Aptos"/>
              </a:defRPr>
            </a:pPr>
            <a:r>
              <a:t>TSS T1 - FitnessClassBooking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57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00897B"/>
                </a:solidFill>
                <a:latin typeface="Aptos"/>
              </a:defRPr>
            </a:pPr>
            <a: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325880"/>
          <a:ext cx="54864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Fișier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Strategie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Teste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test_equivalence_partitioning.py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echivalență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22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test_boundary_value_analysis.py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frontiere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16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92240" y="1325880"/>
            <a:ext cx="4572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1" y="1435607"/>
            <a:ext cx="42428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1">
                <a:solidFill>
                  <a:srgbClr val="00897B"/>
                </a:solidFill>
                <a:latin typeface="Aptos"/>
              </a:defRPr>
            </a:pPr>
            <a:r>
              <a:t>Clase urmărite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737360"/>
            <a:ext cx="4160520" cy="1051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320">
                <a:solidFill>
                  <a:srgbClr val="1F2937"/>
                </a:solidFill>
                <a:latin typeface="Aptos"/>
              </a:defRPr>
            </a:pPr>
            <a:r>
              <a:t>istoric gol, mixt, completat cu succes sau cu absențe;</a:t>
            </a:r>
          </a:p>
          <a:p>
            <a:pPr>
              <a:spcAft>
                <a:spcPts val="500"/>
              </a:spcAft>
              <a:defRPr sz="1320">
                <a:solidFill>
                  <a:srgbClr val="1F2937"/>
                </a:solidFill>
                <a:latin typeface="Aptos"/>
              </a:defRPr>
            </a:pPr>
            <a:r>
              <a:t>tipuri invalide și statusuri necunoscute;</a:t>
            </a:r>
          </a:p>
          <a:p>
            <a:pPr>
              <a:spcAft>
                <a:spcPts val="500"/>
              </a:spcAft>
              <a:defRPr sz="1320">
                <a:solidFill>
                  <a:srgbClr val="1F2937"/>
                </a:solidFill>
                <a:latin typeface="Aptos"/>
              </a:defRPr>
            </a:pPr>
            <a:r>
              <a:t>consum exact și consum peste pachet.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24612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600" b="1">
                <a:solidFill>
                  <a:srgbClr val="102033"/>
                </a:solidFill>
                <a:latin typeface="Aptos"/>
              </a:defRPr>
            </a:pPr>
            <a:r>
              <a:t>Frontiere testate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03320"/>
            <a:ext cx="1417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31335"/>
            <a:ext cx="13258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C62828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270248"/>
            <a:ext cx="127101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sub minim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3703320"/>
            <a:ext cx="1417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3831335"/>
            <a:ext cx="13258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6312" y="4270248"/>
            <a:ext cx="127101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minim valid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3703320"/>
            <a:ext cx="1417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0520" y="3831335"/>
            <a:ext cx="13258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1976D2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7952" y="4270248"/>
            <a:ext cx="127101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peste minim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03320"/>
            <a:ext cx="1417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0" y="3831335"/>
            <a:ext cx="13258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1976D2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9592" y="4270248"/>
            <a:ext cx="127101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sub maxim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0" y="3703320"/>
            <a:ext cx="1417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3831335"/>
            <a:ext cx="13258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71232" y="4270248"/>
            <a:ext cx="127101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maxim valid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89720" y="3703320"/>
            <a:ext cx="1417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3831335"/>
            <a:ext cx="13258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C62828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4270248"/>
            <a:ext cx="127101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peste maxim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600" b="1">
                <a:solidFill>
                  <a:srgbClr val="102033"/>
                </a:solidFill>
                <a:latin typeface="Aptos"/>
              </a:defRPr>
            </a:pPr>
            <a:r>
              <a:t>Testare structurală și diagrame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0392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0">
                <a:solidFill>
                  <a:srgbClr val="5B6979"/>
                </a:solidFill>
                <a:latin typeface="Aptos"/>
              </a:defRPr>
            </a:pPr>
            <a:r>
              <a:t>Coverage, circuite independente, CFG și cauză-efect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900" b="0">
                <a:solidFill>
                  <a:srgbClr val="5B6979"/>
                </a:solidFill>
                <a:latin typeface="Aptos"/>
              </a:defRPr>
            </a:pPr>
            <a:r>
              <a:t>TSS T1 - FitnessClassBooking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57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00897B"/>
                </a:solidFill>
                <a:latin typeface="Aptos"/>
              </a:defRPr>
            </a:pPr>
            <a: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234440"/>
          <a:ext cx="507492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1691640"/>
              </a:tblGrid>
              <a:tr h="4419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Fișier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Strategie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Teste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test_coverage.py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instrucțiune / decizie / condiție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40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test_independent_circuits.py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drumuri independente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10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9808" y="2880360"/>
            <a:ext cx="4937760" cy="17373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350">
                <a:solidFill>
                  <a:srgbClr val="1F2937"/>
                </a:solidFill>
                <a:latin typeface="Aptos"/>
              </a:defRPr>
            </a:pPr>
            <a:r>
              <a:t>validări de intrare și statusuri;</a:t>
            </a:r>
          </a:p>
          <a:p>
            <a:pPr>
              <a:spcAft>
                <a:spcPts val="500"/>
              </a:spcAft>
              <a:defRPr sz="1350">
                <a:solidFill>
                  <a:srgbClr val="1F2937"/>
                </a:solidFill>
                <a:latin typeface="Aptos"/>
              </a:defRPr>
            </a:pPr>
            <a:r>
              <a:t>ramurile attended / no_show / cancelled;</a:t>
            </a:r>
          </a:p>
          <a:p>
            <a:pPr>
              <a:spcAft>
                <a:spcPts val="500"/>
              </a:spcAft>
              <a:defRPr sz="1350">
                <a:solidFill>
                  <a:srgbClr val="1F2937"/>
                </a:solidFill>
                <a:latin typeface="Aptos"/>
              </a:defRPr>
            </a:pPr>
            <a:r>
              <a:t>membership și status final;</a:t>
            </a:r>
          </a:p>
          <a:p>
            <a:pPr>
              <a:spcAft>
                <a:spcPts val="500"/>
              </a:spcAft>
              <a:defRPr sz="1350">
                <a:solidFill>
                  <a:srgbClr val="1F2937"/>
                </a:solidFill>
                <a:latin typeface="Aptos"/>
              </a:defRPr>
            </a:pPr>
            <a:r>
              <a:t>depășirea pachetului este tratată separat.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34440"/>
            <a:ext cx="2468880" cy="4480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fg_diagrama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10029"/>
            <a:ext cx="2468880" cy="35293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915400" y="1234440"/>
            <a:ext cx="2514600" cy="4480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use_effect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662946"/>
            <a:ext cx="2514600" cy="16235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600" b="1">
                <a:solidFill>
                  <a:srgbClr val="102033"/>
                </a:solidFill>
                <a:latin typeface="Aptos"/>
              </a:defRPr>
            </a:pPr>
            <a:r>
              <a:t>Coverage: rezultat 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0392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0">
                <a:solidFill>
                  <a:srgbClr val="5B6979"/>
                </a:solidFill>
                <a:latin typeface="Aptos"/>
              </a:defRPr>
            </a:pPr>
            <a:r>
              <a:t>Toate instrucțiunile și ramurile din fișierul principal sunt acoperite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900" b="0">
                <a:solidFill>
                  <a:srgbClr val="5B6979"/>
                </a:solidFill>
                <a:latin typeface="Aptos"/>
              </a:defRPr>
            </a:pPr>
            <a:r>
              <a:t>TSS T1 - FitnessClassBooking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57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00897B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325880"/>
            <a:ext cx="1078992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coverage_report_100_per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06" y="1325880"/>
            <a:ext cx="10721106" cy="187451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0120" y="370332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31335"/>
            <a:ext cx="1463039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00897B"/>
                </a:solidFill>
                <a:latin typeface="Aptos"/>
              </a:defRPr>
            </a:pPr>
            <a:r>
              <a:t>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270248"/>
            <a:ext cx="140817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statements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370332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3831335"/>
            <a:ext cx="1463039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4270248"/>
            <a:ext cx="140817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missing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370332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3831335"/>
            <a:ext cx="1463039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1976D2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4270248"/>
            <a:ext cx="140817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branches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3703320"/>
            <a:ext cx="17373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59" y="3831335"/>
            <a:ext cx="1645919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93992" y="4270248"/>
            <a:ext cx="159105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partial branches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0" y="3703320"/>
            <a:ext cx="17373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3831335"/>
            <a:ext cx="1645919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F5A623"/>
                </a:solidFill>
                <a:latin typeface="Aptos"/>
              </a:defRPr>
            </a:pPr>
            <a: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2832" y="4270248"/>
            <a:ext cx="159105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66360"/>
            <a:ext cx="102412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Aptos"/>
              </a:defRPr>
            </a:pPr>
            <a:r>
              <a:t>Interpretare: coverage-ul confirmă execuția completă a codului, iar mutation testing verifică dacă testele detectează modificări greșite de comportament.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600" b="1">
                <a:solidFill>
                  <a:srgbClr val="102033"/>
                </a:solidFill>
                <a:latin typeface="Aptos"/>
              </a:defRPr>
            </a:pPr>
            <a:r>
              <a:t>Mutation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0392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0">
                <a:solidFill>
                  <a:srgbClr val="5B6979"/>
                </a:solidFill>
                <a:latin typeface="Aptos"/>
              </a:defRPr>
            </a:pPr>
            <a:r>
              <a:t>mutmut ca analiză principală, Cosmic Ray ca analiză suplimentară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900" b="0">
                <a:solidFill>
                  <a:srgbClr val="5B6979"/>
                </a:solidFill>
                <a:latin typeface="Aptos"/>
              </a:defRPr>
            </a:pPr>
            <a:r>
              <a:t>TSS T1 - FitnessClassBooking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57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00897B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5989320" cy="23317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mutmu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64961"/>
            <a:ext cx="5989320" cy="227067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95160" y="1234440"/>
          <a:ext cx="4343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/>
                <a:gridCol w="217170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mutmut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Rezultat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mutanți verificați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95/95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killed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80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suspicious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15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survived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timeout / skipped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0 / 0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977639"/>
          <a:ext cx="5166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</a:tblGrid>
              <a:tr h="3429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Cosmic Ray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Rezultat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mutanți finalizați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166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survived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scor aproximativ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94.58%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217920" y="3977639"/>
            <a:ext cx="48920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4087368"/>
            <a:ext cx="4562855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1">
                <a:solidFill>
                  <a:srgbClr val="00897B"/>
                </a:solidFill>
                <a:latin typeface="Aptos"/>
              </a:defRPr>
            </a:pPr>
            <a:r>
              <a:t>Interpretare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370832"/>
            <a:ext cx="44348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50" b="0">
                <a:solidFill>
                  <a:srgbClr val="1F2937"/>
                </a:solidFill>
                <a:latin typeface="Aptos"/>
              </a:defRPr>
            </a:pPr>
            <a:r>
              <a:t>În mutmut, Suspicious nu înseamnă Survived. Cosmic Ray folosește operatori diferiți și poate păstra alți mutanți pentru analiză.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600" b="1">
                <a:solidFill>
                  <a:srgbClr val="102033"/>
                </a:solidFill>
                <a:latin typeface="Aptos"/>
              </a:defRPr>
            </a:pPr>
            <a:r>
              <a:t>Suita AI și comparația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0392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0">
                <a:solidFill>
                  <a:srgbClr val="5B6979"/>
                </a:solidFill>
                <a:latin typeface="Aptos"/>
              </a:defRPr>
            </a:pPr>
            <a:r>
              <a:t>AI folosit pentru analiză, completare și verificare, nu ca oracol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900" b="0">
                <a:solidFill>
                  <a:srgbClr val="5B6979"/>
                </a:solidFill>
                <a:latin typeface="Aptos"/>
              </a:defRPr>
            </a:pPr>
            <a:r>
              <a:t>TSS T1 - FitnessClassBooking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57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00897B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16459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08176"/>
            <a:ext cx="15544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00897B"/>
                </a:solidFill>
                <a:latin typeface="Aptos"/>
              </a:defRPr>
            </a:pPr>
            <a:r>
              <a:t>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847088"/>
            <a:ext cx="149961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teste proprii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1280160"/>
            <a:ext cx="16459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79" y="1408176"/>
            <a:ext cx="15544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1976D2"/>
                </a:solidFill>
                <a:latin typeface="Aptos"/>
              </a:defRPr>
            </a:pPr>
            <a: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24912" y="1847088"/>
            <a:ext cx="149961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teste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280160"/>
            <a:ext cx="16459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08176"/>
            <a:ext cx="15544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F5A623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1847088"/>
            <a:ext cx="1499616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fișiere în teste_ai/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1280160"/>
            <a:ext cx="4297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1389888"/>
            <a:ext cx="396849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1">
                <a:solidFill>
                  <a:srgbClr val="00897B"/>
                </a:solidFill>
                <a:latin typeface="Aptos"/>
              </a:defRPr>
            </a:pPr>
            <a:r>
              <a:t>Exemple utile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1664208"/>
            <a:ext cx="3886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50" b="0">
                <a:solidFill>
                  <a:srgbClr val="1F2937"/>
                </a:solidFill>
                <a:latin typeface="Aptos"/>
              </a:defRPr>
            </a:pPr>
            <a:r>
              <a:t>bool vs int, string equality, statusuri construite dinamic, scenarii agregate de business.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2743200"/>
          <a:ext cx="107899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Criteriu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Suita proprie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Suita AI</a:t>
                      </a:r>
                    </a:p>
                  </a:txBody>
                  <a:tcPr marL="45720" marR="45720">
                    <a:solidFill>
                      <a:srgbClr val="10203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Organizare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pe tehnici de testare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pe scenarii și proprietăți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Stil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explicit, didactic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compact, parametrizat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Valoare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demonstrează cerința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găsește edge case-uri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14400" y="4983480"/>
            <a:ext cx="100584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500" b="1">
                <a:solidFill>
                  <a:srgbClr val="102033"/>
                </a:solidFill>
                <a:latin typeface="Aptos"/>
              </a:defRPr>
            </a:pPr>
            <a:r>
              <a:t>Rezultat suită AI: python -m pytest -q teste_ai -&gt; 70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600" b="1">
                <a:solidFill>
                  <a:srgbClr val="102033"/>
                </a:solidFill>
                <a:latin typeface="Aptos"/>
              </a:defRPr>
            </a:pPr>
            <a:r>
              <a:t>Rezultate finale și concluzie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0392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0">
                <a:solidFill>
                  <a:srgbClr val="5B6979"/>
                </a:solidFill>
                <a:latin typeface="Aptos"/>
              </a:defRPr>
            </a:pPr>
            <a:r>
              <a:t>Proiect pregătit pentru README, PowerPoint și demo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900" b="0">
                <a:solidFill>
                  <a:srgbClr val="5B6979"/>
                </a:solidFill>
                <a:latin typeface="Aptos"/>
              </a:defRPr>
            </a:pPr>
            <a:r>
              <a:t>TSS T1 - FitnessClassBooking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57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00897B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2057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53895"/>
            <a:ext cx="19659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00897B"/>
                </a:solidFill>
                <a:latin typeface="Aptos"/>
              </a:defRPr>
            </a:pPr>
            <a:r>
              <a:t>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892807"/>
            <a:ext cx="1911095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teste principale trecute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325880"/>
            <a:ext cx="2057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53895"/>
            <a:ext cx="19659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1976D2"/>
                </a:solidFill>
                <a:latin typeface="Aptos"/>
              </a:defRPr>
            </a:pPr>
            <a: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1892807"/>
            <a:ext cx="1911095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teste AI trecute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325880"/>
            <a:ext cx="2057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453895"/>
            <a:ext cx="19659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  <a:latin typeface="Aptos"/>
              </a:defRPr>
            </a:pPr>
            <a: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1892807"/>
            <a:ext cx="1911095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325880"/>
            <a:ext cx="2057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453895"/>
            <a:ext cx="19659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400" b="1">
                <a:solidFill>
                  <a:srgbClr val="F5A623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7112" y="1892807"/>
            <a:ext cx="1911095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0">
                <a:solidFill>
                  <a:srgbClr val="5B6979"/>
                </a:solidFill>
                <a:latin typeface="Aptos"/>
              </a:defRPr>
            </a:pPr>
            <a:r>
              <a:t>survived în mutmut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2971800"/>
            <a:ext cx="52120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081528"/>
            <a:ext cx="488289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1">
                <a:solidFill>
                  <a:srgbClr val="00897B"/>
                </a:solidFill>
                <a:latin typeface="Aptos"/>
              </a:defRPr>
            </a:pPr>
            <a:r>
              <a:t>Concluzie tehnică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383280"/>
            <a:ext cx="4754880" cy="10972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937"/>
                </a:solidFill>
                <a:latin typeface="Aptos"/>
              </a:defRPr>
            </a:pPr>
            <a:r>
              <a:t>o singură metodă compactă, dar suficient de complexă;</a:t>
            </a:r>
          </a:p>
          <a:p>
            <a:pPr>
              <a:spcAft>
                <a:spcPts val="500"/>
              </a:spcAft>
              <a:defRPr sz="1300">
                <a:solidFill>
                  <a:srgbClr val="1F2937"/>
                </a:solidFill>
                <a:latin typeface="Aptos"/>
              </a:defRPr>
            </a:pPr>
            <a:r>
              <a:t>testare funcțională + structurală + mutation testing;</a:t>
            </a:r>
          </a:p>
          <a:p>
            <a:pPr>
              <a:spcAft>
                <a:spcPts val="500"/>
              </a:spcAft>
              <a:defRPr sz="1300">
                <a:solidFill>
                  <a:srgbClr val="1F2937"/>
                </a:solidFill>
                <a:latin typeface="Aptos"/>
              </a:defRPr>
            </a:pPr>
            <a:r>
              <a:t>diagrame și capturi finale incluse în proiect.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971800"/>
            <a:ext cx="4800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3081528"/>
            <a:ext cx="44714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1">
                <a:solidFill>
                  <a:srgbClr val="00897B"/>
                </a:solidFill>
                <a:latin typeface="Aptos"/>
              </a:defRPr>
            </a:pPr>
            <a:r>
              <a:t>Materiale de predare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383280"/>
            <a:ext cx="4389120" cy="10972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937"/>
                </a:solidFill>
                <a:latin typeface="Aptos"/>
              </a:defRPr>
            </a:pPr>
            <a:r>
              <a:t>README.md = documentația completă;</a:t>
            </a:r>
          </a:p>
          <a:p>
            <a:pPr>
              <a:spcAft>
                <a:spcPts val="500"/>
              </a:spcAft>
              <a:defRPr sz="1300">
                <a:solidFill>
                  <a:srgbClr val="1F2937"/>
                </a:solidFill>
                <a:latin typeface="Aptos"/>
              </a:defRPr>
            </a:pPr>
            <a:r>
              <a:t>TSS_T1_FitnessClassBooking.pptx = 10 slide-uri;</a:t>
            </a:r>
          </a:p>
          <a:p>
            <a:pPr>
              <a:spcAft>
                <a:spcPts val="500"/>
              </a:spcAft>
              <a:defRPr sz="1300">
                <a:solidFill>
                  <a:srgbClr val="1F2937"/>
                </a:solidFill>
                <a:latin typeface="Aptos"/>
              </a:defRPr>
            </a:pPr>
            <a:r>
              <a:t>înregistrare ecran: demo rulare proiect.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486400"/>
            <a:ext cx="10469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400" b="1">
                <a:solidFill>
                  <a:srgbClr val="102033"/>
                </a:solidFill>
                <a:latin typeface="Aptos"/>
              </a:defRPr>
            </a:pPr>
            <a:r>
              <a:t>Mesaj final: testele nu doar execută codul, ci verifică reguli de business, limite, ramuri și rezistența la mutații.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