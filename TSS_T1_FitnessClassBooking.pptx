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5486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46336" y="0"/>
            <a:ext cx="54864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3200400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alibri"/>
              </a:rPr>
              <a:t>Testarea Sistemelor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38BDF8"/>
                </a:solidFill>
                <a:latin typeface="Calibri"/>
              </a:rPr>
              <a:t>TSS T1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Calibri"/>
              </a:rPr>
              <a:t>Testare unitară în 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520440"/>
            <a:ext cx="7315200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Proiect:   FitnessClassBooking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78808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Metodă:   evaluate_client_package(session_history, package_sessions, has_membership)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54296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Framework:  pytest 9.0.3  |  coverage.py 7.13.5  |  mutmut 2.5.1  |  Cosmic Ray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1371600"/>
            <a:ext cx="210312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4173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4D399"/>
                </a:solidFill>
                <a:latin typeface="Calibri"/>
              </a:rPr>
              <a:t>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103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teste principale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2926080"/>
            <a:ext cx="210312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97180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4D399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657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coverage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4480560"/>
            <a:ext cx="210312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45262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52120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mutanți survived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Cerințe T1 și mapare pe implementare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Framework: pytest  |  Toate strategiile cerute sunt acoperite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Strategii de testare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08760"/>
          <a:ext cx="57607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</a:tblGrid>
              <a:tr h="4419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Strategie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Fișier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Clase de echivalență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test_equivalence_partitioning.py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Valori de frontieră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test_boundary_value_analysis.py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Coverage instrucțiune/decizie/condiție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test_coverage.py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Circuite independente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test_independent_circuits.py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Mutation testing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test_mutation.py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Cerințe structurale ale metodei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08760"/>
          <a:ext cx="5486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43107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Cerință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Implementare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≥ 3 parametri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session_history, package_sessions, has_membership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Instrucțiune repetitivă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for session_status in session_history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cu else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session_status == 'attended': … else: …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fără else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has_membership: …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Condiție simplă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has_membership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Condiție compusă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remaining_sessions == 0 and no_show == 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4297680"/>
            <a:ext cx="11430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4297680"/>
            <a:ext cx="36576" cy="5943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334256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BBF24"/>
                </a:solidFill>
                <a:latin typeface="Calibri"/>
              </a:rPr>
              <a:t>Nota: Python – bool este subclasă a int → validarea separată a tipului bool este obligatorie (True/False ar putea trece ca 1/0 fără verificare explicită).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Funcționalitatea testată – FitnessClassBooking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8BDF8"/>
                </a:solidFill>
                <a:latin typeface="Calibri"/>
              </a:rPr>
              <a:t>Clasa modelează evaluarea unui pachet de ședințe de fitness cumpărat de un client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96012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6576" cy="9601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booking = FitnessClassBooking(class_name, instructor, price_per_session)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1848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result  = booking.evaluate_client_package(session_history, package_sessions, has_membership)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Statusuri acceptate în session_history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60604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128016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Semnificație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Consumă ședință?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attended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Clientul a participat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Da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no_show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Absent fără anunț prealabil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87171"/>
                          </a:solidFill>
                          <a:latin typeface="Calibri"/>
                        </a:rPr>
                        <a:t>Da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Anulat la timp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BBF24"/>
                          </a:solidFill>
                          <a:latin typeface="Calibri"/>
                        </a:rPr>
                        <a:t>Nu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Exemplu de calcul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606040"/>
            <a:ext cx="5394960" cy="164592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606040"/>
            <a:ext cx="36576" cy="1645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Input: ["attended","attended","cancelled","no_show"],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       package_sessions=5, has_membership=True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552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─────────────────────────────────────────────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478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used_sessions=3  remaining=2  cancelled=1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404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BBF24"/>
                </a:solidFill>
                <a:latin typeface="Calibri"/>
              </a:rPr>
              <a:t>cost = 5×50×0.80 = 200.0  |  status = 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434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Status final al pachetului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09160"/>
            <a:ext cx="3749039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709160"/>
            <a:ext cx="3749039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2803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active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02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Mai are ședințe disponibile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709160"/>
            <a:ext cx="3749039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4709160"/>
            <a:ext cx="3749039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82803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completed_successfully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102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Terminat fără no_show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709160"/>
            <a:ext cx="3749039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709160"/>
            <a:ext cx="3749039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82803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Calibri"/>
              </a:rPr>
              <a:t>completed_with_absences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102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Terminat cu cel puțin un no_show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Validări și reguli de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BBF24"/>
                </a:solidFill>
                <a:latin typeface="Calibri"/>
              </a:rPr>
              <a:t>Orice intrare invalida aruncă ValueError – testele verifică mesajele publice de eroare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__init__(class_name, instructor, price_per_session)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576071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749039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Parametru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Regulă de validare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class_name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Trebuie să fie în {dance, pilates, yoga, zumba}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instructor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Șir nevid după strip()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price_per_session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Număr pozitiv; bool respins explicit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evaluate_client_package(session_history, package_sessions, has_membership)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600200"/>
          <a:ext cx="5577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74720"/>
              </a:tblGrid>
              <a:tr h="3352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Parametru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Regulă de validare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session_history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Trebuie să fie de tip list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package_sessions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int în [1, 20]; bool respins explicit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has_membership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Strict bool (nu int)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statusuri în istoric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Doar 'attended', 'no_show', 'cancelled'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consum vs pachet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used_sessions ≤ package_sessions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3337560"/>
            <a:ext cx="731520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337560"/>
            <a:ext cx="36576" cy="13258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  <a:latin typeface="Calibri"/>
              </a:rPr>
              <a:t>Caz special Python: bool este subclasă de 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673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price_per_session=False  →  ValueError  (ar trece ca 0 fără validare)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package_sessions=True   →  ValueError  (ar trece ca 1 fără validare)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package_sessions=False  →  ValueError  (ar trece ca 0 fără validare)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531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has_membership=1        →  ValueError  (nu este strict bool)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3337560"/>
            <a:ext cx="411480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3337560"/>
            <a:ext cx="4114800" cy="3657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3832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  <a:latin typeface="Calibri"/>
              </a:rPr>
              <a:t>Frontiere package_sessions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749039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BD5E1"/>
                </a:solidFill>
                <a:latin typeface="Calibri"/>
              </a:rPr>
              <a:t>Invalid: 0  |  Valid: 1  ──  20  |  Invalid: 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4160520"/>
            <a:ext cx="347472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87171"/>
                </a:solidFill>
                <a:latin typeface="Calibri"/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59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3959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59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39" y="4160520"/>
            <a:ext cx="384048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39" y="4160520"/>
            <a:ext cx="384048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39" y="422452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···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3495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5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83495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94975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94975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94975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06455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06455" y="4160520"/>
            <a:ext cx="347472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06455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87171"/>
                </a:solidFill>
                <a:latin typeface="Calibri"/>
              </a:rPr>
              <a:t>21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754880"/>
            <a:ext cx="5303520" cy="77724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4754880"/>
            <a:ext cx="36576" cy="7772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800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Discount membership: 20%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120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total_cost = package_sessions × price_per_session × (1 − 0.20)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754880"/>
            <a:ext cx="5943600" cy="77724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43600" y="4754880"/>
            <a:ext cx="36576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48006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Restricție: used_sessions ≤ package_sessions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120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Altfel → ValueError('invalid package data')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Proiectarea suitei principale de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alibri"/>
              </a:rPr>
              <a:t>100 teste organizate pe tehnicile cerute în tema T1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972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1005840"/>
                <a:gridCol w="4663440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Fișier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Strategie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Nr. teste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Rol principal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test_equivalence_partitioning.py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Clase de echivalență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Domenii valide/invalide pentru constructor și metodă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test_boundary_value_analysis.py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Valori de frontieră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Limite la 1, 20, prețuri minime și depășiri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test_coverage.py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Instrucțiune / Decizie / Condiție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Execuția tuturor ramurilor relevante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test_independent_circuits.py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Circuite independente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Drumuri reprezentative prin fluxul metodei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test_mutation.py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Teste orientate pe mutanți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Întărirea suitei pentru mutation testing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97680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4297680"/>
            <a:ext cx="11430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708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TOTAL SUITE PRINCIPALĂ: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432511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Calibri"/>
              </a:rPr>
              <a:t>100 teste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3708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toate structurate explicit pe tehnicile studiate la curs și laborator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074920"/>
            <a:ext cx="36576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5074920"/>
            <a:ext cx="365760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166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Funcțional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532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23 + 16 =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Echivalență + Frontiere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5074920"/>
            <a:ext cx="36576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5074920"/>
            <a:ext cx="3657600" cy="457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5166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Structural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532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40 + 10 = 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6035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Coverage + Circuite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5074920"/>
            <a:ext cx="36576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5074920"/>
            <a:ext cx="3657600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5166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  <a:latin typeface="Calibri"/>
              </a:rPr>
              <a:t>Mutation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532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6035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Orientate pe mutanți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Testare funcțională: Echivalență și Frontiere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8BDF8"/>
                </a:solidFill>
                <a:latin typeface="Calibri"/>
              </a:rPr>
              <a:t>23 teste pentru echivalență  +  16 teste pentru valori de frontieră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Clase valide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class_name ∈ {dance, pilates, yoga, zumba}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83664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8366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Instructor: șir nevid (ex: 'Ana Pop')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31136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31136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Preț: orice număr pozitiv (ex: 50.0)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78608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78608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session_history: listă goală sau cu statusuri valide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26080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package_sessions: int în intervalul [1, 20]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73552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7355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has_membership: strict True sau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21024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62102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Pachet activ / finalizat cu succes / cu absențe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143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Calibri"/>
              </a:rPr>
              <a:t>Clase invalide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1536192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5361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class_name: 'spinning', None, 123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883664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188366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Instructor: '', '   ', 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231136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2311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Preț: 0, -10, True, False, 'cincizeci'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2578608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57860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session_history: None, tuple, string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2926080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package_sessions: 0, 21, True, False, 5.0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3273552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27355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has_membership: 1, 0, 'yes', None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621024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362102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Status: 'present', 'absent' (necunoscut)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968496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396849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Consum &gt; pachet: [attended×6] cu package=5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0" y="1143000"/>
            <a:ext cx="36576" cy="30175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Frontierele package_sessions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709160"/>
            <a:ext cx="128016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Invalid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10512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10512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10512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0512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Min valid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55264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55264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55264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Min+1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00016" y="4709160"/>
            <a:ext cx="1188719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00016" y="4709160"/>
            <a:ext cx="1188719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0016" y="4800600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Calibri"/>
              </a:rPr>
              <a:t>·  ·  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53328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53328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53328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3328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Max−1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80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80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0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80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Max valid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42832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42832" y="4709160"/>
            <a:ext cx="128016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42832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  <a:latin typeface="Calibri"/>
              </a:rPr>
              <a:t>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42832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Invalid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440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Frontierele price_per_session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7171"/>
                </a:solidFill>
                <a:latin typeface="Calibri"/>
              </a:rPr>
              <a:t>&lt; 0  →  ValueError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54679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46120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7171"/>
                </a:solidFill>
                <a:latin typeface="Calibri"/>
              </a:rPr>
              <a:t>= 0  →  ValueError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43600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35040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4D399"/>
                </a:solidFill>
                <a:latin typeface="Calibri"/>
              </a:rPr>
              <a:t>&gt; 0  →  Valid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32519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23959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7171"/>
                </a:solidFill>
                <a:latin typeface="Calibri"/>
              </a:rPr>
              <a:t>bool  →  ValueError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Testare structurală, CFG și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40 teste de coverage  +  10 circuite independente  →  100% statement &amp; branch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Ramuri testate explicit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9344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Validări constructor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5361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class_name, instructor, price invalide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93392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Validări metodă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920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session_history, package_sessions, has_membership invalide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30428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Loop: status attended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3042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incrementează attended și used_sessions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6883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Loop: status no_show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8833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incrementează no_show și used_sessions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45536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0723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Loop: status cancelled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07238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incrementează cancelled, nu consumă ședință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9584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45643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 invalid în buclă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345643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ValueError la status necunoscut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913632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Depășire pachet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used_sessions &gt; package_sessions → ValueError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297680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224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With membership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2245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total_cost × 0.80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81728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6085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Without membership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460857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total_cost fără discount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065776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9926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Status: active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499262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remaining_sessions &gt; 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449824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37667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Status: completed_successfully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3766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remaining=0 AND no_show=0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833872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760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Status: completed_with_absences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57607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remaining=0 AND no_show&gt;0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114300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Rezultat Coverage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6126480" y="1536192"/>
          <a:ext cx="5852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463040"/>
              </a:tblGrid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Metrica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Valoare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Statements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43 / 43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Missing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Branches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26 / 26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Partial branches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Overall coverage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fitness_class_booking.py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6126480" y="3913632"/>
            <a:ext cx="5852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0" y="3913632"/>
            <a:ext cx="36576" cy="5943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3959352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BD5E1"/>
                </a:solidFill>
                <a:latin typeface="Calibri"/>
              </a:rPr>
              <a:t>Coverage 100% arată că suita execută toate zonele din cod, dar nu garantează singur că testele sunt complete → mutation testing completează imaginea.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61772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Diagrame realizate cu tool dedicat (Draw.io)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5010912"/>
            <a:ext cx="585216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80" y="5010912"/>
            <a:ext cx="36576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505663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Control Flow 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63640" y="53309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Fluxul complet al metodei evaluate_client_package  [cfg_diagrama.drawio.png]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0" y="5760720"/>
            <a:ext cx="585216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0" y="5760720"/>
            <a:ext cx="36576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580644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Cause-Effect Graph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60807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Relații între condiții, reguli business și rezultate  [cause_effect_graph.png]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Mutation Testing: mutmut și Cosmic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BBF24"/>
                </a:solidFill>
                <a:latin typeface="Calibri"/>
              </a:rPr>
              <a:t>Două instrumente complementare – operatori diferiți, perspectivă independentă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4206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3949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161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  <a:latin typeface="Calibri"/>
              </a:rPr>
              <a:t>mutmut 2.5.1  (WSL Ubuntu 24.04.1)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Mutanți verificați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6916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Calibri"/>
              </a:rPr>
              <a:t>95 / 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Killed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286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803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Suspicious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803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BBF24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Survived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690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Timeout / Skipped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690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CBD5E1"/>
                </a:solidFill>
                <a:latin typeface="Calibri"/>
              </a:rPr>
              <a:t>0 /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17720"/>
            <a:ext cx="502920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6817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Suspicious ≠ Survived: indică rulări mai lente decât baseline, nu mutanți supraviețuitori.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143000"/>
            <a:ext cx="5577840" cy="4206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143000"/>
            <a:ext cx="557784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2161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Cosmic Ray  (analiză suplimentară)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6916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Mutanți generați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16916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Calibri"/>
              </a:rPr>
              <a:t>166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2860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Killed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286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157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880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Survived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28803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BBF24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474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Rată supraviețuire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34747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BBF24"/>
                </a:solidFill>
                <a:latin typeface="Calibri"/>
              </a:rPr>
              <a:t>5.42%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0690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Scor kill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40690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94.58%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617720"/>
            <a:ext cx="521208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68172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Cosmic Ray generează mai mulți mutanți cu operatori diferiți față de mutmut → verificare complementară a robusteții suitei.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486400"/>
            <a:ext cx="11430000" cy="91440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5486400"/>
            <a:ext cx="36576" cy="914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5321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test_mutation.py (11 teste) – verifică explicit: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97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costul se calculează pe pachetul complet, nu pe ședințele folosite  |  discount de exact 20%  |  cancelled nu consumă ședință  |  statusul final depinde de remaining_sessions ȘI no_show  |  mesaje de eroare stabile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Utilizarea AI și suita asistată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ChatGPT/Codex utilizat ca instrument de analiză și verificare – nu de înlocuire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Activitati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54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Revizuirea suitei proprii de teste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9659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Identificarea cazurilor-limită (bool vs int)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77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Propunerea testelor suplimentare pentru mutanți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8892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7889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Construirea suitei independente în teste_ai/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0040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00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Compararea suitei proprii cu suita generată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Formularea interpretărilor pentru coverage și mutation 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143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Suita AI – teste_ai/  (70 teste)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035040" y="1536192"/>
          <a:ext cx="5943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48640"/>
                <a:gridCol w="219456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Fișier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Nr.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Stil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test_ai_generated_booking.py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Scenarii business cu dataclass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test_ai_equivalence_and_validation.py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Parametrizări echivalență+validare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test_ai_boundary_and_structural.py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Limite, ramuri, rotunjire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test_ai_paths_and_mutation_focus.py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Proprietăți, drumuri, mutații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5760" y="4114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Comparație suita proprie vs suita AI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4507992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5486400"/>
              </a:tblGrid>
              <a:tr h="3352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Criteriu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Suita proprie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Suita AI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Număr teste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Organizare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Pe tehnici de testare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Pe scenarii, validări, proprietăți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Stil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Explicit, didactic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Compact, parametrizat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Scop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Demonstrarea strategiilor cerute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Perspectivă independentă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100% (confirmat)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Confirmă comportamentul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035040" y="3639312"/>
            <a:ext cx="5943600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0" y="3639312"/>
            <a:ext cx="36576" cy="38404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366674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BBF24"/>
                </a:solidFill>
                <a:latin typeface="Calibri"/>
              </a:rPr>
              <a:t>Studii de caz AI: bool vs int (True/False ca 1/0)  |  egalitate string via ==, nu is  |  statusuri construite dinamic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Rezultate finale și livrabile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alibri"/>
              </a:rPr>
              <a:t>Proiectul respectă cerința T1 – testare funcțională + structurală + mutation +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teste principale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2344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234440"/>
            <a:ext cx="3657600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417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8BDF8"/>
                </a:solidFill>
                <a:latin typeface="Calibr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2240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teste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4" y="12344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93024" y="12344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417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240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statement 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632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0632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461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069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branch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30632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0632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0832" y="32461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4069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mutanți survived
(mutmut)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30632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93024" y="3063240"/>
            <a:ext cx="365760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32461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BBF24"/>
                </a:solidFill>
                <a:latin typeface="Calibri"/>
              </a:rPr>
              <a:t>94.58%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4069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kill rate
(Cosmic Ray)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029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Livrabile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422392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9496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README.md – documentație completă (713 linii)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23559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59612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fitness_class_booking.py – clasa testată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24728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79729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test_*.py (5 fișiere) – suita principală 100 teste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025896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99846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teste_ai/ (4 fișiere) – suita AI 70 teste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227064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19963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cfg_diagrama.drawio.png, cause_effect_graph.png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428231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40080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screenshots/ (7) + logs/ + cosmic_ray/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629400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60196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TSS_T1_FitnessClassBooking.pptx – prezentarea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029200"/>
            <a:ext cx="5943600" cy="1554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029200"/>
            <a:ext cx="59436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510235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Concluzie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486400"/>
            <a:ext cx="5669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Metoda evaluate_client_package permite verificarea coerentă a claselor de echivalență, valorilor de frontieră, acoperirii codului, circuitelor independente și comportamentului în fața mutațiilor. Rezultatele obținute indică o suită stabilă și bine focalizată pe contractul public al clasei.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