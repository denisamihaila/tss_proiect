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68" r:id="rId2"/>
    <p:sldId id="269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8263"/>
  <p:notesSz cx="6858000" cy="9144000"/>
  <p:defaultTextStyle>
    <a:defPPr>
      <a:defRPr lang="en-US"/>
    </a:defPPr>
    <a:lvl1pPr marL="0" algn="l" defTabSz="73289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66446" algn="l" defTabSz="73289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32892" algn="l" defTabSz="73289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99337" algn="l" defTabSz="73289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65783" algn="l" defTabSz="73289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832229" algn="l" defTabSz="73289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98675" algn="l" defTabSz="73289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65121" algn="l" defTabSz="73289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931566" algn="l" defTabSz="73289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658" y="-91"/>
      </p:cViewPr>
      <p:guideLst>
        <p:guide orient="horz" pos="162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AFA80-42E6-4D6E-98A8-76EB73FCA56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5EFDED-03A5-4C32-9A03-CAB6ED320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04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3289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366446" algn="l" defTabSz="73289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732892" algn="l" defTabSz="73289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099337" algn="l" defTabSz="73289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465783" algn="l" defTabSz="73289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832229" algn="l" defTabSz="73289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198675" algn="l" defTabSz="73289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565121" algn="l" defTabSz="73289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931566" algn="l" defTabSz="73289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5EFDED-03A5-4C32-9A03-CAB6ED320F3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729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7116"/>
            <a:ext cx="7370400" cy="2321147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2136"/>
            <a:ext cx="5561400" cy="3596127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4501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203275" y="206441"/>
            <a:ext cx="8737500" cy="4735381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9" y="592"/>
            <a:ext cx="2250363" cy="1045267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8" y="592"/>
            <a:ext cx="2250363" cy="1045267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94"/>
            <a:ext cx="1851282" cy="752805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21758"/>
            <a:ext cx="2389068" cy="926594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50" y="4059410"/>
            <a:ext cx="2795414" cy="1084311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4521"/>
            <a:ext cx="5361300" cy="1449441"/>
          </a:xfrm>
          <a:prstGeom prst="rect">
            <a:avLst/>
          </a:prstGeom>
        </p:spPr>
        <p:txBody>
          <a:bodyPr spcFirstLastPara="1" wrap="square" lIns="73277" tIns="73277" rIns="73277" bIns="73277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6318"/>
            <a:ext cx="5361300" cy="523084"/>
          </a:xfrm>
          <a:prstGeom prst="rect">
            <a:avLst/>
          </a:prstGeom>
        </p:spPr>
        <p:txBody>
          <a:bodyPr spcFirstLastPara="1" wrap="square" lIns="73277" tIns="73277" rIns="73277" bIns="73277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3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3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3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3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3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3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3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3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7876"/>
            <a:ext cx="548700" cy="393964"/>
          </a:xfrm>
          <a:prstGeom prst="rect">
            <a:avLst/>
          </a:prstGeom>
        </p:spPr>
        <p:txBody>
          <a:bodyPr spcFirstLastPara="1" wrap="square" lIns="73277" tIns="73277" rIns="73277" bIns="73277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o">
                <a:solidFill>
                  <a:srgbClr val="233A44"/>
                </a:solidFill>
              </a:rPr>
              <a:pPr/>
              <a:t>‹#›</a:t>
            </a:fld>
            <a:endParaRPr>
              <a:solidFill>
                <a:srgbClr val="233A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520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11539"/>
            <a:ext cx="4386900" cy="2836724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2" y="3964785"/>
            <a:ext cx="2910145" cy="1183435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50" y="5"/>
            <a:ext cx="2795414" cy="1084311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7717"/>
            <a:ext cx="5377500" cy="1647624"/>
          </a:xfrm>
          <a:prstGeom prst="rect">
            <a:avLst/>
          </a:prstGeom>
        </p:spPr>
        <p:txBody>
          <a:bodyPr spcFirstLastPara="1" wrap="square" lIns="73277" tIns="73277" rIns="73277" bIns="73277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2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2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2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2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2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2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2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2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7876"/>
            <a:ext cx="548700" cy="393964"/>
          </a:xfrm>
          <a:prstGeom prst="rect">
            <a:avLst/>
          </a:prstGeom>
        </p:spPr>
        <p:txBody>
          <a:bodyPr spcFirstLastPara="1" wrap="square" lIns="73277" tIns="73277" rIns="73277" bIns="73277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o">
                <a:solidFill>
                  <a:srgbClr val="233A44"/>
                </a:solidFill>
              </a:rPr>
              <a:pPr/>
              <a:t>‹#›</a:t>
            </a:fld>
            <a:endParaRPr>
              <a:solidFill>
                <a:srgbClr val="233A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015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2136"/>
            <a:ext cx="5561400" cy="3596127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1" y="2827116"/>
            <a:ext cx="7370400" cy="2321147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03225" y="206441"/>
            <a:ext cx="8737500" cy="4735381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6383"/>
            <a:ext cx="7505700" cy="955484"/>
          </a:xfrm>
          <a:prstGeom prst="rect">
            <a:avLst/>
          </a:prstGeom>
        </p:spPr>
        <p:txBody>
          <a:bodyPr spcFirstLastPara="1" wrap="square" lIns="73277" tIns="73277" rIns="73277" bIns="73277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2568"/>
            <a:ext cx="7505700" cy="2450267"/>
          </a:xfrm>
          <a:prstGeom prst="rect">
            <a:avLst/>
          </a:prstGeom>
        </p:spPr>
        <p:txBody>
          <a:bodyPr spcFirstLastPara="1" wrap="square" lIns="73277" tIns="73277" rIns="73277" bIns="73277" anchor="t" anchorCtr="0">
            <a:normAutofit/>
          </a:bodyPr>
          <a:lstStyle>
            <a:lvl1pPr marL="366446" lvl="0" indent="-249387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732892" lvl="1" indent="-239208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099337" lvl="2" indent="-239208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465783" lvl="3" indent="-239208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1832229" lvl="4" indent="-239208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198675" lvl="5" indent="-239208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2565121" lvl="6" indent="-239208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2931566" lvl="7" indent="-239208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3298012" lvl="8" indent="-239208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7876"/>
            <a:ext cx="548700" cy="393964"/>
          </a:xfrm>
          <a:prstGeom prst="rect">
            <a:avLst/>
          </a:prstGeom>
        </p:spPr>
        <p:txBody>
          <a:bodyPr spcFirstLastPara="1" wrap="square" lIns="73277" tIns="73277" rIns="73277" bIns="73277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o">
                <a:solidFill>
                  <a:srgbClr val="233A44"/>
                </a:solidFill>
              </a:rPr>
              <a:pPr/>
              <a:t>‹#›</a:t>
            </a:fld>
            <a:endParaRPr>
              <a:solidFill>
                <a:srgbClr val="233A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2807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2136"/>
            <a:ext cx="5561400" cy="3596127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1" y="2827116"/>
            <a:ext cx="7370400" cy="2321147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03225" y="206441"/>
            <a:ext cx="8737500" cy="4735381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6383"/>
            <a:ext cx="7505700" cy="955484"/>
          </a:xfrm>
          <a:prstGeom prst="rect">
            <a:avLst/>
          </a:prstGeom>
        </p:spPr>
        <p:txBody>
          <a:bodyPr spcFirstLastPara="1" wrap="square" lIns="73277" tIns="73277" rIns="73277" bIns="73277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2568"/>
            <a:ext cx="3686100" cy="2450267"/>
          </a:xfrm>
          <a:prstGeom prst="rect">
            <a:avLst/>
          </a:prstGeom>
        </p:spPr>
        <p:txBody>
          <a:bodyPr spcFirstLastPara="1" wrap="square" lIns="73277" tIns="73277" rIns="73277" bIns="73277" anchor="t" anchorCtr="0">
            <a:normAutofit/>
          </a:bodyPr>
          <a:lstStyle>
            <a:lvl1pPr marL="366446" lvl="0" indent="-249387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732892" lvl="1" indent="-239208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099337" lvl="2" indent="-239208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465783" lvl="3" indent="-239208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1832229" lvl="4" indent="-239208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198675" lvl="5" indent="-239208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2565121" lvl="6" indent="-239208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2931566" lvl="7" indent="-239208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3298012" lvl="8" indent="-239208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2568"/>
            <a:ext cx="3686100" cy="2450267"/>
          </a:xfrm>
          <a:prstGeom prst="rect">
            <a:avLst/>
          </a:prstGeom>
        </p:spPr>
        <p:txBody>
          <a:bodyPr spcFirstLastPara="1" wrap="square" lIns="73277" tIns="73277" rIns="73277" bIns="73277" anchor="t" anchorCtr="0">
            <a:normAutofit/>
          </a:bodyPr>
          <a:lstStyle>
            <a:lvl1pPr marL="366446" lvl="0" indent="-249387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732892" lvl="1" indent="-239208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099337" lvl="2" indent="-239208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465783" lvl="3" indent="-239208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1832229" lvl="4" indent="-239208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198675" lvl="5" indent="-239208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2565121" lvl="6" indent="-239208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2931566" lvl="7" indent="-239208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3298012" lvl="8" indent="-239208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7876"/>
            <a:ext cx="548700" cy="393964"/>
          </a:xfrm>
          <a:prstGeom prst="rect">
            <a:avLst/>
          </a:prstGeom>
        </p:spPr>
        <p:txBody>
          <a:bodyPr spcFirstLastPara="1" wrap="square" lIns="73277" tIns="73277" rIns="73277" bIns="73277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o">
                <a:solidFill>
                  <a:srgbClr val="233A44"/>
                </a:solidFill>
              </a:rPr>
              <a:pPr/>
              <a:t>‹#›</a:t>
            </a:fld>
            <a:endParaRPr>
              <a:solidFill>
                <a:srgbClr val="233A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935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2136"/>
            <a:ext cx="5561400" cy="3596127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31" y="2827116"/>
            <a:ext cx="7370400" cy="2321147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203225" y="206441"/>
            <a:ext cx="8737500" cy="4735381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6383"/>
            <a:ext cx="7505700" cy="955484"/>
          </a:xfrm>
          <a:prstGeom prst="rect">
            <a:avLst/>
          </a:prstGeom>
        </p:spPr>
        <p:txBody>
          <a:bodyPr spcFirstLastPara="1" wrap="square" lIns="73277" tIns="73277" rIns="73277" bIns="73277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7876"/>
            <a:ext cx="548700" cy="393964"/>
          </a:xfrm>
          <a:prstGeom prst="rect">
            <a:avLst/>
          </a:prstGeom>
        </p:spPr>
        <p:txBody>
          <a:bodyPr spcFirstLastPara="1" wrap="square" lIns="73277" tIns="73277" rIns="73277" bIns="73277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o">
                <a:solidFill>
                  <a:srgbClr val="233A44"/>
                </a:solidFill>
              </a:rPr>
              <a:pPr/>
              <a:t>‹#›</a:t>
            </a:fld>
            <a:endParaRPr>
              <a:solidFill>
                <a:srgbClr val="233A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553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2136"/>
            <a:ext cx="5561400" cy="3596127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31" y="2827116"/>
            <a:ext cx="7370400" cy="2321147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203225" y="206441"/>
            <a:ext cx="8737500" cy="4735381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6383"/>
            <a:ext cx="3709200" cy="1384281"/>
          </a:xfrm>
          <a:prstGeom prst="rect">
            <a:avLst/>
          </a:prstGeom>
        </p:spPr>
        <p:txBody>
          <a:bodyPr spcFirstLastPara="1" wrap="square" lIns="73277" tIns="73277" rIns="73277" bIns="73277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21198"/>
            <a:ext cx="3709200" cy="2121763"/>
          </a:xfrm>
          <a:prstGeom prst="rect">
            <a:avLst/>
          </a:prstGeom>
        </p:spPr>
        <p:txBody>
          <a:bodyPr spcFirstLastPara="1" wrap="square" lIns="73277" tIns="73277" rIns="73277" bIns="73277" anchor="t" anchorCtr="0">
            <a:normAutofit/>
          </a:bodyPr>
          <a:lstStyle>
            <a:lvl1pPr marL="366446" lvl="0" indent="-249387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732892" lvl="1" indent="-239208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099337" lvl="2" indent="-239208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465783" lvl="3" indent="-239208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1832229" lvl="4" indent="-239208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198675" lvl="5" indent="-239208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2565121" lvl="6" indent="-239208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2931566" lvl="7" indent="-239208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3298012" lvl="8" indent="-239208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7876"/>
            <a:ext cx="548700" cy="393964"/>
          </a:xfrm>
          <a:prstGeom prst="rect">
            <a:avLst/>
          </a:prstGeom>
        </p:spPr>
        <p:txBody>
          <a:bodyPr spcFirstLastPara="1" wrap="square" lIns="73277" tIns="73277" rIns="73277" bIns="73277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o">
                <a:solidFill>
                  <a:srgbClr val="233A44"/>
                </a:solidFill>
              </a:rPr>
              <a:pPr/>
              <a:t>‹#›</a:t>
            </a:fld>
            <a:endParaRPr>
              <a:solidFill>
                <a:srgbClr val="233A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94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5758"/>
            <a:ext cx="7369200" cy="2319046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5552"/>
            <a:ext cx="5560500" cy="3592824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grpSp>
        <p:nvGrpSpPr>
          <p:cNvPr id="80" name="Google Shape;80;p8"/>
          <p:cNvGrpSpPr/>
          <p:nvPr/>
        </p:nvGrpSpPr>
        <p:grpSpPr>
          <a:xfrm>
            <a:off x="256001" y="-118"/>
            <a:ext cx="2251347" cy="1044374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441"/>
            <a:ext cx="8737500" cy="4735381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5" y="4526314"/>
            <a:ext cx="1593306" cy="617644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63" y="1245"/>
            <a:ext cx="3257455" cy="1262682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2351"/>
            <a:ext cx="6366900" cy="2541551"/>
          </a:xfrm>
          <a:prstGeom prst="rect">
            <a:avLst/>
          </a:prstGeom>
        </p:spPr>
        <p:txBody>
          <a:bodyPr spcFirstLastPara="1" wrap="square" lIns="73277" tIns="73277" rIns="73277" bIns="73277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6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7876"/>
            <a:ext cx="548700" cy="393964"/>
          </a:xfrm>
          <a:prstGeom prst="rect">
            <a:avLst/>
          </a:prstGeom>
        </p:spPr>
        <p:txBody>
          <a:bodyPr spcFirstLastPara="1" wrap="square" lIns="73277" tIns="73277" rIns="73277" bIns="73277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o">
                <a:solidFill>
                  <a:srgbClr val="233A44"/>
                </a:solidFill>
              </a:rPr>
              <a:pPr/>
              <a:t>‹#›</a:t>
            </a:fld>
            <a:endParaRPr>
              <a:solidFill>
                <a:srgbClr val="233A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066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2136"/>
            <a:ext cx="5561400" cy="3596127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31" y="2827116"/>
            <a:ext cx="7370400" cy="2321147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203225" y="206441"/>
            <a:ext cx="8737500" cy="4735381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6383"/>
            <a:ext cx="6424200" cy="705653"/>
          </a:xfrm>
          <a:prstGeom prst="rect">
            <a:avLst/>
          </a:prstGeom>
        </p:spPr>
        <p:txBody>
          <a:bodyPr spcFirstLastPara="1" wrap="square" lIns="73277" tIns="73277" rIns="73277" bIns="73277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2136"/>
            <a:ext cx="5859900" cy="393964"/>
          </a:xfrm>
          <a:prstGeom prst="rect">
            <a:avLst/>
          </a:prstGeom>
        </p:spPr>
        <p:txBody>
          <a:bodyPr spcFirstLastPara="1" wrap="square" lIns="73277" tIns="73277" rIns="73277" bIns="73277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3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3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3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3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3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3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3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3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9335"/>
            <a:ext cx="5859900" cy="2097440"/>
          </a:xfrm>
          <a:prstGeom prst="rect">
            <a:avLst/>
          </a:prstGeom>
        </p:spPr>
        <p:txBody>
          <a:bodyPr spcFirstLastPara="1" wrap="square" lIns="73277" tIns="73277" rIns="73277" bIns="73277" anchor="t" anchorCtr="0">
            <a:normAutofit/>
          </a:bodyPr>
          <a:lstStyle>
            <a:lvl1pPr marL="366446" lvl="0" indent="-249387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732892" lvl="1" indent="-239208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099337" lvl="2" indent="-239208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465783" lvl="3" indent="-239208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1832229" lvl="4" indent="-239208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198675" lvl="5" indent="-239208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2565121" lvl="6" indent="-239208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2931566" lvl="7" indent="-239208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3298012" lvl="8" indent="-239208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7876"/>
            <a:ext cx="548700" cy="393964"/>
          </a:xfrm>
          <a:prstGeom prst="rect">
            <a:avLst/>
          </a:prstGeom>
        </p:spPr>
        <p:txBody>
          <a:bodyPr spcFirstLastPara="1" wrap="square" lIns="73277" tIns="73277" rIns="73277" bIns="73277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o">
                <a:solidFill>
                  <a:srgbClr val="233A44"/>
                </a:solidFill>
              </a:rPr>
              <a:pPr/>
              <a:t>‹#›</a:t>
            </a:fld>
            <a:endParaRPr>
              <a:solidFill>
                <a:srgbClr val="233A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64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7116"/>
            <a:ext cx="7370400" cy="2321147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2136"/>
            <a:ext cx="5561400" cy="3596127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203225" y="206441"/>
            <a:ext cx="8737500" cy="4735381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7355"/>
            <a:ext cx="7415100" cy="605660"/>
          </a:xfrm>
          <a:prstGeom prst="rect">
            <a:avLst/>
          </a:prstGeom>
        </p:spPr>
        <p:txBody>
          <a:bodyPr spcFirstLastPara="1" wrap="square" lIns="73277" tIns="73277" rIns="73277" bIns="73277" anchor="b" anchorCtr="0">
            <a:normAutofit/>
          </a:bodyPr>
          <a:lstStyle>
            <a:lvl1pPr marL="366446" lvl="0" indent="-18322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7876"/>
            <a:ext cx="548700" cy="393964"/>
          </a:xfrm>
          <a:prstGeom prst="rect">
            <a:avLst/>
          </a:prstGeom>
        </p:spPr>
        <p:txBody>
          <a:bodyPr spcFirstLastPara="1" wrap="square" lIns="73277" tIns="73277" rIns="73277" bIns="73277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o">
                <a:solidFill>
                  <a:srgbClr val="233A44"/>
                </a:solidFill>
              </a:rPr>
              <a:pPr/>
              <a:t>‹#›</a:t>
            </a:fld>
            <a:endParaRPr>
              <a:solidFill>
                <a:srgbClr val="233A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559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6699"/>
            <a:ext cx="3574800" cy="2311539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73277" tIns="73277" rIns="73277" bIns="73277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1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23397"/>
            <a:ext cx="2520952" cy="1025113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50" y="5"/>
            <a:ext cx="2795414" cy="1084311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100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5131"/>
            <a:ext cx="6372300" cy="1380978"/>
          </a:xfrm>
          <a:prstGeom prst="rect">
            <a:avLst/>
          </a:prstGeom>
        </p:spPr>
        <p:txBody>
          <a:bodyPr spcFirstLastPara="1" wrap="square" lIns="73277" tIns="73277" rIns="73277" bIns="73277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69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69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69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69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69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69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69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69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69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6502"/>
            <a:ext cx="6372300" cy="641694"/>
          </a:xfrm>
          <a:prstGeom prst="rect">
            <a:avLst/>
          </a:prstGeom>
        </p:spPr>
        <p:txBody>
          <a:bodyPr spcFirstLastPara="1" wrap="square" lIns="73277" tIns="73277" rIns="73277" bIns="73277" anchor="t" anchorCtr="0">
            <a:normAutofit/>
          </a:bodyPr>
          <a:lstStyle>
            <a:lvl1pPr marL="366446" lvl="0" indent="-249387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732892" lvl="1" indent="-239208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099337" lvl="2" indent="-239208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465783" lvl="3" indent="-239208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1832229" lvl="4" indent="-239208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198675" lvl="5" indent="-239208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2565121" lvl="6" indent="-239208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2931566" lvl="7" indent="-239208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3298012" lvl="8" indent="-239208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7876"/>
            <a:ext cx="548700" cy="393964"/>
          </a:xfrm>
          <a:prstGeom prst="rect">
            <a:avLst/>
          </a:prstGeom>
        </p:spPr>
        <p:txBody>
          <a:bodyPr spcFirstLastPara="1" wrap="square" lIns="73277" tIns="73277" rIns="73277" bIns="73277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o">
                <a:solidFill>
                  <a:srgbClr val="233A44"/>
                </a:solidFill>
              </a:rPr>
              <a:pPr/>
              <a:t>‹#›</a:t>
            </a:fld>
            <a:endParaRPr>
              <a:solidFill>
                <a:srgbClr val="233A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10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7876"/>
            <a:ext cx="548700" cy="393964"/>
          </a:xfrm>
          <a:prstGeom prst="rect">
            <a:avLst/>
          </a:prstGeom>
        </p:spPr>
        <p:txBody>
          <a:bodyPr spcFirstLastPara="1" wrap="square" lIns="73277" tIns="73277" rIns="73277" bIns="73277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o">
                <a:solidFill>
                  <a:srgbClr val="233A44"/>
                </a:solidFill>
              </a:rPr>
              <a:pPr/>
              <a:t>‹#›</a:t>
            </a:fld>
            <a:endParaRPr>
              <a:solidFill>
                <a:srgbClr val="233A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20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438"/>
            <a:ext cx="8520600" cy="57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277" tIns="73277" rIns="73277" bIns="73277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3542"/>
            <a:ext cx="8520600" cy="3394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277" tIns="73277" rIns="73277" bIns="73277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7876"/>
            <a:ext cx="548700" cy="393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277" tIns="73277" rIns="73277" bIns="73277" anchor="ctr" anchorCtr="0">
            <a:normAutofit/>
          </a:bodyPr>
          <a:lstStyle>
            <a:lvl1pPr lvl="0" algn="r">
              <a:buNone/>
              <a:defRPr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o" kern="0">
                <a:solidFill>
                  <a:srgbClr val="233A44"/>
                </a:solidFill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>
              <a:solidFill>
                <a:srgbClr val="233A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17981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1Kl7ehxihb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1280700" y="1548133"/>
            <a:ext cx="6582600" cy="1449441"/>
          </a:xfrm>
          <a:prstGeom prst="rect">
            <a:avLst/>
          </a:prstGeom>
        </p:spPr>
        <p:txBody>
          <a:bodyPr spcFirstLastPara="1" wrap="square" lIns="73277" tIns="73277" rIns="73277" bIns="73277" anchor="ctr" anchorCtr="0">
            <a:normAutofit fontScale="90000"/>
          </a:bodyPr>
          <a:lstStyle/>
          <a:p>
            <a:pPr>
              <a:lnSpc>
                <a:spcPct val="115000"/>
              </a:lnSpc>
            </a:pPr>
            <a:r>
              <a:rPr lang="ro" sz="1400" b="1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PROIECT</a:t>
            </a:r>
            <a:endParaRPr sz="1400" b="1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>
              <a:lnSpc>
                <a:spcPct val="115000"/>
              </a:lnSpc>
            </a:pPr>
            <a:r>
              <a:rPr lang="ro" sz="1300" b="1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~ Testarea Sistemelor Software ~</a:t>
            </a:r>
            <a:endParaRPr sz="1300" b="1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>
              <a:lnSpc>
                <a:spcPct val="115000"/>
              </a:lnSpc>
            </a:pPr>
            <a:endParaRPr sz="13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179">
              <a:lnSpc>
                <a:spcPct val="115000"/>
              </a:lnSpc>
              <a:spcAft>
                <a:spcPts val="321"/>
              </a:spcAft>
            </a:pPr>
            <a:r>
              <a:rPr lang="ro" sz="17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T1 – </a:t>
            </a:r>
            <a:r>
              <a:rPr lang="vi-VN" sz="1900" b="1" dirty="0">
                <a:solidFill>
                  <a:schemeClr val="bg2">
                    <a:lumMod val="50000"/>
                  </a:schemeClr>
                </a:solidFill>
              </a:rPr>
              <a:t>Testare unitară în </a:t>
            </a:r>
            <a:r>
              <a:rPr lang="vi-VN" sz="1900" b="1" dirty="0" smtClean="0">
                <a:solidFill>
                  <a:schemeClr val="bg2">
                    <a:lumMod val="50000"/>
                  </a:schemeClr>
                </a:solidFill>
              </a:rPr>
              <a:t>Python</a:t>
            </a:r>
            <a:r>
              <a:rPr lang="ro-RO" sz="1900" b="1" dirty="0" smtClean="0">
                <a:solidFill>
                  <a:schemeClr val="bg2">
                    <a:lumMod val="50000"/>
                  </a:schemeClr>
                </a:solidFill>
              </a:rPr>
              <a:t/>
            </a:r>
            <a:br>
              <a:rPr lang="ro-RO" sz="1900" b="1" dirty="0" smtClean="0">
                <a:solidFill>
                  <a:schemeClr val="bg2">
                    <a:lumMod val="50000"/>
                  </a:schemeClr>
                </a:solidFill>
              </a:rPr>
            </a:br>
            <a:r>
              <a:rPr lang="ro-RO" sz="1900" b="1" dirty="0" smtClean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Fitness Class Booking</a:t>
            </a:r>
            <a:endParaRPr sz="3200" dirty="0">
              <a:solidFill>
                <a:schemeClr val="bg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3596975" y="3199085"/>
            <a:ext cx="4477200" cy="523084"/>
          </a:xfrm>
          <a:prstGeom prst="rect">
            <a:avLst/>
          </a:prstGeom>
        </p:spPr>
        <p:txBody>
          <a:bodyPr spcFirstLastPara="1" wrap="square" lIns="73277" tIns="73277" rIns="73277" bIns="73277" anchor="t" anchorCtr="0">
            <a:noAutofit/>
          </a:bodyPr>
          <a:lstStyle/>
          <a:p>
            <a:pPr marL="0" indent="0">
              <a:lnSpc>
                <a:spcPct val="95000"/>
              </a:lnSpc>
              <a:buSzPts val="935"/>
            </a:pPr>
            <a:r>
              <a:rPr lang="ro" sz="1000" dirty="0">
                <a:solidFill>
                  <a:srgbClr val="000000"/>
                </a:solidFill>
                <a:latin typeface="Nunito"/>
                <a:ea typeface="Arial"/>
                <a:cs typeface="Arial"/>
                <a:sym typeface="Arial"/>
              </a:rPr>
              <a:t> Proiect realizat de: Mihăilă Denisa, Grupa 352</a:t>
            </a:r>
            <a:endParaRPr sz="1000" dirty="0">
              <a:solidFill>
                <a:srgbClr val="000000"/>
              </a:solidFill>
              <a:latin typeface="Nunito"/>
              <a:ea typeface="Arial"/>
              <a:cs typeface="Arial"/>
              <a:sym typeface="Arial"/>
            </a:endParaRPr>
          </a:p>
          <a:p>
            <a:pPr marL="0" indent="0">
              <a:lnSpc>
                <a:spcPct val="95000"/>
              </a:lnSpc>
              <a:buSzPts val="935"/>
            </a:pPr>
            <a:r>
              <a:rPr lang="ro" sz="1000" dirty="0">
                <a:solidFill>
                  <a:srgbClr val="000000"/>
                </a:solidFill>
                <a:latin typeface="Nunito"/>
                <a:ea typeface="Arial"/>
                <a:cs typeface="Arial"/>
                <a:sym typeface="Arial"/>
              </a:rPr>
              <a:t>                                         Nițe Dan-Alexandru, Grupa 344</a:t>
            </a:r>
            <a:endParaRPr dirty="0">
              <a:latin typeface="Nunito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3072000" y="328629"/>
            <a:ext cx="3000000" cy="62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277" tIns="73277" rIns="73277" bIns="73277" anchor="t" anchorCtr="0">
            <a:sp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Font typeface="Arial"/>
              <a:buNone/>
            </a:pPr>
            <a:r>
              <a:rPr lang="ro" sz="900" kern="0" dirty="0" smtClean="0">
                <a:solidFill>
                  <a:srgbClr val="999999"/>
                </a:solidFill>
                <a:latin typeface="Nunito"/>
                <a:cs typeface="Arial"/>
                <a:sym typeface="Arial"/>
              </a:rPr>
              <a:t>Universitatea din București</a:t>
            </a:r>
            <a:br>
              <a:rPr lang="ro" sz="900" kern="0" dirty="0" smtClean="0">
                <a:solidFill>
                  <a:srgbClr val="999999"/>
                </a:solidFill>
                <a:latin typeface="Nunito"/>
                <a:cs typeface="Arial"/>
                <a:sym typeface="Arial"/>
              </a:rPr>
            </a:br>
            <a:r>
              <a:rPr lang="ro" sz="900" kern="0" dirty="0" smtClean="0">
                <a:solidFill>
                  <a:srgbClr val="999999"/>
                </a:solidFill>
                <a:latin typeface="Nunito"/>
                <a:cs typeface="Arial"/>
                <a:sym typeface="Arial"/>
              </a:rPr>
              <a:t>Facultatea de Matematică și Informatică</a:t>
            </a:r>
            <a:br>
              <a:rPr lang="ro" sz="900" kern="0" dirty="0" smtClean="0">
                <a:solidFill>
                  <a:srgbClr val="999999"/>
                </a:solidFill>
                <a:latin typeface="Nunito"/>
                <a:cs typeface="Arial"/>
                <a:sym typeface="Arial"/>
              </a:rPr>
            </a:br>
            <a:r>
              <a:rPr lang="ro" sz="900" kern="0" dirty="0" smtClean="0">
                <a:solidFill>
                  <a:srgbClr val="999999"/>
                </a:solidFill>
                <a:latin typeface="Nunito"/>
                <a:cs typeface="Arial"/>
                <a:sym typeface="Arial"/>
              </a:rPr>
              <a:t>Anul Universitar 2025-2026</a:t>
            </a:r>
            <a:endParaRPr sz="900" kern="0" dirty="0">
              <a:solidFill>
                <a:srgbClr val="999999"/>
              </a:solidFill>
              <a:latin typeface="Nunito"/>
              <a:cs typeface="Arial"/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436912" y="4555331"/>
            <a:ext cx="227017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800" i="1" dirty="0" err="1">
                <a:solidFill>
                  <a:schemeClr val="tx1">
                    <a:lumMod val="65000"/>
                  </a:schemeClr>
                </a:solidFill>
                <a:latin typeface="Nunito"/>
              </a:rPr>
              <a:t>Videoclip</a:t>
            </a:r>
            <a:r>
              <a:rPr lang="en-US" sz="800" i="1" dirty="0">
                <a:solidFill>
                  <a:schemeClr val="tx1">
                    <a:lumMod val="65000"/>
                  </a:schemeClr>
                </a:solidFill>
                <a:latin typeface="Nunito"/>
              </a:rPr>
              <a:t> </a:t>
            </a:r>
            <a:r>
              <a:rPr lang="en-US" sz="800" i="1" dirty="0" err="1">
                <a:solidFill>
                  <a:schemeClr val="tx1">
                    <a:lumMod val="65000"/>
                  </a:schemeClr>
                </a:solidFill>
                <a:latin typeface="Nunito"/>
              </a:rPr>
              <a:t>rulare</a:t>
            </a:r>
            <a:r>
              <a:rPr lang="en-US" sz="800" i="1" dirty="0">
                <a:solidFill>
                  <a:schemeClr val="tx1">
                    <a:lumMod val="65000"/>
                  </a:schemeClr>
                </a:solidFill>
                <a:latin typeface="Nunito"/>
              </a:rPr>
              <a:t>: </a:t>
            </a:r>
            <a:r>
              <a:rPr lang="en-US" sz="800" i="1" dirty="0">
                <a:solidFill>
                  <a:schemeClr val="tx1">
                    <a:lumMod val="65000"/>
                  </a:schemeClr>
                </a:solidFill>
                <a:latin typeface="Nunito"/>
                <a:hlinkClick r:id="rId3"/>
              </a:rPr>
              <a:t>https://youtu.be/1Kl7ehxihbY</a:t>
            </a:r>
            <a:endParaRPr lang="en-US" sz="800" i="1" dirty="0">
              <a:solidFill>
                <a:schemeClr val="tx1">
                  <a:lumMod val="65000"/>
                </a:schemeClr>
              </a:solidFill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434954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6732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AF7B5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Nunito"/>
              </a:rPr>
              <a:t>Clasa FitnessClassBooking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26331"/>
            <a:ext cx="4343400" cy="2590800"/>
          </a:xfrm>
          <a:prstGeom prst="rect">
            <a:avLst/>
          </a:prstGeom>
          <a:solidFill>
            <a:srgbClr val="F0F4F4"/>
          </a:solidFill>
          <a:ln w="127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AF7B5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" y="1126331"/>
            <a:ext cx="71169" cy="25908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AF7B5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1172051"/>
            <a:ext cx="8321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dirty="0">
                <a:solidFill>
                  <a:srgbClr val="233A44"/>
                </a:solidFill>
                <a:latin typeface="Nunito"/>
              </a:rPr>
              <a:t>__</a:t>
            </a:r>
            <a:r>
              <a:rPr sz="1050" b="1" dirty="0" err="1">
                <a:solidFill>
                  <a:srgbClr val="233A44"/>
                </a:solidFill>
                <a:latin typeface="Nunito"/>
              </a:rPr>
              <a:t>init</a:t>
            </a:r>
            <a:r>
              <a:rPr sz="1050" b="1" dirty="0">
                <a:solidFill>
                  <a:srgbClr val="233A44"/>
                </a:solidFill>
                <a:latin typeface="Nunito"/>
              </a:rPr>
              <a:t>__(</a:t>
            </a:r>
            <a:r>
              <a:rPr sz="1050" b="1" dirty="0" err="1">
                <a:solidFill>
                  <a:srgbClr val="233A44"/>
                </a:solidFill>
                <a:latin typeface="Nunito"/>
              </a:rPr>
              <a:t>class_name</a:t>
            </a:r>
            <a:r>
              <a:rPr sz="1050" b="1" dirty="0">
                <a:solidFill>
                  <a:srgbClr val="233A44"/>
                </a:solidFill>
                <a:latin typeface="Nunito"/>
              </a:rPr>
              <a:t>, instructor, </a:t>
            </a:r>
            <a:r>
              <a:rPr sz="1050" b="1" dirty="0" err="1">
                <a:solidFill>
                  <a:srgbClr val="233A44"/>
                </a:solidFill>
                <a:latin typeface="Nunito"/>
              </a:rPr>
              <a:t>max_spots</a:t>
            </a:r>
            <a:r>
              <a:rPr sz="1050" b="1" dirty="0">
                <a:solidFill>
                  <a:srgbClr val="233A44"/>
                </a:solidFill>
                <a:latin typeface="Nunito"/>
              </a:rPr>
              <a:t>, </a:t>
            </a:r>
            <a:r>
              <a:rPr sz="1050" b="1" dirty="0" err="1">
                <a:solidFill>
                  <a:srgbClr val="233A44"/>
                </a:solidFill>
                <a:latin typeface="Nunito"/>
              </a:rPr>
              <a:t>price_per_session</a:t>
            </a:r>
            <a:r>
              <a:rPr sz="1050" b="1" dirty="0">
                <a:solidFill>
                  <a:srgbClr val="233A44"/>
                </a:solidFill>
                <a:latin typeface="Nunito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4694" y="1507331"/>
            <a:ext cx="41984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dirty="0" err="1" smtClean="0">
                <a:solidFill>
                  <a:srgbClr val="233A44"/>
                </a:solidFill>
                <a:latin typeface="Nunito"/>
              </a:rPr>
              <a:t>Validează</a:t>
            </a:r>
            <a:r>
              <a:rPr lang="ro-RO" sz="900" dirty="0" smtClean="0">
                <a:solidFill>
                  <a:srgbClr val="233A44"/>
                </a:solidFill>
                <a:latin typeface="Nunito"/>
              </a:rPr>
              <a:t> parametrii primiți</a:t>
            </a:r>
            <a:r>
              <a:rPr sz="900" dirty="0" smtClean="0">
                <a:solidFill>
                  <a:srgbClr val="233A44"/>
                </a:solidFill>
                <a:latin typeface="Nunito"/>
              </a:rPr>
              <a:t> </a:t>
            </a:r>
            <a:r>
              <a:rPr sz="900" dirty="0" err="1" smtClean="0">
                <a:solidFill>
                  <a:srgbClr val="233A44"/>
                </a:solidFill>
                <a:latin typeface="Nunito"/>
              </a:rPr>
              <a:t>și</a:t>
            </a:r>
            <a:r>
              <a:rPr lang="ro-RO" sz="900" dirty="0" smtClean="0">
                <a:solidFill>
                  <a:srgbClr val="233A44"/>
                </a:solidFill>
                <a:latin typeface="Nunito"/>
              </a:rPr>
              <a:t> apoi</a:t>
            </a:r>
            <a:r>
              <a:rPr sz="900" dirty="0" smtClean="0">
                <a:solidFill>
                  <a:srgbClr val="233A44"/>
                </a:solidFill>
                <a:latin typeface="Nunito"/>
              </a:rPr>
              <a:t> </a:t>
            </a:r>
            <a:r>
              <a:rPr sz="900" dirty="0" err="1">
                <a:solidFill>
                  <a:srgbClr val="233A44"/>
                </a:solidFill>
                <a:latin typeface="Nunito"/>
              </a:rPr>
              <a:t>inițializează</a:t>
            </a:r>
            <a:r>
              <a:rPr sz="900" dirty="0">
                <a:solidFill>
                  <a:srgbClr val="233A44"/>
                </a:solidFill>
                <a:latin typeface="Nunito"/>
              </a:rPr>
              <a:t> </a:t>
            </a:r>
            <a:r>
              <a:rPr sz="900" dirty="0" err="1">
                <a:solidFill>
                  <a:srgbClr val="233A44"/>
                </a:solidFill>
                <a:latin typeface="Nunito"/>
              </a:rPr>
              <a:t>obiectul</a:t>
            </a:r>
            <a:r>
              <a:rPr sz="900" dirty="0">
                <a:solidFill>
                  <a:srgbClr val="233A44"/>
                </a:solidFill>
                <a:latin typeface="Nunito"/>
              </a:rPr>
              <a:t>. </a:t>
            </a:r>
            <a:endParaRPr lang="ro-RO" sz="900" dirty="0" smtClean="0">
              <a:solidFill>
                <a:srgbClr val="233A44"/>
              </a:solidFill>
              <a:latin typeface="Nunito"/>
            </a:endParaRPr>
          </a:p>
          <a:p>
            <a:endParaRPr lang="ro-RO" sz="800" dirty="0" smtClean="0">
              <a:solidFill>
                <a:srgbClr val="233A44"/>
              </a:solidFill>
              <a:latin typeface="Nunito"/>
            </a:endParaRPr>
          </a:p>
          <a:p>
            <a:r>
              <a:rPr lang="vi-VN" sz="800" b="1" dirty="0" smtClean="0">
                <a:solidFill>
                  <a:srgbClr val="233A44"/>
                </a:solidFill>
                <a:latin typeface="Nunito"/>
              </a:rPr>
              <a:t>class_name</a:t>
            </a:r>
            <a:endParaRPr lang="vi-VN" sz="800" b="1" dirty="0">
              <a:solidFill>
                <a:srgbClr val="233A44"/>
              </a:solidFill>
              <a:latin typeface="Nunito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una </a:t>
            </a:r>
            <a:r>
              <a:rPr lang="vi-VN" sz="800" dirty="0">
                <a:solidFill>
                  <a:srgbClr val="233A44"/>
                </a:solidFill>
                <a:latin typeface="Nunito"/>
              </a:rPr>
              <a:t>dintre clasele valide: "dance", "pilates", "yoga", "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zumba</a:t>
            </a:r>
            <a:r>
              <a:rPr lang="ro-RO" sz="800" dirty="0" smtClean="0">
                <a:solidFill>
                  <a:srgbClr val="233A44"/>
                </a:solidFill>
                <a:latin typeface="Nunito"/>
              </a:rPr>
              <a:t>”, altfel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 </a:t>
            </a:r>
            <a:r>
              <a:rPr lang="vi-VN" sz="800" dirty="0">
                <a:solidFill>
                  <a:srgbClr val="233A44"/>
                </a:solidFill>
                <a:latin typeface="Nunito"/>
              </a:rPr>
              <a:t>se 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aruncă</a:t>
            </a:r>
            <a:r>
              <a:rPr lang="ro-RO" sz="800" dirty="0" smtClean="0">
                <a:solidFill>
                  <a:srgbClr val="233A44"/>
                </a:solidFill>
                <a:latin typeface="Nunito"/>
              </a:rPr>
              <a:t> 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ValueError</a:t>
            </a:r>
            <a:endParaRPr lang="vi-VN" sz="800" dirty="0">
              <a:solidFill>
                <a:srgbClr val="233A44"/>
              </a:solidFill>
              <a:latin typeface="Nunito"/>
            </a:endParaRPr>
          </a:p>
          <a:p>
            <a:endParaRPr lang="ro-RO" sz="800" dirty="0" smtClean="0">
              <a:solidFill>
                <a:srgbClr val="233A44"/>
              </a:solidFill>
              <a:latin typeface="Nunito"/>
            </a:endParaRPr>
          </a:p>
          <a:p>
            <a:r>
              <a:rPr lang="vi-VN" sz="800" b="1" dirty="0" smtClean="0">
                <a:solidFill>
                  <a:srgbClr val="233A44"/>
                </a:solidFill>
                <a:latin typeface="Nunito"/>
              </a:rPr>
              <a:t>instructor</a:t>
            </a:r>
            <a:endParaRPr lang="vi-VN" sz="800" b="1" dirty="0">
              <a:solidFill>
                <a:srgbClr val="233A44"/>
              </a:solidFill>
              <a:latin typeface="Nunito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de </a:t>
            </a:r>
            <a:r>
              <a:rPr lang="vi-VN" sz="800" dirty="0">
                <a:solidFill>
                  <a:srgbClr val="233A44"/>
                </a:solidFill>
                <a:latin typeface="Nunito"/>
              </a:rPr>
              <a:t>tip 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str</a:t>
            </a:r>
            <a:r>
              <a:rPr lang="ro-RO" sz="800" dirty="0" smtClean="0">
                <a:solidFill>
                  <a:srgbClr val="233A44"/>
                </a:solidFill>
                <a:latin typeface="Nunito"/>
              </a:rPr>
              <a:t>, 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nu </a:t>
            </a:r>
            <a:r>
              <a:rPr lang="vi-VN" sz="800" dirty="0">
                <a:solidFill>
                  <a:srgbClr val="233A44"/>
                </a:solidFill>
                <a:latin typeface="Nunito"/>
              </a:rPr>
              <a:t>poate fi șir 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gol </a:t>
            </a:r>
            <a:r>
              <a:rPr lang="ro-RO" sz="800" dirty="0">
                <a:solidFill>
                  <a:srgbClr val="233A44"/>
                </a:solidFill>
                <a:latin typeface="Nunito"/>
              </a:rPr>
              <a:t>”</a:t>
            </a:r>
            <a:r>
              <a:rPr lang="ro-RO" sz="800" dirty="0" smtClean="0">
                <a:solidFill>
                  <a:srgbClr val="233A44"/>
                </a:solidFill>
                <a:latin typeface="Nunito"/>
              </a:rPr>
              <a:t>” și 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nu </a:t>
            </a:r>
            <a:r>
              <a:rPr lang="vi-VN" sz="800" dirty="0">
                <a:solidFill>
                  <a:srgbClr val="233A44"/>
                </a:solidFill>
                <a:latin typeface="Nunito"/>
              </a:rPr>
              <a:t>poate conține doar 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spații </a:t>
            </a:r>
            <a:r>
              <a:rPr lang="vi-VN" sz="800" dirty="0">
                <a:solidFill>
                  <a:srgbClr val="233A44"/>
                </a:solidFill>
                <a:latin typeface="Nunito"/>
              </a:rPr>
              <a:t>" "</a:t>
            </a:r>
          </a:p>
          <a:p>
            <a:r>
              <a:rPr lang="vi-VN" sz="800" dirty="0" smtClean="0">
                <a:solidFill>
                  <a:srgbClr val="233A44"/>
                </a:solidFill>
                <a:latin typeface="Nunito"/>
              </a:rPr>
              <a:t>verificare </a:t>
            </a:r>
            <a:r>
              <a:rPr lang="vi-VN" sz="800" dirty="0">
                <a:solidFill>
                  <a:srgbClr val="233A44"/>
                </a:solidFill>
                <a:latin typeface="Nunito"/>
              </a:rPr>
              <a:t>cu strip() </a:t>
            </a:r>
            <a:r>
              <a:rPr lang="ro-RO" sz="800" dirty="0" smtClean="0">
                <a:solidFill>
                  <a:srgbClr val="233A44"/>
                </a:solidFill>
                <a:latin typeface="Nunito"/>
              </a:rPr>
              <a:t>pentru 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elimin</a:t>
            </a:r>
            <a:r>
              <a:rPr lang="ro-RO" sz="800" dirty="0" smtClean="0">
                <a:solidFill>
                  <a:srgbClr val="233A44"/>
                </a:solidFill>
                <a:latin typeface="Nunito"/>
              </a:rPr>
              <a:t>area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 spațiil</a:t>
            </a:r>
            <a:r>
              <a:rPr lang="ro-RO" sz="800" dirty="0" smtClean="0">
                <a:solidFill>
                  <a:srgbClr val="233A44"/>
                </a:solidFill>
                <a:latin typeface="Nunito"/>
              </a:rPr>
              <a:t>or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 </a:t>
            </a:r>
            <a:r>
              <a:rPr lang="vi-VN" sz="800" dirty="0">
                <a:solidFill>
                  <a:srgbClr val="233A44"/>
                </a:solidFill>
                <a:latin typeface="Nunito"/>
              </a:rPr>
              <a:t>de la început și final</a:t>
            </a:r>
          </a:p>
          <a:p>
            <a:endParaRPr lang="ro-RO" sz="800" dirty="0" smtClean="0">
              <a:solidFill>
                <a:srgbClr val="233A44"/>
              </a:solidFill>
              <a:latin typeface="Nunito"/>
            </a:endParaRPr>
          </a:p>
          <a:p>
            <a:r>
              <a:rPr lang="vi-VN" sz="800" b="1" dirty="0" smtClean="0">
                <a:solidFill>
                  <a:srgbClr val="233A44"/>
                </a:solidFill>
                <a:latin typeface="Nunito"/>
              </a:rPr>
              <a:t>max_spots</a:t>
            </a:r>
            <a:endParaRPr lang="vi-VN" sz="800" b="1" dirty="0">
              <a:solidFill>
                <a:srgbClr val="233A44"/>
              </a:solidFill>
              <a:latin typeface="Nunito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ro-RO" sz="800" dirty="0">
                <a:solidFill>
                  <a:srgbClr val="233A44"/>
                </a:solidFill>
                <a:latin typeface="Nunito"/>
              </a:rPr>
              <a:t>d</a:t>
            </a:r>
            <a:r>
              <a:rPr lang="ro-RO" sz="800" dirty="0" smtClean="0">
                <a:solidFill>
                  <a:srgbClr val="233A44"/>
                </a:solidFill>
                <a:latin typeface="Nunito"/>
              </a:rPr>
              <a:t>e tip 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int</a:t>
            </a:r>
            <a:r>
              <a:rPr lang="ro-RO" sz="800" dirty="0" smtClean="0">
                <a:solidFill>
                  <a:srgbClr val="233A44"/>
                </a:solidFill>
                <a:latin typeface="Nunito"/>
              </a:rPr>
              <a:t> 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în </a:t>
            </a:r>
            <a:r>
              <a:rPr lang="vi-VN" sz="800" dirty="0">
                <a:solidFill>
                  <a:srgbClr val="233A44"/>
                </a:solidFill>
                <a:latin typeface="Nunito"/>
              </a:rPr>
              <a:t>intervalul [1, 30]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vi-VN" sz="800" dirty="0">
                <a:solidFill>
                  <a:srgbClr val="233A44"/>
                </a:solidFill>
                <a:latin typeface="Nunito"/>
              </a:rPr>
              <a:t>valorile True și False sunt respinse 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explicit</a:t>
            </a:r>
            <a:r>
              <a:rPr lang="ro-RO" sz="800" dirty="0" smtClean="0">
                <a:solidFill>
                  <a:srgbClr val="233A44"/>
                </a:solidFill>
                <a:latin typeface="Nunito"/>
              </a:rPr>
              <a:t> 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prin </a:t>
            </a:r>
            <a:r>
              <a:rPr lang="vi-VN" sz="800" dirty="0">
                <a:solidFill>
                  <a:srgbClr val="233A44"/>
                </a:solidFill>
                <a:latin typeface="Nunito"/>
              </a:rPr>
              <a:t>isinstance(max_spots, bool), deoarece în Python bool este subclasă de int</a:t>
            </a:r>
          </a:p>
          <a:p>
            <a:endParaRPr lang="ro-RO" sz="800" dirty="0" smtClean="0">
              <a:solidFill>
                <a:srgbClr val="233A44"/>
              </a:solidFill>
              <a:latin typeface="Nunito"/>
            </a:endParaRPr>
          </a:p>
          <a:p>
            <a:r>
              <a:rPr lang="vi-VN" sz="800" b="1" dirty="0" smtClean="0">
                <a:solidFill>
                  <a:srgbClr val="233A44"/>
                </a:solidFill>
                <a:latin typeface="Nunito"/>
              </a:rPr>
              <a:t>price_per_session</a:t>
            </a:r>
            <a:endParaRPr lang="vi-VN" sz="800" b="1" dirty="0">
              <a:solidFill>
                <a:srgbClr val="233A44"/>
              </a:solidFill>
              <a:latin typeface="Nunito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ro-RO" sz="800" dirty="0">
                <a:solidFill>
                  <a:srgbClr val="233A44"/>
                </a:solidFill>
                <a:latin typeface="Nunito"/>
              </a:rPr>
              <a:t>n</a:t>
            </a:r>
            <a:r>
              <a:rPr lang="ro-RO" sz="800" dirty="0" smtClean="0">
                <a:solidFill>
                  <a:srgbClr val="233A44"/>
                </a:solidFill>
                <a:latin typeface="Nunito"/>
              </a:rPr>
              <a:t>umăr de tip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 </a:t>
            </a:r>
            <a:r>
              <a:rPr lang="vi-VN" sz="800" dirty="0">
                <a:solidFill>
                  <a:srgbClr val="233A44"/>
                </a:solidFill>
                <a:latin typeface="Nunito"/>
              </a:rPr>
              <a:t>int sau 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float</a:t>
            </a:r>
            <a:r>
              <a:rPr lang="ro-RO" sz="800" dirty="0" smtClean="0">
                <a:solidFill>
                  <a:srgbClr val="233A44"/>
                </a:solidFill>
                <a:latin typeface="Nunito"/>
              </a:rPr>
              <a:t>, 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strict </a:t>
            </a:r>
            <a:r>
              <a:rPr lang="vi-VN" sz="800" dirty="0">
                <a:solidFill>
                  <a:srgbClr val="233A44"/>
                </a:solidFill>
                <a:latin typeface="Nunito"/>
              </a:rPr>
              <a:t>mai mare decât 0</a:t>
            </a:r>
            <a:endParaRPr lang="ro-RO" sz="800" dirty="0" smtClean="0">
              <a:solidFill>
                <a:srgbClr val="233A44"/>
              </a:solidFill>
              <a:latin typeface="Nunito"/>
            </a:endParaRPr>
          </a:p>
          <a:p>
            <a:endParaRPr sz="80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0" y="1126331"/>
            <a:ext cx="4343400" cy="2590800"/>
          </a:xfrm>
          <a:prstGeom prst="rect">
            <a:avLst/>
          </a:prstGeom>
          <a:solidFill>
            <a:srgbClr val="F0F4F4"/>
          </a:solidFill>
          <a:ln w="12700">
            <a:solidFill>
              <a:srgbClr val="D95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AF7B5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0" y="1126331"/>
            <a:ext cx="82296" cy="2590800"/>
          </a:xfrm>
          <a:prstGeom prst="rect">
            <a:avLst/>
          </a:prstGeom>
          <a:solidFill>
            <a:srgbClr val="D95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AF7B5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09160" y="1172051"/>
            <a:ext cx="8321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dirty="0" err="1">
                <a:solidFill>
                  <a:srgbClr val="233A44"/>
                </a:solidFill>
                <a:latin typeface="Nunito"/>
              </a:rPr>
              <a:t>book_spot</a:t>
            </a:r>
            <a:r>
              <a:rPr sz="1050" b="1" dirty="0">
                <a:solidFill>
                  <a:srgbClr val="233A44"/>
                </a:solidFill>
                <a:latin typeface="Nunito"/>
              </a:rPr>
              <a:t>(</a:t>
            </a:r>
            <a:r>
              <a:rPr sz="1050" b="1" dirty="0" err="1">
                <a:solidFill>
                  <a:srgbClr val="233A44"/>
                </a:solidFill>
                <a:latin typeface="Nunito"/>
              </a:rPr>
              <a:t>client_name</a:t>
            </a:r>
            <a:r>
              <a:rPr sz="1050" b="1" dirty="0">
                <a:solidFill>
                  <a:srgbClr val="233A44"/>
                </a:solidFill>
                <a:latin typeface="Nunito"/>
              </a:rPr>
              <a:t>) → </a:t>
            </a:r>
            <a:r>
              <a:rPr sz="1050" b="1" dirty="0" err="1">
                <a:solidFill>
                  <a:srgbClr val="233A44"/>
                </a:solidFill>
                <a:latin typeface="Nunito"/>
              </a:rPr>
              <a:t>str</a:t>
            </a:r>
            <a:endParaRPr sz="1050" b="1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54880" y="1507331"/>
            <a:ext cx="3703320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dirty="0" err="1">
                <a:solidFill>
                  <a:srgbClr val="233A44"/>
                </a:solidFill>
                <a:latin typeface="Nunito"/>
              </a:rPr>
              <a:t>Rezervă</a:t>
            </a:r>
            <a:r>
              <a:rPr sz="900" dirty="0">
                <a:solidFill>
                  <a:srgbClr val="233A44"/>
                </a:solidFill>
                <a:latin typeface="Nunito"/>
              </a:rPr>
              <a:t> un </a:t>
            </a:r>
            <a:r>
              <a:rPr sz="900" dirty="0" err="1" smtClean="0">
                <a:solidFill>
                  <a:srgbClr val="233A44"/>
                </a:solidFill>
                <a:latin typeface="Nunito"/>
              </a:rPr>
              <a:t>loc</a:t>
            </a:r>
            <a:r>
              <a:rPr lang="ro-RO" sz="900" dirty="0" smtClean="0">
                <a:solidFill>
                  <a:srgbClr val="233A44"/>
                </a:solidFill>
                <a:latin typeface="Nunito"/>
              </a:rPr>
              <a:t>, </a:t>
            </a:r>
            <a:r>
              <a:rPr lang="vi-VN" sz="900" dirty="0" smtClean="0">
                <a:solidFill>
                  <a:srgbClr val="233A44"/>
                </a:solidFill>
                <a:latin typeface="Nunito"/>
              </a:rPr>
              <a:t>stabil</a:t>
            </a:r>
            <a:r>
              <a:rPr lang="ro-RO" sz="900" dirty="0" smtClean="0">
                <a:solidFill>
                  <a:srgbClr val="233A44"/>
                </a:solidFill>
                <a:latin typeface="Nunito"/>
              </a:rPr>
              <a:t>ind</a:t>
            </a:r>
            <a:r>
              <a:rPr lang="vi-VN" sz="900" dirty="0" smtClean="0">
                <a:solidFill>
                  <a:srgbClr val="233A44"/>
                </a:solidFill>
                <a:latin typeface="Nunito"/>
              </a:rPr>
              <a:t> </a:t>
            </a:r>
            <a:r>
              <a:rPr lang="vi-VN" sz="900" dirty="0">
                <a:solidFill>
                  <a:srgbClr val="233A44"/>
                </a:solidFill>
                <a:latin typeface="Nunito"/>
              </a:rPr>
              <a:t>rezultatul unei rezervări în funcție de locurile disponibile</a:t>
            </a:r>
            <a:r>
              <a:rPr lang="vi-VN" sz="900" dirty="0" smtClean="0">
                <a:solidFill>
                  <a:srgbClr val="233A44"/>
                </a:solidFill>
                <a:latin typeface="Nunito"/>
              </a:rPr>
              <a:t>.</a:t>
            </a:r>
            <a:endParaRPr lang="ro-RO" sz="900" dirty="0" smtClean="0">
              <a:solidFill>
                <a:srgbClr val="233A44"/>
              </a:solidFill>
              <a:latin typeface="Nunito"/>
            </a:endParaRPr>
          </a:p>
          <a:p>
            <a:endParaRPr lang="ro-RO" sz="900" dirty="0">
              <a:solidFill>
                <a:srgbClr val="233A44"/>
              </a:solidFill>
              <a:latin typeface="Nunito"/>
            </a:endParaRPr>
          </a:p>
          <a:p>
            <a:r>
              <a:rPr lang="vi-VN" sz="800" b="1" dirty="0">
                <a:solidFill>
                  <a:srgbClr val="233A44"/>
                </a:solidFill>
                <a:latin typeface="Nunito"/>
              </a:rPr>
              <a:t>Dacă există locuri libere</a:t>
            </a:r>
            <a:r>
              <a:rPr lang="vi-VN" sz="800" b="1" dirty="0" smtClean="0">
                <a:solidFill>
                  <a:srgbClr val="233A44"/>
                </a:solidFill>
                <a:latin typeface="Nunito"/>
              </a:rPr>
              <a:t>:</a:t>
            </a:r>
            <a:endParaRPr lang="vi-VN" sz="800" b="1" dirty="0">
              <a:solidFill>
                <a:srgbClr val="233A44"/>
              </a:solidFill>
              <a:latin typeface="Nunito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vi-VN" sz="800" dirty="0">
                <a:solidFill>
                  <a:srgbClr val="233A44"/>
                </a:solidFill>
                <a:latin typeface="Nunito"/>
              </a:rPr>
              <a:t>clientul este adăugat în _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confirmed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booked_spots crește cu 1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se </a:t>
            </a:r>
            <a:r>
              <a:rPr lang="vi-VN" sz="800" dirty="0">
                <a:solidFill>
                  <a:srgbClr val="233A44"/>
                </a:solidFill>
                <a:latin typeface="Nunito"/>
              </a:rPr>
              <a:t>returnează "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confirmed</a:t>
            </a:r>
            <a:r>
              <a:rPr lang="ro-RO" sz="800" dirty="0" smtClean="0">
                <a:solidFill>
                  <a:srgbClr val="233A44"/>
                </a:solidFill>
                <a:latin typeface="Nunito"/>
              </a:rPr>
              <a:t>”</a:t>
            </a:r>
          </a:p>
          <a:p>
            <a:endParaRPr lang="vi-VN" sz="800" dirty="0">
              <a:solidFill>
                <a:srgbClr val="233A44"/>
              </a:solidFill>
              <a:latin typeface="Nunito"/>
            </a:endParaRPr>
          </a:p>
          <a:p>
            <a:r>
              <a:rPr lang="vi-VN" sz="800" b="1" dirty="0">
                <a:solidFill>
                  <a:srgbClr val="233A44"/>
                </a:solidFill>
                <a:latin typeface="Nunito"/>
              </a:rPr>
              <a:t>Dacă sala este plină, dar waitlist-ul are </a:t>
            </a:r>
            <a:r>
              <a:rPr lang="vi-VN" sz="800" b="1" dirty="0" smtClean="0">
                <a:solidFill>
                  <a:srgbClr val="233A44"/>
                </a:solidFill>
                <a:latin typeface="Nunito"/>
              </a:rPr>
              <a:t>loc</a:t>
            </a:r>
            <a:endParaRPr lang="vi-VN" sz="800" b="1" dirty="0">
              <a:solidFill>
                <a:srgbClr val="233A44"/>
              </a:solidFill>
              <a:latin typeface="Nunito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vi-VN" sz="800" dirty="0">
                <a:solidFill>
                  <a:srgbClr val="233A44"/>
                </a:solidFill>
                <a:latin typeface="Nunito"/>
              </a:rPr>
              <a:t>clientul este adăugat în waitlist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vi-VN" sz="800" dirty="0">
                <a:solidFill>
                  <a:srgbClr val="233A44"/>
                </a:solidFill>
                <a:latin typeface="Nunito"/>
              </a:rPr>
              <a:t>se returnează "waitlist"</a:t>
            </a:r>
          </a:p>
          <a:p>
            <a:endParaRPr lang="ro-RO" sz="800" dirty="0" smtClean="0">
              <a:solidFill>
                <a:srgbClr val="233A44"/>
              </a:solidFill>
              <a:latin typeface="Nunito"/>
            </a:endParaRPr>
          </a:p>
          <a:p>
            <a:r>
              <a:rPr lang="vi-VN" sz="800" b="1" dirty="0" smtClean="0">
                <a:solidFill>
                  <a:srgbClr val="233A44"/>
                </a:solidFill>
                <a:latin typeface="Nunito"/>
              </a:rPr>
              <a:t>Dacă </a:t>
            </a:r>
            <a:r>
              <a:rPr lang="vi-VN" sz="800" b="1" dirty="0">
                <a:solidFill>
                  <a:srgbClr val="233A44"/>
                </a:solidFill>
                <a:latin typeface="Nunito"/>
              </a:rPr>
              <a:t>sala și waitlist-ul sunt pline</a:t>
            </a:r>
            <a:r>
              <a:rPr lang="vi-VN" sz="800" b="1" dirty="0" smtClean="0">
                <a:solidFill>
                  <a:srgbClr val="233A44"/>
                </a:solidFill>
                <a:latin typeface="Nunito"/>
              </a:rPr>
              <a:t>:</a:t>
            </a:r>
            <a:endParaRPr lang="vi-VN" sz="800" b="1" dirty="0">
              <a:solidFill>
                <a:srgbClr val="233A44"/>
              </a:solidFill>
              <a:latin typeface="Nunito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vi-VN" sz="800" dirty="0">
                <a:solidFill>
                  <a:srgbClr val="233A44"/>
                </a:solidFill>
                <a:latin typeface="Nunito"/>
              </a:rPr>
              <a:t>clientul este respins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vi-VN" sz="800" dirty="0">
                <a:solidFill>
                  <a:srgbClr val="233A44"/>
                </a:solidFill>
                <a:latin typeface="Nunito"/>
              </a:rPr>
              <a:t>se returnează "rejected"</a:t>
            </a:r>
            <a:endParaRPr sz="80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2400" y="710833"/>
            <a:ext cx="874380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0" i="0">
                <a:solidFill>
                  <a:srgbClr val="233A44"/>
                </a:solidFill>
                <a:latin typeface="Nunito"/>
              </a:defRPr>
            </a:lvl1pPr>
          </a:lstStyle>
          <a:p>
            <a:r>
              <a:rPr lang="ro-RO" b="1" dirty="0" smtClean="0"/>
              <a:t>	</a:t>
            </a:r>
            <a:r>
              <a:rPr lang="vi-VN" b="1" dirty="0" smtClean="0"/>
              <a:t>FitnessClassBooking</a:t>
            </a:r>
            <a:r>
              <a:rPr lang="vi-VN" dirty="0"/>
              <a:t> gestionează rezervările pentru o ședință de fitness. Suportă locuri confirmate, o listă de așteptare de maximum 5 persoane și anulări cu promovare automată din waitlist.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2971800" y="516732"/>
            <a:ext cx="2971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1200" b="1" i="1" dirty="0" smtClean="0">
                <a:solidFill>
                  <a:srgbClr val="233A44"/>
                </a:solidFill>
                <a:latin typeface="Nunito"/>
              </a:rPr>
              <a:t>Descrierea</a:t>
            </a:r>
            <a:r>
              <a:rPr lang="ro-RO" sz="1200" b="1" dirty="0">
                <a:solidFill>
                  <a:srgbClr val="233A44"/>
                </a:solidFill>
                <a:latin typeface="Nunito"/>
              </a:rPr>
              <a:t> </a:t>
            </a:r>
            <a:r>
              <a:rPr lang="ro-RO" sz="1200" b="1" i="1" dirty="0" smtClean="0">
                <a:solidFill>
                  <a:srgbClr val="233A44"/>
                </a:solidFill>
                <a:latin typeface="Nunito"/>
              </a:rPr>
              <a:t>și Metodele Clasei  </a:t>
            </a:r>
            <a:endParaRPr sz="1200" b="1" i="1" dirty="0">
              <a:solidFill>
                <a:srgbClr val="233A44"/>
              </a:solidFill>
              <a:latin typeface="Nunito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238" y="3793331"/>
            <a:ext cx="4201062" cy="1067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880" y="3793329"/>
            <a:ext cx="2314405" cy="1067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4948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9144000" cy="669131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unito"/>
              </a:rPr>
              <a:t>Clasa FitnessClassBooking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872927"/>
            <a:ext cx="4343400" cy="2615604"/>
          </a:xfrm>
          <a:prstGeom prst="rect">
            <a:avLst/>
          </a:prstGeom>
          <a:solidFill>
            <a:srgbClr val="F0F4F4"/>
          </a:solidFill>
          <a:ln w="12700">
            <a:solidFill>
              <a:srgbClr val="C4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8600" y="876395"/>
            <a:ext cx="82296" cy="2612136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922115"/>
            <a:ext cx="8321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 err="1">
                <a:solidFill>
                  <a:srgbClr val="233A44"/>
                </a:solidFill>
                <a:latin typeface="Nunito"/>
              </a:rPr>
              <a:t>cancel_booking</a:t>
            </a:r>
            <a:r>
              <a:rPr sz="1050" b="1" i="0" dirty="0">
                <a:solidFill>
                  <a:srgbClr val="233A44"/>
                </a:solidFill>
                <a:latin typeface="Nunito"/>
              </a:rPr>
              <a:t>(</a:t>
            </a:r>
            <a:r>
              <a:rPr sz="1050" b="1" i="0" dirty="0" err="1">
                <a:solidFill>
                  <a:srgbClr val="233A44"/>
                </a:solidFill>
                <a:latin typeface="Nunito"/>
              </a:rPr>
              <a:t>client_name</a:t>
            </a:r>
            <a:r>
              <a:rPr sz="1050" b="1" i="0" dirty="0">
                <a:solidFill>
                  <a:srgbClr val="233A44"/>
                </a:solidFill>
                <a:latin typeface="Nunito"/>
              </a:rPr>
              <a:t>) → </a:t>
            </a:r>
            <a:r>
              <a:rPr sz="1050" b="1" i="0" dirty="0" err="1">
                <a:solidFill>
                  <a:srgbClr val="233A44"/>
                </a:solidFill>
                <a:latin typeface="Nunito"/>
              </a:rPr>
              <a:t>bool</a:t>
            </a:r>
            <a:endParaRPr sz="1050" b="1" i="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7614" y="1354931"/>
            <a:ext cx="416052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233A44"/>
                </a:solidFill>
                <a:latin typeface="Nunito"/>
              </a:rPr>
              <a:t>Anulează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 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rezervarea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 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unui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 client 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confirmat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 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sau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 din waitlist. </a:t>
            </a:r>
            <a:endParaRPr lang="ro-RO" sz="1000" b="0" i="0" dirty="0" smtClean="0">
              <a:solidFill>
                <a:srgbClr val="233A44"/>
              </a:solidFill>
              <a:latin typeface="Nunito"/>
            </a:endParaRPr>
          </a:p>
          <a:p>
            <a:pPr algn="l"/>
            <a:r>
              <a:rPr sz="1000" b="0" i="0" dirty="0" err="1" smtClean="0">
                <a:solidFill>
                  <a:srgbClr val="233A44"/>
                </a:solidFill>
                <a:latin typeface="Nunito"/>
              </a:rPr>
              <a:t>Promovează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 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automat 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primul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 din waitlist la 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anulare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 din confirmed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.</a:t>
            </a:r>
            <a:endParaRPr lang="ro-RO" sz="1000" b="0" i="0" dirty="0" smtClean="0">
              <a:solidFill>
                <a:srgbClr val="233A44"/>
              </a:solidFill>
              <a:latin typeface="Nunito"/>
            </a:endParaRPr>
          </a:p>
          <a:p>
            <a:endParaRPr lang="ro-RO" sz="800" dirty="0" smtClean="0">
              <a:solidFill>
                <a:srgbClr val="233A44"/>
              </a:solidFill>
              <a:latin typeface="Nunito"/>
            </a:endParaRPr>
          </a:p>
          <a:p>
            <a:r>
              <a:rPr lang="vi-VN" sz="800" b="1" dirty="0" smtClean="0">
                <a:solidFill>
                  <a:srgbClr val="233A44"/>
                </a:solidFill>
                <a:latin typeface="Nunito"/>
              </a:rPr>
              <a:t>Dacă </a:t>
            </a:r>
            <a:r>
              <a:rPr lang="vi-VN" sz="800" b="1" dirty="0">
                <a:solidFill>
                  <a:srgbClr val="233A44"/>
                </a:solidFill>
                <a:latin typeface="Nunito"/>
              </a:rPr>
              <a:t>clientul este în lista de confirmați</a:t>
            </a:r>
            <a:r>
              <a:rPr lang="vi-VN" sz="800" b="1" dirty="0" smtClean="0">
                <a:solidFill>
                  <a:srgbClr val="233A44"/>
                </a:solidFill>
                <a:latin typeface="Nunito"/>
              </a:rPr>
              <a:t>:</a:t>
            </a:r>
            <a:endParaRPr lang="vi-VN" sz="800" b="1" dirty="0">
              <a:solidFill>
                <a:srgbClr val="233A44"/>
              </a:solidFill>
              <a:latin typeface="Nunito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vi-VN" sz="800" dirty="0">
                <a:solidFill>
                  <a:srgbClr val="233A44"/>
                </a:solidFill>
                <a:latin typeface="Nunito"/>
              </a:rPr>
              <a:t>este eliminat din _confirmed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vi-VN" sz="800" dirty="0">
                <a:solidFill>
                  <a:srgbClr val="233A44"/>
                </a:solidFill>
                <a:latin typeface="Nunito"/>
              </a:rPr>
              <a:t>booked_spots scade cu 1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vi-VN" sz="800" dirty="0">
                <a:solidFill>
                  <a:srgbClr val="233A44"/>
                </a:solidFill>
                <a:latin typeface="Nunito"/>
              </a:rPr>
              <a:t>dacă există persoane în waitlist, prima este promovată automat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vi-VN" sz="800" dirty="0">
                <a:solidFill>
                  <a:srgbClr val="233A44"/>
                </a:solidFill>
                <a:latin typeface="Nunito"/>
              </a:rPr>
              <a:t>metoda returnează 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True</a:t>
            </a:r>
            <a:endParaRPr lang="ro-RO" sz="800" dirty="0" smtClean="0">
              <a:solidFill>
                <a:srgbClr val="233A44"/>
              </a:solidFill>
              <a:latin typeface="Nunito"/>
            </a:endParaRPr>
          </a:p>
          <a:p>
            <a:endParaRPr lang="vi-VN" sz="800" dirty="0">
              <a:solidFill>
                <a:srgbClr val="233A44"/>
              </a:solidFill>
              <a:latin typeface="Nunito"/>
            </a:endParaRPr>
          </a:p>
          <a:p>
            <a:r>
              <a:rPr lang="vi-VN" sz="800" b="1" dirty="0">
                <a:solidFill>
                  <a:srgbClr val="233A44"/>
                </a:solidFill>
                <a:latin typeface="Nunito"/>
              </a:rPr>
              <a:t>Dacă clientul este doar pe waitlist</a:t>
            </a:r>
            <a:r>
              <a:rPr lang="vi-VN" sz="800" b="1" dirty="0" smtClean="0">
                <a:solidFill>
                  <a:srgbClr val="233A44"/>
                </a:solidFill>
                <a:latin typeface="Nunito"/>
              </a:rPr>
              <a:t>:</a:t>
            </a:r>
            <a:endParaRPr lang="vi-VN" sz="800" b="1" dirty="0">
              <a:solidFill>
                <a:srgbClr val="233A44"/>
              </a:solidFill>
              <a:latin typeface="Nunito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vi-VN" sz="800" dirty="0">
                <a:solidFill>
                  <a:srgbClr val="233A44"/>
                </a:solidFill>
                <a:latin typeface="Nunito"/>
              </a:rPr>
              <a:t>este eliminat din 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waitlist</a:t>
            </a:r>
            <a:r>
              <a:rPr lang="ro-RO" sz="800" dirty="0" smtClean="0">
                <a:solidFill>
                  <a:srgbClr val="233A44"/>
                </a:solidFill>
                <a:latin typeface="Nunito"/>
              </a:rPr>
              <a:t>, 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metoda </a:t>
            </a:r>
            <a:r>
              <a:rPr lang="vi-VN" sz="800" dirty="0">
                <a:solidFill>
                  <a:srgbClr val="233A44"/>
                </a:solidFill>
                <a:latin typeface="Nunito"/>
              </a:rPr>
              <a:t>returnează 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True</a:t>
            </a:r>
            <a:endParaRPr lang="ro-RO" sz="800" dirty="0" smtClean="0">
              <a:solidFill>
                <a:srgbClr val="233A44"/>
              </a:solidFill>
              <a:latin typeface="Nunito"/>
            </a:endParaRPr>
          </a:p>
          <a:p>
            <a:endParaRPr lang="vi-VN" sz="800" dirty="0">
              <a:solidFill>
                <a:srgbClr val="233A44"/>
              </a:solidFill>
              <a:latin typeface="Nunito"/>
            </a:endParaRPr>
          </a:p>
          <a:p>
            <a:r>
              <a:rPr lang="vi-VN" sz="800" b="1" dirty="0">
                <a:solidFill>
                  <a:srgbClr val="233A44"/>
                </a:solidFill>
                <a:latin typeface="Nunito"/>
              </a:rPr>
              <a:t>Dacă clientul nu este găsit</a:t>
            </a:r>
            <a:r>
              <a:rPr lang="vi-VN" sz="800" b="1" dirty="0" smtClean="0">
                <a:solidFill>
                  <a:srgbClr val="233A44"/>
                </a:solidFill>
                <a:latin typeface="Nunito"/>
              </a:rPr>
              <a:t>:</a:t>
            </a:r>
            <a:endParaRPr lang="vi-VN" sz="800" b="1" dirty="0">
              <a:solidFill>
                <a:srgbClr val="233A44"/>
              </a:solidFill>
              <a:latin typeface="Nunito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vi-VN" sz="800" dirty="0">
                <a:solidFill>
                  <a:srgbClr val="233A44"/>
                </a:solidFill>
                <a:latin typeface="Nunito"/>
              </a:rPr>
              <a:t>nu se modifică nicio 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listă</a:t>
            </a:r>
            <a:r>
              <a:rPr lang="ro-RO" sz="800" dirty="0" smtClean="0">
                <a:solidFill>
                  <a:srgbClr val="233A44"/>
                </a:solidFill>
                <a:latin typeface="Nunito"/>
              </a:rPr>
              <a:t>, 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metoda </a:t>
            </a:r>
            <a:r>
              <a:rPr lang="vi-VN" sz="800" dirty="0">
                <a:solidFill>
                  <a:srgbClr val="233A44"/>
                </a:solidFill>
                <a:latin typeface="Nunito"/>
              </a:rPr>
              <a:t>returnează False</a:t>
            </a:r>
            <a:r>
              <a:rPr sz="800" b="0" i="0" dirty="0" smtClean="0">
                <a:solidFill>
                  <a:srgbClr val="233A44"/>
                </a:solidFill>
                <a:latin typeface="Nunito"/>
              </a:rPr>
              <a:t> </a:t>
            </a:r>
            <a:endParaRPr sz="800" b="0" i="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0" y="861575"/>
            <a:ext cx="4343400" cy="2626956"/>
          </a:xfrm>
          <a:prstGeom prst="rect">
            <a:avLst/>
          </a:prstGeom>
          <a:solidFill>
            <a:srgbClr val="F0F4F4"/>
          </a:solidFill>
          <a:ln w="12700">
            <a:solidFill>
              <a:srgbClr val="3D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0" y="861575"/>
            <a:ext cx="82296" cy="2626956"/>
          </a:xfrm>
          <a:prstGeom prst="rect">
            <a:avLst/>
          </a:prstGeom>
          <a:solidFill>
            <a:srgbClr val="3D4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0" y="907295"/>
            <a:ext cx="8321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 err="1">
                <a:solidFill>
                  <a:srgbClr val="233A44"/>
                </a:solidFill>
                <a:latin typeface="Nunito"/>
              </a:rPr>
              <a:t>calculate_cost</a:t>
            </a:r>
            <a:r>
              <a:rPr sz="1050" b="1" i="0" dirty="0">
                <a:solidFill>
                  <a:srgbClr val="233A44"/>
                </a:solidFill>
                <a:latin typeface="Nunito"/>
              </a:rPr>
              <a:t>(sessions, </a:t>
            </a:r>
            <a:r>
              <a:rPr sz="1050" b="1" i="0" dirty="0" err="1">
                <a:solidFill>
                  <a:srgbClr val="233A44"/>
                </a:solidFill>
                <a:latin typeface="Nunito"/>
              </a:rPr>
              <a:t>has_membership</a:t>
            </a:r>
            <a:r>
              <a:rPr sz="1050" b="1" i="0" dirty="0">
                <a:solidFill>
                  <a:srgbClr val="233A44"/>
                </a:solidFill>
                <a:latin typeface="Nunito"/>
              </a:rPr>
              <a:t>) → float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1544111"/>
            <a:ext cx="416052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o-RO" sz="1000" dirty="0" smtClean="0">
                <a:solidFill>
                  <a:srgbClr val="233A44"/>
                </a:solidFill>
                <a:latin typeface="Nunito"/>
              </a:rPr>
              <a:t>Calculează c</a:t>
            </a:r>
            <a:r>
              <a:rPr sz="1000" b="0" i="0" dirty="0" err="1" smtClean="0">
                <a:solidFill>
                  <a:srgbClr val="233A44"/>
                </a:solidFill>
                <a:latin typeface="Nunito"/>
              </a:rPr>
              <a:t>ost</a:t>
            </a:r>
            <a:r>
              <a:rPr lang="ro-RO" sz="1000" b="0" i="0" dirty="0" smtClean="0">
                <a:solidFill>
                  <a:srgbClr val="233A44"/>
                </a:solidFill>
                <a:latin typeface="Nunito"/>
              </a:rPr>
              <a:t>ul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 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total 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pentru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 1–20 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ședințe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. </a:t>
            </a:r>
            <a:endParaRPr lang="ro-RO" sz="1000" b="0" i="0" dirty="0" smtClean="0">
              <a:solidFill>
                <a:srgbClr val="233A44"/>
              </a:solidFill>
              <a:latin typeface="Nunito"/>
            </a:endParaRPr>
          </a:p>
          <a:p>
            <a:pPr algn="l"/>
            <a:r>
              <a:rPr sz="1000" b="0" i="0" dirty="0" err="1" smtClean="0">
                <a:solidFill>
                  <a:srgbClr val="233A44"/>
                </a:solidFill>
                <a:latin typeface="Nunito"/>
              </a:rPr>
              <a:t>Reduceri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 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aditive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: −20% 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membership</a:t>
            </a:r>
            <a:r>
              <a:rPr lang="ro-RO" sz="1000" b="0" i="0" dirty="0" smtClean="0">
                <a:solidFill>
                  <a:srgbClr val="233A44"/>
                </a:solidFill>
                <a:latin typeface="Nunito"/>
              </a:rPr>
              <a:t> 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 +</a:t>
            </a:r>
            <a:r>
              <a:rPr lang="ro-RO" sz="1000" b="0" i="0" dirty="0" smtClean="0">
                <a:solidFill>
                  <a:srgbClr val="233A44"/>
                </a:solidFill>
                <a:latin typeface="Nunito"/>
              </a:rPr>
              <a:t> 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 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−10% 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volum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 (≥10 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ședințe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). </a:t>
            </a:r>
            <a:endParaRPr lang="ro-RO" sz="1000" dirty="0">
              <a:solidFill>
                <a:srgbClr val="233A44"/>
              </a:solidFill>
              <a:latin typeface="Nunito"/>
            </a:endParaRPr>
          </a:p>
          <a:p>
            <a:endParaRPr lang="vi-VN" sz="800" dirty="0">
              <a:solidFill>
                <a:srgbClr val="233A44"/>
              </a:solidFill>
              <a:latin typeface="Nunito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vi-VN" sz="800" dirty="0">
                <a:solidFill>
                  <a:srgbClr val="233A44"/>
                </a:solidFill>
                <a:latin typeface="Nunito"/>
              </a:rPr>
              <a:t>Mai întâi se calculează costul de bază: cost = sessions * 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price_per_session</a:t>
            </a:r>
            <a:endParaRPr lang="vi-VN" sz="800" dirty="0">
              <a:solidFill>
                <a:srgbClr val="233A44"/>
              </a:solidFill>
              <a:latin typeface="Nunito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vi-VN" sz="800" dirty="0">
                <a:solidFill>
                  <a:srgbClr val="233A44"/>
                </a:solidFill>
                <a:latin typeface="Nunito"/>
              </a:rPr>
              <a:t>Apoi se pornește de la un discount inițial de 0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%</a:t>
            </a:r>
            <a:endParaRPr lang="vi-VN" sz="800" dirty="0">
              <a:solidFill>
                <a:srgbClr val="233A44"/>
              </a:solidFill>
              <a:latin typeface="Nunito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vi-VN" sz="800" dirty="0">
                <a:solidFill>
                  <a:srgbClr val="233A44"/>
                </a:solidFill>
                <a:latin typeface="Nunito"/>
              </a:rPr>
              <a:t>Dacă utilizatorul are membership: se adaugă o reducere de 20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%</a:t>
            </a:r>
            <a:endParaRPr lang="vi-VN" sz="800" dirty="0">
              <a:solidFill>
                <a:srgbClr val="233A44"/>
              </a:solidFill>
              <a:latin typeface="Nunito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vi-VN" sz="800" dirty="0">
                <a:solidFill>
                  <a:srgbClr val="233A44"/>
                </a:solidFill>
                <a:latin typeface="Nunito"/>
              </a:rPr>
              <a:t>Dacă numărul de ședințe 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es</a:t>
            </a:r>
            <a:r>
              <a:rPr lang="ro-RO" sz="800" dirty="0" smtClean="0">
                <a:solidFill>
                  <a:srgbClr val="233A44"/>
                </a:solidFill>
                <a:latin typeface="Nunito"/>
              </a:rPr>
              <a:t>t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e </a:t>
            </a:r>
            <a:r>
              <a:rPr lang="vi-VN" sz="800" dirty="0">
                <a:solidFill>
                  <a:srgbClr val="233A44"/>
                </a:solidFill>
                <a:latin typeface="Nunito"/>
              </a:rPr>
              <a:t>cel puțin 10: se adaugă o reducere de volum de 10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%</a:t>
            </a:r>
            <a:endParaRPr lang="vi-VN" sz="800" dirty="0">
              <a:solidFill>
                <a:srgbClr val="233A44"/>
              </a:solidFill>
              <a:latin typeface="Nunito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vi-VN" sz="800" dirty="0">
                <a:solidFill>
                  <a:srgbClr val="233A44"/>
                </a:solidFill>
                <a:latin typeface="Nunito"/>
              </a:rPr>
              <a:t>Reducerile sunt aditive: membership + volum = 20% + 10% = 30</a:t>
            </a:r>
            <a:r>
              <a:rPr lang="vi-VN" sz="800" dirty="0" smtClean="0">
                <a:solidFill>
                  <a:srgbClr val="233A44"/>
                </a:solidFill>
                <a:latin typeface="Nunito"/>
              </a:rPr>
              <a:t>%;</a:t>
            </a:r>
            <a:endParaRPr lang="vi-VN" sz="800" dirty="0">
              <a:solidFill>
                <a:srgbClr val="233A44"/>
              </a:solidFill>
              <a:latin typeface="Nunito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vi-VN" sz="800" dirty="0">
                <a:solidFill>
                  <a:srgbClr val="233A44"/>
                </a:solidFill>
                <a:latin typeface="Nunito"/>
              </a:rPr>
              <a:t>La final, costul este rotunjit la două zecimale cu round(..., 2).</a:t>
            </a:r>
            <a:endParaRPr sz="800" b="0" i="0" dirty="0">
              <a:solidFill>
                <a:srgbClr val="233A44"/>
              </a:solidFill>
              <a:latin typeface="Nunito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2878" y="3539998"/>
            <a:ext cx="1724025" cy="1356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75" y="3640931"/>
            <a:ext cx="1771650" cy="1006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884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5331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unito"/>
              </a:rPr>
              <a:t>Strategia 1 – Clase de Echivalență (EP)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2723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4E3"/>
                </a:solidFill>
                <a:latin typeface="Nunito"/>
              </a:rPr>
              <a:t>EC01–EC30  |  test_equivalence_partitioning.py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240" y="745331"/>
            <a:ext cx="29839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796B"/>
                </a:solidFill>
                <a:latin typeface="Nunito"/>
              </a:rPr>
              <a:t>__</a:t>
            </a:r>
            <a:r>
              <a:rPr sz="1200" b="1" i="0" dirty="0" err="1">
                <a:solidFill>
                  <a:srgbClr val="00796B"/>
                </a:solidFill>
                <a:latin typeface="Nunito"/>
              </a:rPr>
              <a:t>init</a:t>
            </a:r>
            <a:r>
              <a:rPr sz="1200" b="1" i="0" dirty="0">
                <a:solidFill>
                  <a:srgbClr val="00796B"/>
                </a:solidFill>
                <a:latin typeface="Nunito"/>
              </a:rPr>
              <a:t>__  (EC01–EC12, EC26–EC28)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39466" y="728382"/>
            <a:ext cx="26609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D9563F"/>
                </a:solidFill>
                <a:latin typeface="Nunito"/>
              </a:rPr>
              <a:t>book_spot</a:t>
            </a:r>
            <a:r>
              <a:rPr sz="1200" b="1" i="0" dirty="0">
                <a:solidFill>
                  <a:srgbClr val="D9563F"/>
                </a:solidFill>
                <a:latin typeface="Nunito"/>
              </a:rPr>
              <a:t>  (EC13–EC16, EC29)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8215" y="2147409"/>
            <a:ext cx="30845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C4A15A"/>
                </a:solidFill>
                <a:latin typeface="Nunito"/>
              </a:rPr>
              <a:t>calculate_cost</a:t>
            </a:r>
            <a:r>
              <a:rPr sz="1200" b="1" i="0" dirty="0">
                <a:solidFill>
                  <a:srgbClr val="C4A15A"/>
                </a:solidFill>
                <a:latin typeface="Nunito"/>
              </a:rPr>
              <a:t>  (EC20–EC25, EC30)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71" y="1022505"/>
            <a:ext cx="4159931" cy="3380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536" y="977811"/>
            <a:ext cx="3540766" cy="1161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6168" y="2421731"/>
            <a:ext cx="3348669" cy="1485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" name="TextBox 36"/>
          <p:cNvSpPr txBox="1"/>
          <p:nvPr/>
        </p:nvSpPr>
        <p:spPr>
          <a:xfrm>
            <a:off x="5867400" y="3869531"/>
            <a:ext cx="21546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o-RO" sz="1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Nunito"/>
              </a:rPr>
              <a:t>c</a:t>
            </a:r>
            <a:r>
              <a:rPr lang="ro-RO" sz="1200" b="1" i="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Nunito"/>
              </a:rPr>
              <a:t>ancel_booking </a:t>
            </a:r>
            <a:r>
              <a:rPr sz="1200" b="1" i="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Nunito"/>
              </a:rPr>
              <a:t>(EC</a:t>
            </a:r>
            <a:r>
              <a:rPr lang="ro-RO" sz="1200" b="1" i="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Nunito"/>
              </a:rPr>
              <a:t>17-19</a:t>
            </a:r>
            <a:r>
              <a:rPr sz="1200" b="1" i="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Nunito"/>
              </a:rPr>
              <a:t>)</a:t>
            </a:r>
            <a:endParaRPr sz="1200" b="1" i="0" dirty="0">
              <a:solidFill>
                <a:schemeClr val="accent6">
                  <a:lumMod val="60000"/>
                  <a:lumOff val="40000"/>
                </a:schemeClr>
              </a:solidFill>
              <a:latin typeface="Nunito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147" y="4146530"/>
            <a:ext cx="2957544" cy="770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3681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unito"/>
              </a:rPr>
              <a:t>Strategia 2 – Valori de Frontieră (BVA)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D6E4E3"/>
                </a:solidFill>
                <a:latin typeface="Nunito"/>
              </a:rPr>
              <a:t>BVA01–BVA23  |  test_boundary_value_analysis.py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98755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 err="1">
                <a:solidFill>
                  <a:srgbClr val="999999"/>
                </a:solidFill>
                <a:latin typeface="Nunito"/>
              </a:rPr>
              <a:t>Principiu</a:t>
            </a:r>
            <a:r>
              <a:rPr sz="1000" b="0" i="1" dirty="0">
                <a:solidFill>
                  <a:srgbClr val="999999"/>
                </a:solidFill>
                <a:latin typeface="Nunito"/>
              </a:rPr>
              <a:t>: </a:t>
            </a:r>
            <a:r>
              <a:rPr sz="1000" b="0" i="1" dirty="0" err="1">
                <a:solidFill>
                  <a:srgbClr val="999999"/>
                </a:solidFill>
                <a:latin typeface="Nunito"/>
              </a:rPr>
              <a:t>erori</a:t>
            </a:r>
            <a:r>
              <a:rPr sz="1000" b="0" i="1" dirty="0">
                <a:solidFill>
                  <a:srgbClr val="999999"/>
                </a:solidFill>
                <a:latin typeface="Nunito"/>
              </a:rPr>
              <a:t> </a:t>
            </a:r>
            <a:r>
              <a:rPr sz="1000" b="0" i="1" dirty="0" err="1">
                <a:solidFill>
                  <a:srgbClr val="999999"/>
                </a:solidFill>
                <a:latin typeface="Nunito"/>
              </a:rPr>
              <a:t>apar</a:t>
            </a:r>
            <a:r>
              <a:rPr sz="1000" b="0" i="1" dirty="0">
                <a:solidFill>
                  <a:srgbClr val="999999"/>
                </a:solidFill>
                <a:latin typeface="Nunito"/>
              </a:rPr>
              <a:t> </a:t>
            </a:r>
            <a:r>
              <a:rPr sz="1000" b="0" i="1" dirty="0" err="1">
                <a:solidFill>
                  <a:srgbClr val="999999"/>
                </a:solidFill>
                <a:latin typeface="Nunito"/>
              </a:rPr>
              <a:t>frecvent</a:t>
            </a:r>
            <a:r>
              <a:rPr sz="1000" b="0" i="1" dirty="0">
                <a:solidFill>
                  <a:srgbClr val="999999"/>
                </a:solidFill>
                <a:latin typeface="Nunito"/>
              </a:rPr>
              <a:t> la </a:t>
            </a:r>
            <a:r>
              <a:rPr sz="1000" b="0" i="1" dirty="0" err="1">
                <a:solidFill>
                  <a:srgbClr val="999999"/>
                </a:solidFill>
                <a:latin typeface="Nunito"/>
              </a:rPr>
              <a:t>limite</a:t>
            </a:r>
            <a:r>
              <a:rPr sz="1000" b="0" i="1" dirty="0">
                <a:solidFill>
                  <a:srgbClr val="999999"/>
                </a:solidFill>
                <a:latin typeface="Nunito"/>
              </a:rPr>
              <a:t> </a:t>
            </a:r>
            <a:r>
              <a:rPr lang="ro-RO" sz="1000" i="1" dirty="0">
                <a:solidFill>
                  <a:srgbClr val="999999"/>
                </a:solidFill>
                <a:latin typeface="Nunito"/>
              </a:rPr>
              <a:t> </a:t>
            </a:r>
            <a:r>
              <a:rPr lang="ro-RO" sz="1000" i="1" dirty="0" smtClean="0">
                <a:solidFill>
                  <a:srgbClr val="999999"/>
                </a:solidFill>
                <a:latin typeface="Nunito"/>
              </a:rPr>
              <a:t>-</a:t>
            </a:r>
            <a:r>
              <a:rPr sz="1000" b="0" i="1" dirty="0" smtClean="0">
                <a:solidFill>
                  <a:srgbClr val="999999"/>
                </a:solidFill>
                <a:latin typeface="Nunito"/>
              </a:rPr>
              <a:t> </a:t>
            </a:r>
            <a:r>
              <a:rPr sz="1000" b="0" i="1" dirty="0">
                <a:solidFill>
                  <a:srgbClr val="999999"/>
                </a:solidFill>
                <a:latin typeface="Nunito"/>
              </a:rPr>
              <a:t>se </a:t>
            </a:r>
            <a:r>
              <a:rPr sz="1000" b="0" i="1" dirty="0" err="1">
                <a:solidFill>
                  <a:srgbClr val="999999"/>
                </a:solidFill>
                <a:latin typeface="Nunito"/>
              </a:rPr>
              <a:t>testează</a:t>
            </a:r>
            <a:r>
              <a:rPr sz="1000" b="0" i="1" dirty="0">
                <a:solidFill>
                  <a:srgbClr val="999999"/>
                </a:solidFill>
                <a:latin typeface="Nunito"/>
              </a:rPr>
              <a:t> sub </a:t>
            </a:r>
            <a:r>
              <a:rPr sz="1000" b="0" i="1" dirty="0" err="1">
                <a:solidFill>
                  <a:srgbClr val="999999"/>
                </a:solidFill>
                <a:latin typeface="Nunito"/>
              </a:rPr>
              <a:t>frontieră</a:t>
            </a:r>
            <a:r>
              <a:rPr sz="1000" b="0" i="1" dirty="0">
                <a:solidFill>
                  <a:srgbClr val="999999"/>
                </a:solidFill>
                <a:latin typeface="Nunito"/>
              </a:rPr>
              <a:t>, la </a:t>
            </a:r>
            <a:r>
              <a:rPr sz="1000" b="0" i="1" dirty="0" err="1">
                <a:solidFill>
                  <a:srgbClr val="999999"/>
                </a:solidFill>
                <a:latin typeface="Nunito"/>
              </a:rPr>
              <a:t>frontieră</a:t>
            </a:r>
            <a:r>
              <a:rPr sz="1000" b="0" i="1" dirty="0">
                <a:solidFill>
                  <a:srgbClr val="999999"/>
                </a:solidFill>
                <a:latin typeface="Nunito"/>
              </a:rPr>
              <a:t> </a:t>
            </a:r>
            <a:r>
              <a:rPr sz="1000" b="0" i="1" dirty="0" err="1">
                <a:solidFill>
                  <a:srgbClr val="999999"/>
                </a:solidFill>
                <a:latin typeface="Nunito"/>
              </a:rPr>
              <a:t>și</a:t>
            </a:r>
            <a:r>
              <a:rPr sz="1000" b="0" i="1" dirty="0">
                <a:solidFill>
                  <a:srgbClr val="999999"/>
                </a:solidFill>
                <a:latin typeface="Nunito"/>
              </a:rPr>
              <a:t> </a:t>
            </a:r>
            <a:r>
              <a:rPr sz="1000" b="0" i="1" dirty="0" err="1">
                <a:solidFill>
                  <a:srgbClr val="999999"/>
                </a:solidFill>
                <a:latin typeface="Nunito"/>
              </a:rPr>
              <a:t>imediat</a:t>
            </a:r>
            <a:r>
              <a:rPr sz="1000" b="0" i="1" dirty="0">
                <a:solidFill>
                  <a:srgbClr val="999999"/>
                </a:solidFill>
                <a:latin typeface="Nunito"/>
              </a:rPr>
              <a:t> </a:t>
            </a:r>
            <a:r>
              <a:rPr sz="1000" b="0" i="1" dirty="0" err="1">
                <a:solidFill>
                  <a:srgbClr val="999999"/>
                </a:solidFill>
                <a:latin typeface="Nunito"/>
              </a:rPr>
              <a:t>peste</a:t>
            </a:r>
            <a:r>
              <a:rPr sz="1000" b="0" i="1" dirty="0">
                <a:solidFill>
                  <a:srgbClr val="999999"/>
                </a:solidFill>
                <a:latin typeface="Nunito"/>
              </a:rPr>
              <a:t> </a:t>
            </a:r>
            <a:r>
              <a:rPr sz="1000" b="0" i="1" dirty="0" err="1">
                <a:solidFill>
                  <a:srgbClr val="999999"/>
                </a:solidFill>
                <a:latin typeface="Nunito"/>
              </a:rPr>
              <a:t>frontieră</a:t>
            </a:r>
            <a:r>
              <a:rPr sz="1000" b="0" i="1" dirty="0">
                <a:solidFill>
                  <a:srgbClr val="999999"/>
                </a:solidFill>
                <a:latin typeface="Nunito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307592"/>
            <a:ext cx="2615184" cy="301752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7744" y="1353312"/>
            <a:ext cx="252374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Frontieră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307592"/>
            <a:ext cx="1883664" cy="301752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35224" y="1353312"/>
            <a:ext cx="179222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Sub frontieră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307592"/>
            <a:ext cx="1883664" cy="301752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01183" y="1353312"/>
            <a:ext cx="179222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La frontieră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80" y="1307592"/>
            <a:ext cx="1975104" cy="301752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67144" y="1353312"/>
            <a:ext cx="188366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Peste frontieră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664208"/>
            <a:ext cx="261518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7744" y="1728216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96B"/>
                </a:solidFill>
                <a:latin typeface="Nunito"/>
              </a:rPr>
              <a:t>__init__ – max_spots ≥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1664208"/>
            <a:ext cx="188366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35224" y="1728216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0 → ValueError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64208"/>
            <a:ext cx="188366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01183" y="1728216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1 → valid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80" y="1664208"/>
            <a:ext cx="197510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67144" y="1728216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2 → valid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093976"/>
            <a:ext cx="26151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7744" y="2157984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96B"/>
                </a:solidFill>
                <a:latin typeface="Nunito"/>
              </a:rPr>
              <a:t>__init__ – max_spots ≤ 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2093976"/>
            <a:ext cx="188366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35224" y="2157984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29 → valid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093976"/>
            <a:ext cx="188366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01183" y="2157984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30 → valid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80" y="2093976"/>
            <a:ext cx="197510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67144" y="2157984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31 → ValueError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2523744"/>
            <a:ext cx="261518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7744" y="2587751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96B"/>
                </a:solidFill>
                <a:latin typeface="Nunito"/>
              </a:rPr>
              <a:t>__init__ – price &gt; 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2523744"/>
            <a:ext cx="188366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35224" y="2587751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−0.01 → ValueError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2523744"/>
            <a:ext cx="188366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01183" y="2587751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0.0 → ValueError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12280" y="2523744"/>
            <a:ext cx="197510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67144" y="2587751"/>
            <a:ext cx="18836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33A44"/>
                </a:solidFill>
                <a:latin typeface="Nunito"/>
              </a:rPr>
              <a:t>0.01 → 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valid</a:t>
            </a:r>
            <a:endParaRPr sz="1000" b="0" i="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82880" y="2953512"/>
            <a:ext cx="26151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37744" y="3017520"/>
            <a:ext cx="25237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00796B"/>
                </a:solidFill>
                <a:latin typeface="Nunito"/>
              </a:rPr>
              <a:t>book_spot</a:t>
            </a:r>
            <a:r>
              <a:rPr sz="1000" b="0" i="0" dirty="0">
                <a:solidFill>
                  <a:srgbClr val="00796B"/>
                </a:solidFill>
                <a:latin typeface="Nunito"/>
              </a:rPr>
              <a:t> – </a:t>
            </a:r>
            <a:r>
              <a:rPr lang="ro-RO" sz="1000" dirty="0" smtClean="0">
                <a:solidFill>
                  <a:srgbClr val="00796B"/>
                </a:solidFill>
                <a:latin typeface="Nunito"/>
              </a:rPr>
              <a:t>booked </a:t>
            </a:r>
            <a:r>
              <a:rPr lang="en-US" sz="1000" dirty="0" smtClean="0">
                <a:solidFill>
                  <a:srgbClr val="00796B"/>
                </a:solidFill>
                <a:latin typeface="Nunito"/>
              </a:rPr>
              <a:t>&lt; </a:t>
            </a:r>
            <a:r>
              <a:rPr lang="en-US" sz="1000" dirty="0" err="1" smtClean="0">
                <a:solidFill>
                  <a:srgbClr val="00796B"/>
                </a:solidFill>
                <a:latin typeface="Nunito"/>
              </a:rPr>
              <a:t>max_spots</a:t>
            </a:r>
            <a:endParaRPr sz="1000" b="0" i="0" dirty="0">
              <a:solidFill>
                <a:srgbClr val="00796B"/>
              </a:solidFill>
              <a:latin typeface="Nunito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880360" y="2953512"/>
            <a:ext cx="188366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35224" y="3017520"/>
            <a:ext cx="17922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33A44"/>
                </a:solidFill>
                <a:latin typeface="Nunito"/>
              </a:rPr>
              <a:t>max−1 </a:t>
            </a:r>
            <a:r>
              <a:rPr lang="en-US" sz="1000" b="0" i="0" dirty="0" smtClean="0">
                <a:solidFill>
                  <a:srgbClr val="233A44"/>
                </a:solidFill>
                <a:latin typeface="Nunito"/>
              </a:rPr>
              <a:t>booked 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→ 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confirmed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46320" y="2953512"/>
            <a:ext cx="188366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01183" y="3017520"/>
            <a:ext cx="17922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dirty="0">
                <a:solidFill>
                  <a:srgbClr val="233A44"/>
                </a:solidFill>
                <a:latin typeface="Nunito"/>
              </a:rPr>
              <a:t>m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ax</a:t>
            </a:r>
            <a:r>
              <a:rPr lang="en-US" sz="1000" b="0" i="0" dirty="0" smtClean="0">
                <a:solidFill>
                  <a:srgbClr val="233A44"/>
                </a:solidFill>
                <a:latin typeface="Nunito"/>
              </a:rPr>
              <a:t> booked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 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→ waitlist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12280" y="2953512"/>
            <a:ext cx="197510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67144" y="3017520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3383280"/>
            <a:ext cx="261518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37744" y="344728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96B"/>
                </a:solidFill>
                <a:latin typeface="Nunito"/>
              </a:rPr>
              <a:t>book_spot – waitlist &lt; 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80360" y="3383280"/>
            <a:ext cx="188366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935224" y="3447288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4 pe WL → waitlist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46320" y="3383280"/>
            <a:ext cx="188366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901183" y="3447288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5 pe WL → rejected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12280" y="3383280"/>
            <a:ext cx="197510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867144" y="3447288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2880" y="3813048"/>
            <a:ext cx="26151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37744" y="3877056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96B"/>
                </a:solidFill>
                <a:latin typeface="Nunito"/>
              </a:rPr>
              <a:t>calculate_cost – sessions ≥ 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80360" y="3813048"/>
            <a:ext cx="188366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935224" y="3877056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0 → ValueError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46320" y="3813048"/>
            <a:ext cx="188366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901183" y="3877056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1 → valid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12280" y="3813048"/>
            <a:ext cx="197510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867144" y="3877056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2 → valid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4242816"/>
            <a:ext cx="261518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37744" y="4306824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96B"/>
                </a:solidFill>
                <a:latin typeface="Nunito"/>
              </a:rPr>
              <a:t>calculate_cost – sessions ≤ 20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80360" y="4242816"/>
            <a:ext cx="188366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935224" y="4306824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19 → valid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846320" y="4242816"/>
            <a:ext cx="188366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901183" y="4306824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20 → valid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812280" y="4242816"/>
            <a:ext cx="197510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867144" y="4306824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21 → ValueError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2880" y="4672584"/>
            <a:ext cx="26151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37744" y="4736592"/>
            <a:ext cx="25237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00796B"/>
                </a:solidFill>
                <a:latin typeface="Nunito"/>
              </a:rPr>
              <a:t>calculate_cost</a:t>
            </a:r>
            <a:r>
              <a:rPr sz="1000" b="0" i="0" dirty="0">
                <a:solidFill>
                  <a:srgbClr val="00796B"/>
                </a:solidFill>
                <a:latin typeface="Nunito"/>
              </a:rPr>
              <a:t> – </a:t>
            </a:r>
            <a:r>
              <a:rPr lang="en-US" sz="1000" b="0" i="0" dirty="0" smtClean="0">
                <a:solidFill>
                  <a:srgbClr val="00796B"/>
                </a:solidFill>
                <a:latin typeface="Nunito"/>
              </a:rPr>
              <a:t>sessions </a:t>
            </a:r>
            <a:r>
              <a:rPr sz="1000" b="0" i="0" dirty="0" smtClean="0">
                <a:solidFill>
                  <a:srgbClr val="00796B"/>
                </a:solidFill>
                <a:latin typeface="Nunito"/>
              </a:rPr>
              <a:t>≥ </a:t>
            </a:r>
            <a:r>
              <a:rPr sz="1000" b="0" i="0" dirty="0">
                <a:solidFill>
                  <a:srgbClr val="00796B"/>
                </a:solidFill>
                <a:latin typeface="Nunito"/>
              </a:rPr>
              <a:t>10 </a:t>
            </a:r>
            <a:r>
              <a:rPr lang="en-US" sz="1000" b="0" i="0" dirty="0" smtClean="0">
                <a:solidFill>
                  <a:srgbClr val="00796B"/>
                </a:solidFill>
                <a:latin typeface="Nunito"/>
              </a:rPr>
              <a:t>(discount)</a:t>
            </a:r>
            <a:endParaRPr sz="1000" b="0" i="0" dirty="0">
              <a:solidFill>
                <a:srgbClr val="00796B"/>
              </a:solidFill>
              <a:latin typeface="Nunito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2880360" y="4672584"/>
            <a:ext cx="188366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935224" y="4736592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9 → fără disc.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846320" y="4672584"/>
            <a:ext cx="188366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901183" y="4736592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10 → −10%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812280" y="4672584"/>
            <a:ext cx="197510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867144" y="4736592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11 → −10%</a:t>
            </a:r>
          </a:p>
        </p:txBody>
      </p:sp>
    </p:spTree>
    <p:extLst>
      <p:ext uri="{BB962C8B-B14F-4D97-AF65-F5344CB8AC3E}">
        <p14:creationId xmlns:p14="http://schemas.microsoft.com/office/powerpoint/2010/main" val="321186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 dirty="0" err="1">
                <a:solidFill>
                  <a:srgbClr val="FFFFFF"/>
                </a:solidFill>
                <a:latin typeface="Nunito"/>
              </a:rPr>
              <a:t>Strategiile</a:t>
            </a:r>
            <a:r>
              <a:rPr sz="2200" b="1" i="0" dirty="0">
                <a:solidFill>
                  <a:srgbClr val="FFFFFF"/>
                </a:solidFill>
                <a:latin typeface="Nunito"/>
              </a:rPr>
              <a:t> 3–4 </a:t>
            </a:r>
            <a:r>
              <a:rPr sz="2200" b="1" dirty="0">
                <a:solidFill>
                  <a:srgbClr val="FFFFFF"/>
                </a:solidFill>
                <a:latin typeface="Nunito"/>
              </a:rPr>
              <a:t>– </a:t>
            </a:r>
            <a:r>
              <a:rPr lang="en-US" sz="2200" b="1" dirty="0">
                <a:solidFill>
                  <a:srgbClr val="FFFFFF"/>
                </a:solidFill>
                <a:latin typeface="Nunito"/>
              </a:rPr>
              <a:t>Statement &amp; Decision Coverage</a:t>
            </a:r>
            <a:endParaRPr sz="2200" b="1" dirty="0">
              <a:solidFill>
                <a:srgbClr val="FFFFFF"/>
              </a:solidFill>
              <a:latin typeface="Nunit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D6E4E3"/>
                </a:solidFill>
                <a:latin typeface="Nunito"/>
              </a:rPr>
              <a:t>test_coverage.py  |  </a:t>
            </a:r>
            <a:r>
              <a:rPr sz="1100" b="0" i="1" dirty="0" err="1">
                <a:solidFill>
                  <a:srgbClr val="D6E4E3"/>
                </a:solidFill>
                <a:latin typeface="Nunito"/>
              </a:rPr>
              <a:t>TestStatementCoverage</a:t>
            </a:r>
            <a:r>
              <a:rPr sz="1100" b="0" i="1" dirty="0">
                <a:solidFill>
                  <a:srgbClr val="D6E4E3"/>
                </a:solidFill>
                <a:latin typeface="Nunito"/>
              </a:rPr>
              <a:t> + </a:t>
            </a:r>
            <a:r>
              <a:rPr sz="1100" b="0" i="1" dirty="0" err="1">
                <a:solidFill>
                  <a:srgbClr val="D6E4E3"/>
                </a:solidFill>
                <a:latin typeface="Nunito"/>
              </a:rPr>
              <a:t>TestDecisionCoverage</a:t>
            </a:r>
            <a:endParaRPr sz="1100" b="0" i="1" dirty="0">
              <a:solidFill>
                <a:srgbClr val="D6E4E3"/>
              </a:solidFill>
              <a:latin typeface="Nuni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2880" y="987552"/>
            <a:ext cx="4297680" cy="4114800"/>
          </a:xfrm>
          <a:prstGeom prst="rect">
            <a:avLst/>
          </a:prstGeom>
          <a:solidFill>
            <a:srgbClr val="F0F4F4"/>
          </a:solidFill>
          <a:ln w="127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987552"/>
            <a:ext cx="4297680" cy="3657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024128"/>
            <a:ext cx="4023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FFFFF"/>
                </a:solidFill>
                <a:latin typeface="Nunito"/>
              </a:rPr>
              <a:t>Acoperire</a:t>
            </a:r>
            <a:r>
              <a:rPr sz="1300" b="1" i="0" dirty="0">
                <a:solidFill>
                  <a:srgbClr val="FFFFFF"/>
                </a:solidFill>
                <a:latin typeface="Nunito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Nunito"/>
              </a:rPr>
              <a:t>Instrucțiuni</a:t>
            </a:r>
            <a:r>
              <a:rPr sz="1300" b="1" i="0" dirty="0">
                <a:solidFill>
                  <a:srgbClr val="FFFFFF"/>
                </a:solidFill>
                <a:latin typeface="Nunito"/>
              </a:rPr>
              <a:t> (</a:t>
            </a:r>
            <a:r>
              <a:rPr sz="1300" b="1" i="0" dirty="0" smtClean="0">
                <a:solidFill>
                  <a:srgbClr val="FFFFFF"/>
                </a:solidFill>
                <a:latin typeface="Nunito"/>
              </a:rPr>
              <a:t>Statement</a:t>
            </a:r>
            <a:r>
              <a:rPr lang="ro-RO" sz="1300" b="1" i="0" dirty="0" smtClean="0">
                <a:solidFill>
                  <a:srgbClr val="FFFFFF"/>
                </a:solidFill>
                <a:latin typeface="Nunito"/>
              </a:rPr>
              <a:t> Coverage</a:t>
            </a:r>
            <a:r>
              <a:rPr sz="1300" b="1" i="0" dirty="0" smtClean="0">
                <a:solidFill>
                  <a:srgbClr val="FFFFFF"/>
                </a:solidFill>
                <a:latin typeface="Nunito"/>
              </a:rPr>
              <a:t>)</a:t>
            </a:r>
            <a:endParaRPr sz="1300" b="1" i="0" dirty="0">
              <a:solidFill>
                <a:srgbClr val="FFFFFF"/>
              </a:solidFill>
              <a:latin typeface="Nunit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" y="1426464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Nunito"/>
              </a:rPr>
              <a:t>Fiecare instrucțiune executată ≥1 dată.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28216"/>
            <a:ext cx="4069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 dirty="0">
                <a:solidFill>
                  <a:srgbClr val="233A44"/>
                </a:solidFill>
                <a:latin typeface="Nunito"/>
              </a:rPr>
              <a:t>✓  __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init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__:</a:t>
            </a:r>
            <a:r>
              <a:rPr lang="ro-RO" sz="1000" b="0" i="0" dirty="0" smtClean="0">
                <a:solidFill>
                  <a:srgbClr val="233A44"/>
                </a:solidFill>
                <a:latin typeface="Nunito"/>
              </a:rPr>
              <a:t> </a:t>
            </a:r>
            <a:r>
              <a:rPr lang="vi-VN" sz="1000" dirty="0" smtClean="0">
                <a:solidFill>
                  <a:srgbClr val="233A44"/>
                </a:solidFill>
                <a:latin typeface="Nunito"/>
              </a:rPr>
              <a:t>Calea </a:t>
            </a:r>
            <a:r>
              <a:rPr lang="vi-VN" sz="1000" dirty="0">
                <a:solidFill>
                  <a:srgbClr val="233A44"/>
                </a:solidFill>
                <a:latin typeface="Nunito"/>
              </a:rPr>
              <a:t>validă (toate assignment-urile) + câte un test pentru fiecare dintre cele 4 ramuri de eroare (ValueError)</a:t>
            </a:r>
            <a:endParaRPr sz="1000" b="0" i="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2116931"/>
            <a:ext cx="4069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 dirty="0">
                <a:solidFill>
                  <a:srgbClr val="233A44"/>
                </a:solidFill>
                <a:latin typeface="Nunito"/>
              </a:rPr>
              <a:t>✓  </a:t>
            </a:r>
            <a:r>
              <a:rPr sz="1000" b="0" i="0" dirty="0" err="1" smtClean="0">
                <a:solidFill>
                  <a:srgbClr val="233A44"/>
                </a:solidFill>
                <a:latin typeface="Nunito"/>
              </a:rPr>
              <a:t>book_spot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:</a:t>
            </a:r>
            <a:r>
              <a:rPr lang="ro-RO" sz="1000" b="0" i="0" dirty="0" smtClean="0">
                <a:solidFill>
                  <a:srgbClr val="233A44"/>
                </a:solidFill>
                <a:latin typeface="Nunito"/>
              </a:rPr>
              <a:t> </a:t>
            </a:r>
            <a:r>
              <a:rPr lang="vi-VN" sz="1000" dirty="0" smtClean="0">
                <a:solidFill>
                  <a:srgbClr val="233A44"/>
                </a:solidFill>
                <a:latin typeface="Nunito"/>
              </a:rPr>
              <a:t>ValueError </a:t>
            </a:r>
            <a:r>
              <a:rPr lang="vi-VN" sz="1000" dirty="0">
                <a:solidFill>
                  <a:srgbClr val="233A44"/>
                </a:solidFill>
                <a:latin typeface="Nunito"/>
              </a:rPr>
              <a:t>(client invalid) + "confirmed" (loc liber) + "waitlist" (sală plină) + "rejected" (waitlist plin)</a:t>
            </a:r>
            <a:endParaRPr sz="1000" b="0" i="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040" y="2551175"/>
            <a:ext cx="4069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 dirty="0">
                <a:solidFill>
                  <a:srgbClr val="233A44"/>
                </a:solidFill>
                <a:latin typeface="Nunito"/>
              </a:rPr>
              <a:t>✓  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cancel_booking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: </a:t>
            </a:r>
            <a:r>
              <a:rPr lang="vi-VN" sz="1000" dirty="0">
                <a:solidFill>
                  <a:srgbClr val="233A44"/>
                </a:solidFill>
                <a:latin typeface="Nunito"/>
              </a:rPr>
              <a:t>True fără promovare + True cu promovare din waitlist + False (client negăsit)</a:t>
            </a:r>
            <a:endParaRPr sz="1000" b="0" i="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0040" y="2955131"/>
            <a:ext cx="4069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 dirty="0">
                <a:solidFill>
                  <a:srgbClr val="233A44"/>
                </a:solidFill>
                <a:latin typeface="Nunito"/>
              </a:rPr>
              <a:t>✓  </a:t>
            </a:r>
            <a:r>
              <a:rPr sz="1000" b="0" i="0" dirty="0" err="1" smtClean="0">
                <a:solidFill>
                  <a:srgbClr val="233A44"/>
                </a:solidFill>
                <a:latin typeface="Nunito"/>
              </a:rPr>
              <a:t>calculate_cost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:</a:t>
            </a:r>
            <a:r>
              <a:rPr lang="ro-RO" sz="1000" b="0" i="0" dirty="0" smtClean="0">
                <a:solidFill>
                  <a:srgbClr val="233A44"/>
                </a:solidFill>
                <a:latin typeface="Nunito"/>
              </a:rPr>
              <a:t> </a:t>
            </a:r>
            <a:r>
              <a:rPr lang="en-US" sz="1000" dirty="0" err="1" smtClean="0">
                <a:solidFill>
                  <a:srgbClr val="233A44"/>
                </a:solidFill>
                <a:latin typeface="Nunito"/>
              </a:rPr>
              <a:t>ValueError</a:t>
            </a:r>
            <a:r>
              <a:rPr lang="en-US" sz="1000" dirty="0" smtClean="0">
                <a:solidFill>
                  <a:srgbClr val="233A44"/>
                </a:solidFill>
                <a:latin typeface="Nunito"/>
              </a:rPr>
              <a:t> </a:t>
            </a:r>
            <a:r>
              <a:rPr lang="en-US" sz="1000" dirty="0">
                <a:solidFill>
                  <a:srgbClr val="233A44"/>
                </a:solidFill>
                <a:latin typeface="Nunito"/>
              </a:rPr>
              <a:t>(sessions invalid) + cost </a:t>
            </a:r>
            <a:r>
              <a:rPr lang="en-US" sz="1000" dirty="0" err="1">
                <a:solidFill>
                  <a:srgbClr val="233A44"/>
                </a:solidFill>
                <a:latin typeface="Nunito"/>
              </a:rPr>
              <a:t>fără</a:t>
            </a:r>
            <a:r>
              <a:rPr lang="en-US" sz="1000" dirty="0">
                <a:solidFill>
                  <a:srgbClr val="233A44"/>
                </a:solidFill>
                <a:latin typeface="Nunito"/>
              </a:rPr>
              <a:t> discount + discount membership + discount </a:t>
            </a:r>
            <a:r>
              <a:rPr lang="en-US" sz="1000" dirty="0" err="1">
                <a:solidFill>
                  <a:srgbClr val="233A44"/>
                </a:solidFill>
                <a:latin typeface="Nunito"/>
              </a:rPr>
              <a:t>volum</a:t>
            </a:r>
            <a:endParaRPr sz="1000" b="0" i="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82880" y="4617720"/>
            <a:ext cx="4297680" cy="3840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8600" y="4672584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Nunito"/>
              </a:rPr>
              <a:t>Rezultat: 100% statement coverage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987552"/>
            <a:ext cx="4297680" cy="4114800"/>
          </a:xfrm>
          <a:prstGeom prst="rect">
            <a:avLst/>
          </a:prstGeom>
          <a:solidFill>
            <a:srgbClr val="F0F4F4"/>
          </a:solidFill>
          <a:ln w="12700">
            <a:solidFill>
              <a:srgbClr val="C4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63440" y="987552"/>
            <a:ext cx="4297680" cy="36576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00600" y="1024128"/>
            <a:ext cx="4023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FFFFF"/>
                </a:solidFill>
                <a:latin typeface="Nunito"/>
              </a:rPr>
              <a:t>Acoperire</a:t>
            </a:r>
            <a:r>
              <a:rPr sz="1300" b="1" i="0" dirty="0">
                <a:solidFill>
                  <a:srgbClr val="FFFFFF"/>
                </a:solidFill>
                <a:latin typeface="Nunito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Nunito"/>
              </a:rPr>
              <a:t>Decizii</a:t>
            </a:r>
            <a:r>
              <a:rPr sz="1300" b="1" i="0" dirty="0">
                <a:solidFill>
                  <a:srgbClr val="FFFFFF"/>
                </a:solidFill>
                <a:latin typeface="Nunito"/>
              </a:rPr>
              <a:t> (</a:t>
            </a:r>
            <a:r>
              <a:rPr sz="1300" b="1" i="0" dirty="0" smtClean="0">
                <a:solidFill>
                  <a:srgbClr val="FFFFFF"/>
                </a:solidFill>
                <a:latin typeface="Nunito"/>
              </a:rPr>
              <a:t>Decision</a:t>
            </a:r>
            <a:r>
              <a:rPr lang="ro-RO" sz="1300" b="1" i="0" dirty="0" smtClean="0">
                <a:solidFill>
                  <a:srgbClr val="FFFFFF"/>
                </a:solidFill>
                <a:latin typeface="Nunito"/>
              </a:rPr>
              <a:t> Coverage</a:t>
            </a:r>
            <a:r>
              <a:rPr sz="1300" b="1" i="0" dirty="0" smtClean="0">
                <a:solidFill>
                  <a:srgbClr val="FFFFFF"/>
                </a:solidFill>
                <a:latin typeface="Nunito"/>
              </a:rPr>
              <a:t>)</a:t>
            </a:r>
            <a:endParaRPr sz="1300" b="1" i="0" dirty="0">
              <a:solidFill>
                <a:srgbClr val="FFFFFF"/>
              </a:solidFill>
              <a:latin typeface="Nunito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00600" y="1426464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Nunito"/>
              </a:rPr>
              <a:t>Fiecare ramură if/elif/else testată True și False.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1728216"/>
            <a:ext cx="658368" cy="256032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36592" y="1764792"/>
            <a:ext cx="6035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D1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3248" y="176479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validare client_name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60" y="2057400"/>
            <a:ext cx="658368" cy="256032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36592" y="2093976"/>
            <a:ext cx="6035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D2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3248" y="209397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booked_spots &lt; max_spots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9160" y="2386584"/>
            <a:ext cx="658368" cy="256032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36592" y="2423160"/>
            <a:ext cx="6035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D3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3248" y="242316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len(waitlist) &lt; 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60" y="2715768"/>
            <a:ext cx="658368" cy="256032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36592" y="2752344"/>
            <a:ext cx="6035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D4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13248" y="275234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name in _confirmed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09160" y="3044951"/>
            <a:ext cx="658368" cy="256032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36592" y="3081527"/>
            <a:ext cx="6035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D5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13248" y="3081527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if self.waitlist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09160" y="3374135"/>
            <a:ext cx="658368" cy="256032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36592" y="3410711"/>
            <a:ext cx="6035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D6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13248" y="3410711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name in waitlist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09160" y="3703320"/>
            <a:ext cx="658368" cy="256032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736592" y="3739896"/>
            <a:ext cx="6035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D7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13248" y="373989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has_membership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09160" y="4032504"/>
            <a:ext cx="658368" cy="256032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736592" y="4069080"/>
            <a:ext cx="6035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D8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13248" y="406908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sessions &gt;= 10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63440" y="4617720"/>
            <a:ext cx="4297680" cy="384048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709160" y="4672584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Nunito"/>
              </a:rPr>
              <a:t>Rezultat: 100% decision coverage</a:t>
            </a:r>
          </a:p>
        </p:txBody>
      </p:sp>
    </p:spTree>
    <p:extLst>
      <p:ext uri="{BB962C8B-B14F-4D97-AF65-F5344CB8AC3E}">
        <p14:creationId xmlns:p14="http://schemas.microsoft.com/office/powerpoint/2010/main" val="473713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94099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17443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Nunito"/>
              </a:rPr>
              <a:t>Strategia</a:t>
            </a:r>
            <a:r>
              <a:rPr sz="2200" b="1" i="0" dirty="0">
                <a:solidFill>
                  <a:srgbClr val="FFFFFF"/>
                </a:solidFill>
                <a:latin typeface="Nunito"/>
              </a:rPr>
              <a:t> 5 – </a:t>
            </a:r>
            <a:r>
              <a:rPr sz="2200" b="1" i="0" dirty="0" err="1">
                <a:solidFill>
                  <a:srgbClr val="FFFFFF"/>
                </a:solidFill>
                <a:latin typeface="Nunito"/>
              </a:rPr>
              <a:t>Acoperire</a:t>
            </a:r>
            <a:r>
              <a:rPr sz="2200" b="1" i="0" dirty="0">
                <a:solidFill>
                  <a:srgbClr val="FFFFFF"/>
                </a:solidFill>
                <a:latin typeface="Nunito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Nunito"/>
              </a:rPr>
              <a:t>Condiții</a:t>
            </a:r>
            <a:r>
              <a:rPr sz="2200" b="1" i="0" dirty="0">
                <a:solidFill>
                  <a:srgbClr val="FFFFFF"/>
                </a:solidFill>
                <a:latin typeface="Nunito"/>
              </a:rPr>
              <a:t> (Condition Coverage)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40531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D6E4E3"/>
                </a:solidFill>
                <a:latin typeface="Nunito"/>
              </a:rPr>
              <a:t>test_coverage.py  |  </a:t>
            </a:r>
            <a:r>
              <a:rPr sz="1100" b="0" i="1" dirty="0" err="1">
                <a:solidFill>
                  <a:srgbClr val="D6E4E3"/>
                </a:solidFill>
                <a:latin typeface="Nunito"/>
              </a:rPr>
              <a:t>TestConditionCoverage</a:t>
            </a:r>
            <a:endParaRPr sz="1100" b="0" i="1" dirty="0">
              <a:solidFill>
                <a:srgbClr val="D6E4E3"/>
              </a:solidFill>
              <a:latin typeface="Nuni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1955" y="794099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 err="1">
                <a:solidFill>
                  <a:srgbClr val="999999"/>
                </a:solidFill>
                <a:latin typeface="Nunito"/>
              </a:rPr>
              <a:t>Principiu</a:t>
            </a:r>
            <a:r>
              <a:rPr sz="1000" b="0" i="1" dirty="0">
                <a:solidFill>
                  <a:srgbClr val="999999"/>
                </a:solidFill>
                <a:latin typeface="Nunito"/>
              </a:rPr>
              <a:t>: </a:t>
            </a:r>
            <a:r>
              <a:rPr sz="1000" b="0" i="1" dirty="0" err="1">
                <a:solidFill>
                  <a:srgbClr val="999999"/>
                </a:solidFill>
                <a:latin typeface="Nunito"/>
              </a:rPr>
              <a:t>fiecare</a:t>
            </a:r>
            <a:r>
              <a:rPr sz="1000" b="0" i="1" dirty="0">
                <a:solidFill>
                  <a:srgbClr val="999999"/>
                </a:solidFill>
                <a:latin typeface="Nunito"/>
              </a:rPr>
              <a:t> </a:t>
            </a:r>
            <a:r>
              <a:rPr sz="1000" b="0" i="1" dirty="0" err="1">
                <a:solidFill>
                  <a:srgbClr val="999999"/>
                </a:solidFill>
                <a:latin typeface="Nunito"/>
              </a:rPr>
              <a:t>condiție</a:t>
            </a:r>
            <a:r>
              <a:rPr sz="1000" b="0" i="1" dirty="0">
                <a:solidFill>
                  <a:srgbClr val="999999"/>
                </a:solidFill>
                <a:latin typeface="Nunito"/>
              </a:rPr>
              <a:t> </a:t>
            </a:r>
            <a:r>
              <a:rPr sz="1000" b="0" i="1" dirty="0" err="1">
                <a:solidFill>
                  <a:srgbClr val="999999"/>
                </a:solidFill>
                <a:latin typeface="Nunito"/>
              </a:rPr>
              <a:t>atomică</a:t>
            </a:r>
            <a:r>
              <a:rPr sz="1000" b="0" i="1" dirty="0">
                <a:solidFill>
                  <a:srgbClr val="999999"/>
                </a:solidFill>
                <a:latin typeface="Nunito"/>
              </a:rPr>
              <a:t> </a:t>
            </a:r>
            <a:r>
              <a:rPr sz="1000" b="0" i="1" dirty="0" err="1">
                <a:solidFill>
                  <a:srgbClr val="999999"/>
                </a:solidFill>
                <a:latin typeface="Nunito"/>
              </a:rPr>
              <a:t>dintr</a:t>
            </a:r>
            <a:r>
              <a:rPr sz="1000" b="0" i="1" dirty="0">
                <a:solidFill>
                  <a:srgbClr val="999999"/>
                </a:solidFill>
                <a:latin typeface="Nunito"/>
              </a:rPr>
              <a:t>-o </a:t>
            </a:r>
            <a:r>
              <a:rPr sz="1000" b="0" i="1" dirty="0" err="1">
                <a:solidFill>
                  <a:srgbClr val="999999"/>
                </a:solidFill>
                <a:latin typeface="Nunito"/>
              </a:rPr>
              <a:t>decizie</a:t>
            </a:r>
            <a:r>
              <a:rPr sz="1000" b="0" i="1" dirty="0">
                <a:solidFill>
                  <a:srgbClr val="999999"/>
                </a:solidFill>
                <a:latin typeface="Nunito"/>
              </a:rPr>
              <a:t> </a:t>
            </a:r>
            <a:r>
              <a:rPr sz="1000" b="0" i="1" dirty="0" err="1">
                <a:solidFill>
                  <a:srgbClr val="999999"/>
                </a:solidFill>
                <a:latin typeface="Nunito"/>
              </a:rPr>
              <a:t>compusă</a:t>
            </a:r>
            <a:r>
              <a:rPr sz="1000" b="0" i="1" dirty="0">
                <a:solidFill>
                  <a:srgbClr val="999999"/>
                </a:solidFill>
                <a:latin typeface="Nunito"/>
              </a:rPr>
              <a:t> (OR/AND) </a:t>
            </a:r>
            <a:r>
              <a:rPr sz="1000" b="0" i="1" dirty="0" err="1">
                <a:solidFill>
                  <a:srgbClr val="999999"/>
                </a:solidFill>
                <a:latin typeface="Nunito"/>
              </a:rPr>
              <a:t>evaluată</a:t>
            </a:r>
            <a:r>
              <a:rPr sz="1000" b="0" i="1" dirty="0">
                <a:solidFill>
                  <a:srgbClr val="999999"/>
                </a:solidFill>
                <a:latin typeface="Nunito"/>
              </a:rPr>
              <a:t> </a:t>
            </a:r>
            <a:r>
              <a:rPr sz="1000" b="0" i="1" dirty="0" err="1">
                <a:solidFill>
                  <a:srgbClr val="999999"/>
                </a:solidFill>
                <a:latin typeface="Nunito"/>
              </a:rPr>
              <a:t>atât</a:t>
            </a:r>
            <a:r>
              <a:rPr sz="1000" b="0" i="1" dirty="0">
                <a:solidFill>
                  <a:srgbClr val="999999"/>
                </a:solidFill>
                <a:latin typeface="Nunito"/>
              </a:rPr>
              <a:t> True </a:t>
            </a:r>
            <a:r>
              <a:rPr sz="1000" b="0" i="1" dirty="0" err="1">
                <a:solidFill>
                  <a:srgbClr val="999999"/>
                </a:solidFill>
                <a:latin typeface="Nunito"/>
              </a:rPr>
              <a:t>cât</a:t>
            </a:r>
            <a:r>
              <a:rPr sz="1000" b="0" i="1" dirty="0">
                <a:solidFill>
                  <a:srgbClr val="999999"/>
                </a:solidFill>
                <a:latin typeface="Nunito"/>
              </a:rPr>
              <a:t> </a:t>
            </a:r>
            <a:r>
              <a:rPr sz="1000" b="0" i="1" dirty="0" err="1">
                <a:solidFill>
                  <a:srgbClr val="999999"/>
                </a:solidFill>
                <a:latin typeface="Nunito"/>
              </a:rPr>
              <a:t>și</a:t>
            </a:r>
            <a:r>
              <a:rPr sz="1000" b="0" i="1" dirty="0">
                <a:solidFill>
                  <a:srgbClr val="999999"/>
                </a:solidFill>
                <a:latin typeface="Nunito"/>
              </a:rPr>
              <a:t> False, independent de </a:t>
            </a:r>
            <a:r>
              <a:rPr sz="1000" b="0" i="1" dirty="0" err="1">
                <a:solidFill>
                  <a:srgbClr val="999999"/>
                </a:solidFill>
                <a:latin typeface="Nunito"/>
              </a:rPr>
              <a:t>celelalte</a:t>
            </a:r>
            <a:r>
              <a:rPr sz="1000" b="0" i="1" dirty="0">
                <a:solidFill>
                  <a:srgbClr val="999999"/>
                </a:solidFill>
                <a:latin typeface="Nunito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44620"/>
            <a:ext cx="8686800" cy="170688"/>
          </a:xfrm>
          <a:prstGeom prst="rect">
            <a:avLst/>
          </a:prstGeom>
          <a:solidFill>
            <a:srgbClr val="D95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117188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Nunito"/>
              </a:rPr>
              <a:t>__</a:t>
            </a:r>
            <a:r>
              <a:rPr sz="1100" b="1" i="0" dirty="0" err="1">
                <a:solidFill>
                  <a:srgbClr val="FFFFFF"/>
                </a:solidFill>
                <a:latin typeface="Nunito"/>
              </a:rPr>
              <a:t>init</a:t>
            </a:r>
            <a:r>
              <a:rPr sz="1100" b="1" i="0" dirty="0">
                <a:solidFill>
                  <a:srgbClr val="FFFFFF"/>
                </a:solidFill>
                <a:latin typeface="Nunito"/>
              </a:rPr>
              <a:t>__ – instructor  (OR cu 3 </a:t>
            </a:r>
            <a:r>
              <a:rPr sz="1100" b="1" i="0" dirty="0" err="1">
                <a:solidFill>
                  <a:srgbClr val="FFFFFF"/>
                </a:solidFill>
                <a:latin typeface="Nunito"/>
              </a:rPr>
              <a:t>atomi</a:t>
            </a:r>
            <a:r>
              <a:rPr sz="1100" b="1" i="0" dirty="0">
                <a:solidFill>
                  <a:srgbClr val="FFFFFF"/>
                </a:solidFill>
                <a:latin typeface="Nunito"/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321403"/>
            <a:ext cx="1243584" cy="301752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7744" y="1367123"/>
            <a:ext cx="11521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 smtClean="0">
                <a:solidFill>
                  <a:srgbClr val="FFFFFF"/>
                </a:solidFill>
                <a:latin typeface="Nunito"/>
              </a:rPr>
              <a:t>ID</a:t>
            </a:r>
            <a:r>
              <a:rPr lang="en-US" sz="1000" b="1" i="0" dirty="0" smtClean="0">
                <a:solidFill>
                  <a:srgbClr val="FFFFFF"/>
                </a:solidFill>
                <a:latin typeface="Nunito"/>
              </a:rPr>
              <a:t> </a:t>
            </a:r>
            <a:r>
              <a:rPr lang="en-US" sz="1000" b="1" i="0" dirty="0" err="1" smtClean="0">
                <a:solidFill>
                  <a:srgbClr val="FFFFFF"/>
                </a:solidFill>
                <a:latin typeface="Nunito"/>
              </a:rPr>
              <a:t>condi</a:t>
            </a:r>
            <a:r>
              <a:rPr lang="ro-RO" sz="1000" b="1" i="0" dirty="0" smtClean="0">
                <a:solidFill>
                  <a:srgbClr val="FFFFFF"/>
                </a:solidFill>
                <a:latin typeface="Nunito"/>
              </a:rPr>
              <a:t>ț</a:t>
            </a:r>
            <a:r>
              <a:rPr lang="en-US" sz="1000" b="1" i="0" dirty="0" err="1" smtClean="0">
                <a:solidFill>
                  <a:srgbClr val="FFFFFF"/>
                </a:solidFill>
                <a:latin typeface="Nunito"/>
              </a:rPr>
              <a:t>ie</a:t>
            </a:r>
            <a:endParaRPr sz="1000" b="1" i="0" dirty="0">
              <a:solidFill>
                <a:srgbClr val="FFFFFF"/>
              </a:solidFill>
              <a:latin typeface="Nunito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08760" y="1321403"/>
            <a:ext cx="2432304" cy="301752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63624" y="1367123"/>
            <a:ext cx="234086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Condiție atomică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1321403"/>
            <a:ext cx="2157984" cy="301752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78224" y="1367123"/>
            <a:ext cx="2066543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True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321403"/>
            <a:ext cx="2157984" cy="301752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18503" y="1367123"/>
            <a:ext cx="20665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 smtClean="0">
                <a:solidFill>
                  <a:srgbClr val="FFFFFF"/>
                </a:solidFill>
                <a:latin typeface="Nunito"/>
              </a:rPr>
              <a:t>False</a:t>
            </a:r>
            <a:endParaRPr sz="1000" b="1" i="0" dirty="0">
              <a:solidFill>
                <a:srgbClr val="FFFFFF"/>
              </a:solidFill>
              <a:latin typeface="Nunito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82880" y="1623155"/>
            <a:ext cx="124358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7744" y="1687163"/>
            <a:ext cx="12710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00796B"/>
                </a:solidFill>
                <a:latin typeface="Nunito"/>
              </a:rPr>
              <a:t>C_instr_isinstance</a:t>
            </a:r>
            <a:endParaRPr sz="1000" b="0" i="0" dirty="0">
              <a:solidFill>
                <a:srgbClr val="00796B"/>
              </a:solidFill>
              <a:latin typeface="Nunito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508760" y="1623155"/>
            <a:ext cx="243230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63624" y="1687163"/>
            <a:ext cx="23408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33A44"/>
                </a:solidFill>
                <a:latin typeface="Nunito"/>
              </a:rPr>
              <a:t>not </a:t>
            </a:r>
            <a:r>
              <a:rPr sz="1000" b="0" i="0" dirty="0" err="1" smtClean="0">
                <a:solidFill>
                  <a:srgbClr val="233A44"/>
                </a:solidFill>
                <a:latin typeface="Nunito"/>
              </a:rPr>
              <a:t>isinstance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(</a:t>
            </a:r>
            <a:r>
              <a:rPr sz="1000" b="0" i="0" dirty="0" err="1" smtClean="0">
                <a:solidFill>
                  <a:srgbClr val="233A44"/>
                </a:solidFill>
                <a:latin typeface="Nunito"/>
              </a:rPr>
              <a:t>instr</a:t>
            </a:r>
            <a:r>
              <a:rPr lang="ro-RO" sz="1000" b="0" i="0" dirty="0" smtClean="0">
                <a:solidFill>
                  <a:srgbClr val="233A44"/>
                </a:solidFill>
                <a:latin typeface="Nunito"/>
              </a:rPr>
              <a:t>uctor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, 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str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1623155"/>
            <a:ext cx="215798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78224" y="1687163"/>
            <a:ext cx="20665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smtClean="0">
                <a:solidFill>
                  <a:srgbClr val="233A44"/>
                </a:solidFill>
                <a:latin typeface="Nunito"/>
              </a:rPr>
              <a:t>123</a:t>
            </a:r>
            <a:r>
              <a:rPr lang="ro-RO" sz="1000" b="0" i="0" dirty="0" smtClean="0">
                <a:solidFill>
                  <a:srgbClr val="233A44"/>
                </a:solidFill>
                <a:latin typeface="Nunito"/>
              </a:rPr>
              <a:t> (int)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 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→ 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ValueError</a:t>
            </a:r>
            <a:endParaRPr sz="1000" b="0" i="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63640" y="1623155"/>
            <a:ext cx="215798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18503" y="1687163"/>
            <a:ext cx="20665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smtClean="0">
                <a:solidFill>
                  <a:srgbClr val="233A44"/>
                </a:solidFill>
                <a:latin typeface="Nunito"/>
              </a:rPr>
              <a:t>"</a:t>
            </a:r>
            <a:r>
              <a:rPr lang="en-US" sz="1000" dirty="0">
                <a:solidFill>
                  <a:srgbClr val="233A44"/>
                </a:solidFill>
                <a:latin typeface="Nunito"/>
              </a:rPr>
              <a:t>Ana Pop"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→ 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continuă</a:t>
            </a:r>
            <a:endParaRPr sz="1000" b="0" i="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82880" y="1970627"/>
            <a:ext cx="12435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7744" y="2034635"/>
            <a:ext cx="11521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96B"/>
                </a:solidFill>
                <a:latin typeface="Nunito"/>
              </a:rPr>
              <a:t>C_instr_empty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08760" y="1970627"/>
            <a:ext cx="243230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63624" y="2034635"/>
            <a:ext cx="2340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not instructor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0" y="1970627"/>
            <a:ext cx="21579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078224" y="2034635"/>
            <a:ext cx="20665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o-RO" sz="1000" b="0" i="0" dirty="0" smtClean="0">
                <a:solidFill>
                  <a:srgbClr val="233A44"/>
                </a:solidFill>
                <a:latin typeface="Nunito"/>
              </a:rPr>
              <a:t>”</a:t>
            </a:r>
            <a:r>
              <a:rPr lang="ro-RO" sz="1000" dirty="0">
                <a:solidFill>
                  <a:srgbClr val="233A44"/>
                </a:solidFill>
                <a:latin typeface="Nunito"/>
              </a:rPr>
              <a:t>”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 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→ 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ValueError</a:t>
            </a:r>
            <a:endParaRPr sz="1000" b="0" i="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263640" y="1970627"/>
            <a:ext cx="21579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18503" y="2034635"/>
            <a:ext cx="20665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233A44"/>
                </a:solidFill>
                <a:latin typeface="Nunito"/>
              </a:rPr>
              <a:t>"Ana Pop" 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→ 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continuă</a:t>
            </a:r>
            <a:endParaRPr sz="1000" b="0" i="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82880" y="2318099"/>
            <a:ext cx="124358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7744" y="2382106"/>
            <a:ext cx="11521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96B"/>
                </a:solidFill>
                <a:latin typeface="Nunito"/>
              </a:rPr>
              <a:t>C_instr_strip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08760" y="2318099"/>
            <a:ext cx="243230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563624" y="2382106"/>
            <a:ext cx="2340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not instructor.strip()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23360" y="2318099"/>
            <a:ext cx="215798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078224" y="2382106"/>
            <a:ext cx="20665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o-RO" sz="1000" b="0" i="0" dirty="0" smtClean="0">
                <a:solidFill>
                  <a:srgbClr val="233A44"/>
                </a:solidFill>
                <a:latin typeface="Nunito"/>
              </a:rPr>
              <a:t>” ”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→ 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ValueError</a:t>
            </a:r>
            <a:endParaRPr sz="1000" b="0" i="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263640" y="2318099"/>
            <a:ext cx="215798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18503" y="2382106"/>
            <a:ext cx="20665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233A44"/>
                </a:solidFill>
                <a:latin typeface="Nunito"/>
              </a:rPr>
              <a:t>"Ana Pop" 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→ 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valid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676334"/>
            <a:ext cx="8686800" cy="202597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4320" y="2641188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Nunito"/>
              </a:rPr>
              <a:t>__init__ – max_spots  (OR cu 4 atomi)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" y="2885027"/>
            <a:ext cx="1243584" cy="301752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37744" y="3657599"/>
            <a:ext cx="1152143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08760" y="2885027"/>
            <a:ext cx="2432304" cy="301752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563624" y="2930746"/>
            <a:ext cx="234086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Condiție atomică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23360" y="2885027"/>
            <a:ext cx="2157984" cy="301752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078224" y="2930746"/>
            <a:ext cx="2066543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True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2885027"/>
            <a:ext cx="2157984" cy="301752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18503" y="2930746"/>
            <a:ext cx="20665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 err="1" smtClean="0">
                <a:solidFill>
                  <a:srgbClr val="FFFFFF"/>
                </a:solidFill>
                <a:latin typeface="Nunito"/>
              </a:rPr>
              <a:t>Fals</a:t>
            </a:r>
            <a:r>
              <a:rPr lang="ro-RO" sz="1000" b="1" i="0" dirty="0" smtClean="0">
                <a:solidFill>
                  <a:srgbClr val="FFFFFF"/>
                </a:solidFill>
                <a:latin typeface="Nunito"/>
              </a:rPr>
              <a:t>e</a:t>
            </a:r>
            <a:endParaRPr sz="1000" b="1" i="0" dirty="0">
              <a:solidFill>
                <a:srgbClr val="FFFFFF"/>
              </a:solidFill>
              <a:latin typeface="Nunito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82880" y="3186779"/>
            <a:ext cx="124358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52400" y="3250787"/>
            <a:ext cx="13563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 err="1">
                <a:solidFill>
                  <a:srgbClr val="00796B"/>
                </a:solidFill>
                <a:latin typeface="Nunito"/>
              </a:rPr>
              <a:t>C_init_isinstance_bool</a:t>
            </a:r>
            <a:endParaRPr sz="900" b="0" i="0" dirty="0">
              <a:solidFill>
                <a:srgbClr val="00796B"/>
              </a:solidFill>
              <a:latin typeface="Nunito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508760" y="3186779"/>
            <a:ext cx="243230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563624" y="3250787"/>
            <a:ext cx="2340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isinstance(max_spots, bool)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23360" y="3186779"/>
            <a:ext cx="215798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078224" y="3250787"/>
            <a:ext cx="20665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smtClean="0">
                <a:solidFill>
                  <a:srgbClr val="233A44"/>
                </a:solidFill>
                <a:latin typeface="Nunito"/>
              </a:rPr>
              <a:t>True </a:t>
            </a:r>
            <a:r>
              <a:rPr lang="ro-RO" sz="1000" b="0" i="0" dirty="0" smtClean="0">
                <a:solidFill>
                  <a:srgbClr val="233A44"/>
                </a:solidFill>
                <a:latin typeface="Nunito"/>
              </a:rPr>
              <a:t>(bool) 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→ 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ValueError</a:t>
            </a:r>
            <a:endParaRPr sz="1000" b="0" i="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6263640" y="3186779"/>
            <a:ext cx="215798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18503" y="3250787"/>
            <a:ext cx="20665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smtClean="0">
                <a:solidFill>
                  <a:srgbClr val="233A44"/>
                </a:solidFill>
                <a:latin typeface="Nunito"/>
              </a:rPr>
              <a:t>5</a:t>
            </a:r>
            <a:r>
              <a:rPr lang="ro-RO" sz="1000" b="0" i="0" dirty="0" smtClean="0">
                <a:solidFill>
                  <a:srgbClr val="233A44"/>
                </a:solidFill>
                <a:latin typeface="Nunito"/>
              </a:rPr>
              <a:t> (int)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 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→ 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continuă</a:t>
            </a:r>
            <a:endParaRPr sz="1000" b="0" i="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82880" y="3534251"/>
            <a:ext cx="12435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01373" y="3598334"/>
            <a:ext cx="1295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 err="1" smtClean="0">
                <a:solidFill>
                  <a:srgbClr val="00796B"/>
                </a:solidFill>
                <a:latin typeface="Nunito"/>
              </a:rPr>
              <a:t>C_init_isinstance_int</a:t>
            </a:r>
            <a:endParaRPr sz="900" b="0" i="0" dirty="0">
              <a:solidFill>
                <a:srgbClr val="00796B"/>
              </a:solidFill>
              <a:latin typeface="Nunito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508760" y="3534251"/>
            <a:ext cx="243230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563624" y="3598259"/>
            <a:ext cx="2340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not isinstance(max_spots,int)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23360" y="3534251"/>
            <a:ext cx="21579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078224" y="3598259"/>
            <a:ext cx="20665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smtClean="0">
                <a:solidFill>
                  <a:srgbClr val="233A44"/>
                </a:solidFill>
                <a:latin typeface="Nunito"/>
              </a:rPr>
              <a:t>1.0 </a:t>
            </a:r>
            <a:r>
              <a:rPr lang="ro-RO" sz="1000" b="0" i="0" dirty="0" smtClean="0">
                <a:solidFill>
                  <a:srgbClr val="233A44"/>
                </a:solidFill>
                <a:latin typeface="Nunito"/>
              </a:rPr>
              <a:t>(float) 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→ 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ValueError</a:t>
            </a:r>
            <a:endParaRPr sz="1000" b="0" i="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263640" y="3534251"/>
            <a:ext cx="21579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18503" y="3598259"/>
            <a:ext cx="20665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smtClean="0">
                <a:solidFill>
                  <a:srgbClr val="233A44"/>
                </a:solidFill>
                <a:latin typeface="Nunito"/>
              </a:rPr>
              <a:t>5</a:t>
            </a:r>
            <a:r>
              <a:rPr lang="ro-RO" sz="1000" b="0" i="0" dirty="0" smtClean="0">
                <a:solidFill>
                  <a:srgbClr val="233A44"/>
                </a:solidFill>
                <a:latin typeface="Nunito"/>
              </a:rPr>
              <a:t> (int)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 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→ 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continuă</a:t>
            </a:r>
            <a:endParaRPr sz="1000" b="0" i="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182880" y="3881723"/>
            <a:ext cx="124358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37744" y="3945731"/>
            <a:ext cx="11521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96B"/>
                </a:solidFill>
                <a:latin typeface="Nunito"/>
              </a:rPr>
              <a:t>C_init_min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508760" y="3881723"/>
            <a:ext cx="243230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563624" y="3945731"/>
            <a:ext cx="2340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max_spots &lt; 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023360" y="3881723"/>
            <a:ext cx="215798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078224" y="3945731"/>
            <a:ext cx="20665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smtClean="0">
                <a:solidFill>
                  <a:srgbClr val="233A44"/>
                </a:solidFill>
                <a:latin typeface="Nunito"/>
              </a:rPr>
              <a:t>0 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→ 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ValueError</a:t>
            </a:r>
            <a:endParaRPr sz="1000" b="0" i="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263640" y="3881723"/>
            <a:ext cx="215798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318503" y="3945731"/>
            <a:ext cx="20665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smtClean="0">
                <a:solidFill>
                  <a:srgbClr val="233A44"/>
                </a:solidFill>
                <a:latin typeface="Nunito"/>
              </a:rPr>
              <a:t>5 → 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continuă</a:t>
            </a:r>
            <a:endParaRPr sz="1000" b="0" i="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182880" y="4229195"/>
            <a:ext cx="12435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37744" y="4293203"/>
            <a:ext cx="11521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96B"/>
                </a:solidFill>
                <a:latin typeface="Nunito"/>
              </a:rPr>
              <a:t>C_init_max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508760" y="4229195"/>
            <a:ext cx="243230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563624" y="4293203"/>
            <a:ext cx="2340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max_spots &gt; 30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023360" y="4229195"/>
            <a:ext cx="21579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078224" y="4293203"/>
            <a:ext cx="20665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smtClean="0">
                <a:solidFill>
                  <a:srgbClr val="233A44"/>
                </a:solidFill>
                <a:latin typeface="Nunito"/>
              </a:rPr>
              <a:t>31 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→ </a:t>
            </a:r>
            <a:r>
              <a:rPr sz="1000" b="0" i="0" dirty="0" err="1">
                <a:solidFill>
                  <a:srgbClr val="233A44"/>
                </a:solidFill>
                <a:latin typeface="Nunito"/>
              </a:rPr>
              <a:t>ValueError</a:t>
            </a:r>
            <a:endParaRPr sz="1000" b="0" i="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6263640" y="4229195"/>
            <a:ext cx="21579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318503" y="4293203"/>
            <a:ext cx="20665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smtClean="0">
                <a:solidFill>
                  <a:srgbClr val="233A44"/>
                </a:solidFill>
                <a:latin typeface="Nunito"/>
              </a:rPr>
              <a:t>30 </a:t>
            </a:r>
            <a:r>
              <a:rPr sz="1000" b="0" i="0" dirty="0">
                <a:solidFill>
                  <a:srgbClr val="233A44"/>
                </a:solidFill>
                <a:latin typeface="Nunito"/>
              </a:rPr>
              <a:t>→ valid</a:t>
            </a:r>
          </a:p>
        </p:txBody>
      </p:sp>
    </p:spTree>
    <p:extLst>
      <p:ext uri="{BB962C8B-B14F-4D97-AF65-F5344CB8AC3E}">
        <p14:creationId xmlns:p14="http://schemas.microsoft.com/office/powerpoint/2010/main" val="1327273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166818"/>
            <a:ext cx="9220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 dirty="0" err="1">
                <a:solidFill>
                  <a:srgbClr val="FFFFFF"/>
                </a:solidFill>
                <a:latin typeface="Nunito"/>
              </a:rPr>
              <a:t>Strategia</a:t>
            </a:r>
            <a:r>
              <a:rPr sz="2000" b="1" i="0" dirty="0">
                <a:solidFill>
                  <a:srgbClr val="FFFFFF"/>
                </a:solidFill>
                <a:latin typeface="Nunito"/>
              </a:rPr>
              <a:t> 6 – </a:t>
            </a:r>
            <a:r>
              <a:rPr lang="en-US" sz="2000" b="1" dirty="0"/>
              <a:t>Graf de flux de </a:t>
            </a:r>
            <a:r>
              <a:rPr lang="en-US" sz="2000" b="1" dirty="0" smtClean="0"/>
              <a:t>control </a:t>
            </a:r>
            <a:r>
              <a:rPr lang="en-US" sz="2000" b="1" dirty="0" smtClean="0">
                <a:solidFill>
                  <a:srgbClr val="FFFFFF"/>
                </a:solidFill>
                <a:latin typeface="Nunito"/>
              </a:rPr>
              <a:t>(</a:t>
            </a:r>
            <a:r>
              <a:rPr sz="2000" b="1" i="0" dirty="0" smtClean="0">
                <a:solidFill>
                  <a:srgbClr val="FFFFFF"/>
                </a:solidFill>
                <a:latin typeface="Nunito"/>
              </a:rPr>
              <a:t>CFG</a:t>
            </a:r>
            <a:r>
              <a:rPr lang="en-US" sz="2000" b="1" i="0" dirty="0" smtClean="0">
                <a:solidFill>
                  <a:srgbClr val="FFFFFF"/>
                </a:solidFill>
                <a:latin typeface="Nunito"/>
              </a:rPr>
              <a:t>)</a:t>
            </a:r>
            <a:r>
              <a:rPr sz="2000" b="1" i="0" dirty="0" smtClean="0">
                <a:solidFill>
                  <a:srgbClr val="FFFFFF"/>
                </a:solidFill>
                <a:latin typeface="Nunito"/>
              </a:rPr>
              <a:t> </a:t>
            </a:r>
            <a:r>
              <a:rPr sz="2000" b="1" i="0" dirty="0">
                <a:solidFill>
                  <a:srgbClr val="FFFFFF"/>
                </a:solidFill>
                <a:latin typeface="Nunito"/>
              </a:rPr>
              <a:t>&amp; </a:t>
            </a:r>
            <a:r>
              <a:rPr sz="2000" b="1" i="0" dirty="0" err="1">
                <a:solidFill>
                  <a:srgbClr val="FFFFFF"/>
                </a:solidFill>
                <a:latin typeface="Nunito"/>
              </a:rPr>
              <a:t>Complexitate</a:t>
            </a:r>
            <a:r>
              <a:rPr sz="2000" b="1" i="0" dirty="0">
                <a:solidFill>
                  <a:srgbClr val="FFFFFF"/>
                </a:solidFill>
                <a:latin typeface="Nunito"/>
              </a:rPr>
              <a:t> </a:t>
            </a:r>
            <a:r>
              <a:rPr sz="2000" b="1" i="0" dirty="0" err="1" smtClean="0">
                <a:solidFill>
                  <a:srgbClr val="FFFFFF"/>
                </a:solidFill>
                <a:latin typeface="Nunito"/>
              </a:rPr>
              <a:t>Ciclomatică</a:t>
            </a:r>
            <a:endParaRPr sz="2000" b="1" i="0" dirty="0">
              <a:solidFill>
                <a:srgbClr val="FFFFFF"/>
              </a:solidFill>
              <a:latin typeface="Nunit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8686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D6E4E3"/>
                </a:solidFill>
                <a:latin typeface="Nunito"/>
              </a:rPr>
              <a:t>test_independent_circuits.py  |  McCabe: V(G) = e − n + </a:t>
            </a:r>
            <a:r>
              <a:rPr sz="1100" b="0" i="1" dirty="0" smtClean="0">
                <a:solidFill>
                  <a:srgbClr val="D6E4E3"/>
                </a:solidFill>
                <a:latin typeface="Nunito"/>
              </a:rPr>
              <a:t>2p</a:t>
            </a:r>
            <a:r>
              <a:rPr lang="ro-RO" sz="1100" b="0" i="1" dirty="0" smtClean="0">
                <a:solidFill>
                  <a:srgbClr val="D6E4E3"/>
                </a:solidFill>
                <a:latin typeface="Nunito"/>
              </a:rPr>
              <a:t> </a:t>
            </a:r>
            <a:r>
              <a:rPr lang="en-US" sz="1100" b="0" i="1" dirty="0" smtClean="0">
                <a:solidFill>
                  <a:srgbClr val="D6E4E3"/>
                </a:solidFill>
                <a:latin typeface="Nunito"/>
              </a:rPr>
              <a:t>| e = no. of edges | n = no. of nodes | p = no. of connected components</a:t>
            </a:r>
            <a:endParaRPr sz="1100" b="0" i="1" dirty="0">
              <a:solidFill>
                <a:srgbClr val="D6E4E3"/>
              </a:solidFill>
              <a:latin typeface="Nuni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2880" y="987552"/>
            <a:ext cx="2103120" cy="694944"/>
          </a:xfrm>
          <a:prstGeom prst="rect">
            <a:avLst/>
          </a:prstGeom>
          <a:solidFill>
            <a:srgbClr val="F0F4F4"/>
          </a:solidFill>
          <a:ln w="127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987552"/>
            <a:ext cx="2103120" cy="25603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Nunito"/>
              </a:rPr>
              <a:t>__init__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280160"/>
            <a:ext cx="100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233A44"/>
                </a:solidFill>
                <a:latin typeface="Nunito"/>
              </a:rPr>
              <a:t>V(G) =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378" y="1305044"/>
            <a:ext cx="1143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999999"/>
                </a:solidFill>
                <a:latin typeface="Nunito"/>
              </a:rPr>
              <a:t>5 </a:t>
            </a:r>
            <a:r>
              <a:rPr sz="1050" b="0" i="0" dirty="0" err="1" smtClean="0">
                <a:solidFill>
                  <a:srgbClr val="999999"/>
                </a:solidFill>
                <a:latin typeface="Nunito"/>
              </a:rPr>
              <a:t>circuite</a:t>
            </a:r>
            <a:r>
              <a:rPr lang="en-US" sz="1050" b="0" i="0" dirty="0" smtClean="0">
                <a:solidFill>
                  <a:srgbClr val="999999"/>
                </a:solidFill>
                <a:latin typeface="Nunito"/>
              </a:rPr>
              <a:t> </a:t>
            </a:r>
            <a:r>
              <a:rPr lang="en-US" sz="1050" b="0" i="0" dirty="0" err="1" smtClean="0">
                <a:solidFill>
                  <a:srgbClr val="999999"/>
                </a:solidFill>
                <a:latin typeface="Nunito"/>
              </a:rPr>
              <a:t>independente</a:t>
            </a:r>
            <a:endParaRPr sz="1050" b="0" i="0" dirty="0">
              <a:solidFill>
                <a:srgbClr val="999999"/>
              </a:solidFill>
              <a:latin typeface="Nunito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404872" y="987552"/>
            <a:ext cx="2103120" cy="694944"/>
          </a:xfrm>
          <a:prstGeom prst="rect">
            <a:avLst/>
          </a:prstGeom>
          <a:solidFill>
            <a:srgbClr val="F0F4F4"/>
          </a:solidFill>
          <a:ln w="12700">
            <a:solidFill>
              <a:srgbClr val="D95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04872" y="987552"/>
            <a:ext cx="2103120" cy="256032"/>
          </a:xfrm>
          <a:prstGeom prst="rect">
            <a:avLst/>
          </a:prstGeom>
          <a:solidFill>
            <a:srgbClr val="D95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78024" y="1005840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Nunito"/>
              </a:rPr>
              <a:t>book_spot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8024" y="1280160"/>
            <a:ext cx="100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33A44"/>
                </a:solidFill>
                <a:latin typeface="Nunito"/>
              </a:rPr>
              <a:t>V(G) =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26864" y="987552"/>
            <a:ext cx="2103120" cy="694944"/>
          </a:xfrm>
          <a:prstGeom prst="rect">
            <a:avLst/>
          </a:prstGeom>
          <a:solidFill>
            <a:srgbClr val="F0F4F4"/>
          </a:solidFill>
          <a:ln w="12700">
            <a:solidFill>
              <a:srgbClr val="C4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26864" y="987552"/>
            <a:ext cx="2103120" cy="256032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0016" y="1005840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Nunito"/>
              </a:rPr>
              <a:t>cancel_booking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1280160"/>
            <a:ext cx="100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33A44"/>
                </a:solidFill>
                <a:latin typeface="Nunito"/>
              </a:rPr>
              <a:t>V(G) = 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48856" y="987552"/>
            <a:ext cx="2103120" cy="694944"/>
          </a:xfrm>
          <a:prstGeom prst="rect">
            <a:avLst/>
          </a:prstGeom>
          <a:solidFill>
            <a:srgbClr val="F0F4F4"/>
          </a:solidFill>
          <a:ln w="12700">
            <a:solidFill>
              <a:srgbClr val="3D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48856" y="987552"/>
            <a:ext cx="2103120" cy="256032"/>
          </a:xfrm>
          <a:prstGeom prst="rect">
            <a:avLst/>
          </a:prstGeom>
          <a:solidFill>
            <a:srgbClr val="3D4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22008" y="1005840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Nunito"/>
              </a:rPr>
              <a:t>calculate_cost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1280160"/>
            <a:ext cx="100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33A44"/>
                </a:solidFill>
                <a:latin typeface="Nunito"/>
              </a:rPr>
              <a:t>V(G) =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1812131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233A44"/>
                </a:solidFill>
                <a:latin typeface="Nunito"/>
              </a:rPr>
              <a:t>Total </a:t>
            </a:r>
            <a:r>
              <a:rPr sz="1300" b="1" i="0" dirty="0" err="1">
                <a:solidFill>
                  <a:srgbClr val="233A44"/>
                </a:solidFill>
                <a:latin typeface="Nunito"/>
              </a:rPr>
              <a:t>circuite</a:t>
            </a:r>
            <a:r>
              <a:rPr sz="1300" b="1" i="0" dirty="0">
                <a:solidFill>
                  <a:srgbClr val="233A44"/>
                </a:solidFill>
                <a:latin typeface="Nunito"/>
              </a:rPr>
              <a:t> </a:t>
            </a:r>
            <a:r>
              <a:rPr sz="1300" b="1" i="0" dirty="0" err="1">
                <a:solidFill>
                  <a:srgbClr val="233A44"/>
                </a:solidFill>
                <a:latin typeface="Nunito"/>
              </a:rPr>
              <a:t>independente</a:t>
            </a:r>
            <a:r>
              <a:rPr sz="1300" b="1" i="0" dirty="0">
                <a:solidFill>
                  <a:srgbClr val="233A44"/>
                </a:solidFill>
                <a:latin typeface="Nunito"/>
              </a:rPr>
              <a:t>: 17  |  Total </a:t>
            </a:r>
            <a:r>
              <a:rPr sz="1300" b="1" i="0" dirty="0" err="1">
                <a:solidFill>
                  <a:srgbClr val="233A44"/>
                </a:solidFill>
                <a:latin typeface="Nunito"/>
              </a:rPr>
              <a:t>teste</a:t>
            </a:r>
            <a:r>
              <a:rPr sz="1300" b="1" i="0" dirty="0">
                <a:solidFill>
                  <a:srgbClr val="233A44"/>
                </a:solidFill>
                <a:latin typeface="Nunito"/>
              </a:rPr>
              <a:t> basis path: 17</a:t>
            </a:r>
          </a:p>
        </p:txBody>
      </p:sp>
      <p:pic>
        <p:nvPicPr>
          <p:cNvPr id="26" name="Picture 25" descr="init_cfg.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58" y="2094392"/>
            <a:ext cx="2103120" cy="27244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429000" y="1305044"/>
            <a:ext cx="1143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>
                <a:solidFill>
                  <a:srgbClr val="999999"/>
                </a:solidFill>
                <a:latin typeface="Nunito"/>
              </a:rPr>
              <a:t>4</a:t>
            </a:r>
            <a:r>
              <a:rPr sz="1050" b="0" i="0" dirty="0" smtClean="0">
                <a:solidFill>
                  <a:srgbClr val="999999"/>
                </a:solidFill>
                <a:latin typeface="Nunito"/>
              </a:rPr>
              <a:t> </a:t>
            </a:r>
            <a:r>
              <a:rPr sz="1050" b="0" i="0" dirty="0" err="1" smtClean="0">
                <a:solidFill>
                  <a:srgbClr val="999999"/>
                </a:solidFill>
                <a:latin typeface="Nunito"/>
              </a:rPr>
              <a:t>circuite</a:t>
            </a:r>
            <a:r>
              <a:rPr lang="en-US" sz="1050" b="0" i="0" dirty="0" smtClean="0">
                <a:solidFill>
                  <a:srgbClr val="999999"/>
                </a:solidFill>
                <a:latin typeface="Nunito"/>
              </a:rPr>
              <a:t> </a:t>
            </a:r>
            <a:r>
              <a:rPr lang="en-US" sz="1050" b="0" i="0" dirty="0" err="1" smtClean="0">
                <a:solidFill>
                  <a:srgbClr val="999999"/>
                </a:solidFill>
                <a:latin typeface="Nunito"/>
              </a:rPr>
              <a:t>independente</a:t>
            </a:r>
            <a:endParaRPr sz="1050" b="0" i="0" dirty="0">
              <a:solidFill>
                <a:srgbClr val="999999"/>
              </a:solidFill>
              <a:latin typeface="Nunito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924800" y="1305044"/>
            <a:ext cx="1143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>
                <a:solidFill>
                  <a:srgbClr val="999999"/>
                </a:solidFill>
                <a:latin typeface="Nunito"/>
              </a:rPr>
              <a:t>4</a:t>
            </a:r>
            <a:r>
              <a:rPr sz="1050" b="0" i="0" dirty="0" smtClean="0">
                <a:solidFill>
                  <a:srgbClr val="999999"/>
                </a:solidFill>
                <a:latin typeface="Nunito"/>
              </a:rPr>
              <a:t> </a:t>
            </a:r>
            <a:r>
              <a:rPr sz="1050" b="0" i="0" dirty="0" err="1" smtClean="0">
                <a:solidFill>
                  <a:srgbClr val="999999"/>
                </a:solidFill>
                <a:latin typeface="Nunito"/>
              </a:rPr>
              <a:t>circuite</a:t>
            </a:r>
            <a:r>
              <a:rPr lang="en-US" sz="1050" b="0" i="0" dirty="0" smtClean="0">
                <a:solidFill>
                  <a:srgbClr val="999999"/>
                </a:solidFill>
                <a:latin typeface="Nunito"/>
              </a:rPr>
              <a:t> </a:t>
            </a:r>
            <a:r>
              <a:rPr lang="en-US" sz="1050" b="0" i="0" dirty="0" err="1" smtClean="0">
                <a:solidFill>
                  <a:srgbClr val="999999"/>
                </a:solidFill>
                <a:latin typeface="Nunito"/>
              </a:rPr>
              <a:t>independente</a:t>
            </a:r>
            <a:endParaRPr sz="1050" b="0" i="0" dirty="0">
              <a:solidFill>
                <a:srgbClr val="999999"/>
              </a:solidFill>
              <a:latin typeface="Nunito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715000" y="1305044"/>
            <a:ext cx="1143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dirty="0">
                <a:solidFill>
                  <a:srgbClr val="999999"/>
                </a:solidFill>
                <a:latin typeface="Nunito"/>
              </a:rPr>
              <a:t>4</a:t>
            </a:r>
            <a:r>
              <a:rPr sz="1050" b="0" i="0" dirty="0" smtClean="0">
                <a:solidFill>
                  <a:srgbClr val="999999"/>
                </a:solidFill>
                <a:latin typeface="Nunito"/>
              </a:rPr>
              <a:t> </a:t>
            </a:r>
            <a:r>
              <a:rPr sz="1050" b="0" i="0" dirty="0" err="1" smtClean="0">
                <a:solidFill>
                  <a:srgbClr val="999999"/>
                </a:solidFill>
                <a:latin typeface="Nunito"/>
              </a:rPr>
              <a:t>circuite</a:t>
            </a:r>
            <a:r>
              <a:rPr lang="en-US" sz="1050" b="0" i="0" dirty="0" smtClean="0">
                <a:solidFill>
                  <a:srgbClr val="999999"/>
                </a:solidFill>
                <a:latin typeface="Nunito"/>
              </a:rPr>
              <a:t> </a:t>
            </a:r>
            <a:r>
              <a:rPr lang="en-US" sz="1050" b="0" i="0" dirty="0" err="1" smtClean="0">
                <a:solidFill>
                  <a:srgbClr val="999999"/>
                </a:solidFill>
                <a:latin typeface="Nunito"/>
              </a:rPr>
              <a:t>independente</a:t>
            </a:r>
            <a:endParaRPr sz="1050" b="0" i="0" dirty="0">
              <a:solidFill>
                <a:srgbClr val="999999"/>
              </a:solidFill>
              <a:latin typeface="Nunito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378" y="2180939"/>
            <a:ext cx="2176614" cy="2666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116931"/>
            <a:ext cx="2209800" cy="2701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068164"/>
            <a:ext cx="2133600" cy="2750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4023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unito"/>
              </a:rPr>
              <a:t>Strategiile 7–8 – Mutation Testing (mutmut)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4E3"/>
                </a:solidFill>
                <a:latin typeface="Nunito"/>
              </a:rPr>
              <a:t>test_mutation.py  |  mutmut 2.5.1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87552"/>
            <a:ext cx="1627632" cy="777240"/>
          </a:xfrm>
          <a:prstGeom prst="rect">
            <a:avLst/>
          </a:prstGeom>
          <a:solidFill>
            <a:srgbClr val="F0F4F4"/>
          </a:solidFill>
          <a:ln w="12700">
            <a:solidFill>
              <a:srgbClr val="23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987552"/>
            <a:ext cx="1627632" cy="256032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6888" y="1005840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Nunito"/>
              </a:rPr>
              <a:t>Total mutanți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" y="1280160"/>
            <a:ext cx="1499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33A44"/>
                </a:solidFill>
                <a:latin typeface="Nunito"/>
              </a:rPr>
              <a:t>86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1952" y="987552"/>
            <a:ext cx="1627632" cy="777240"/>
          </a:xfrm>
          <a:prstGeom prst="rect">
            <a:avLst/>
          </a:prstGeom>
          <a:solidFill>
            <a:srgbClr val="F0F4F4"/>
          </a:solidFill>
          <a:ln w="127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901952" y="987552"/>
            <a:ext cx="1627632" cy="25603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65960" y="1005840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Nunito"/>
              </a:rPr>
              <a:t>Uciși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1280160"/>
            <a:ext cx="1499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33A44"/>
                </a:solidFill>
                <a:latin typeface="Nunito"/>
              </a:rPr>
              <a:t>65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21024" y="987552"/>
            <a:ext cx="1627632" cy="777240"/>
          </a:xfrm>
          <a:prstGeom prst="rect">
            <a:avLst/>
          </a:prstGeom>
          <a:solidFill>
            <a:srgbClr val="F0F4F4"/>
          </a:solidFill>
          <a:ln w="12700">
            <a:solidFill>
              <a:srgbClr val="C4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21024" y="987552"/>
            <a:ext cx="1627632" cy="256032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5032" y="1005840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Nunito"/>
              </a:rPr>
              <a:t>Suspicioși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1280160"/>
            <a:ext cx="1499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33A44"/>
                </a:solidFill>
                <a:latin typeface="Nunito"/>
              </a:rPr>
              <a:t>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0096" y="987552"/>
            <a:ext cx="1627632" cy="777240"/>
          </a:xfrm>
          <a:prstGeom prst="rect">
            <a:avLst/>
          </a:prstGeom>
          <a:solidFill>
            <a:srgbClr val="F0F4F4"/>
          </a:solidFill>
          <a:ln w="12700">
            <a:solidFill>
              <a:srgbClr val="D95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40096" y="987552"/>
            <a:ext cx="1627632" cy="256032"/>
          </a:xfrm>
          <a:prstGeom prst="rect">
            <a:avLst/>
          </a:prstGeom>
          <a:solidFill>
            <a:srgbClr val="D95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04104" y="1005840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Nunito"/>
              </a:rPr>
              <a:t>Supraviețuitori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4104" y="1280160"/>
            <a:ext cx="1499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33A44"/>
                </a:solidFill>
                <a:latin typeface="Nunito"/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59168" y="987552"/>
            <a:ext cx="1627632" cy="777240"/>
          </a:xfrm>
          <a:prstGeom prst="rect">
            <a:avLst/>
          </a:prstGeom>
          <a:solidFill>
            <a:srgbClr val="F0F4F4"/>
          </a:solidFill>
          <a:ln w="12700">
            <a:solidFill>
              <a:srgbClr val="3D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059168" y="987552"/>
            <a:ext cx="1627632" cy="256032"/>
          </a:xfrm>
          <a:prstGeom prst="rect">
            <a:avLst/>
          </a:prstGeom>
          <a:solidFill>
            <a:srgbClr val="3D4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23176" y="1005840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Nunito"/>
              </a:rPr>
              <a:t>Scor inițial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3176" y="1280160"/>
            <a:ext cx="1499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33A44"/>
                </a:solidFill>
                <a:latin typeface="Nunito"/>
              </a:rPr>
              <a:t>75.6%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1865376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dirty="0" err="1">
                <a:solidFill>
                  <a:srgbClr val="00796B"/>
                </a:solidFill>
                <a:latin typeface="Nunito"/>
              </a:rPr>
              <a:t>Grup</a:t>
            </a:r>
            <a:r>
              <a:rPr sz="1200" b="1" i="0" dirty="0">
                <a:solidFill>
                  <a:srgbClr val="00796B"/>
                </a:solidFill>
                <a:latin typeface="Nunito"/>
              </a:rPr>
              <a:t> </a:t>
            </a:r>
            <a:r>
              <a:rPr lang="ro-RO" sz="1200" b="1" dirty="0">
                <a:solidFill>
                  <a:srgbClr val="00796B"/>
                </a:solidFill>
                <a:latin typeface="Nunito"/>
              </a:rPr>
              <a:t>B</a:t>
            </a:r>
            <a:r>
              <a:rPr sz="1200" b="1" i="0" dirty="0" smtClean="0">
                <a:solidFill>
                  <a:srgbClr val="00796B"/>
                </a:solidFill>
                <a:latin typeface="Nunito"/>
              </a:rPr>
              <a:t> –</a:t>
            </a:r>
            <a:r>
              <a:rPr lang="ro-RO" sz="1200" b="1" i="0" dirty="0" smtClean="0">
                <a:solidFill>
                  <a:srgbClr val="00796B"/>
                </a:solidFill>
                <a:latin typeface="Nunito"/>
              </a:rPr>
              <a:t> </a:t>
            </a:r>
            <a:r>
              <a:rPr lang="fr-FR" sz="1200" b="1" dirty="0">
                <a:solidFill>
                  <a:srgbClr val="00796B"/>
                </a:solidFill>
                <a:latin typeface="Nunito"/>
              </a:rPr>
              <a:t>Mutant quasi-</a:t>
            </a:r>
            <a:r>
              <a:rPr lang="fr-FR" sz="1200" b="1" dirty="0" err="1">
                <a:solidFill>
                  <a:srgbClr val="00796B"/>
                </a:solidFill>
                <a:latin typeface="Nunito"/>
              </a:rPr>
              <a:t>echivalent</a:t>
            </a:r>
            <a:r>
              <a:rPr lang="fr-FR" sz="1200" b="1" dirty="0">
                <a:solidFill>
                  <a:srgbClr val="00796B"/>
                </a:solidFill>
                <a:latin typeface="Nunito"/>
              </a:rPr>
              <a:t> (1 mutant) — </a:t>
            </a:r>
            <a:r>
              <a:rPr lang="fr-FR" sz="1200" b="1" dirty="0" err="1">
                <a:solidFill>
                  <a:srgbClr val="00796B"/>
                </a:solidFill>
                <a:latin typeface="Nunito"/>
              </a:rPr>
              <a:t>Documentat</a:t>
            </a:r>
            <a:r>
              <a:rPr sz="1200" b="1" i="0" dirty="0" smtClean="0">
                <a:solidFill>
                  <a:srgbClr val="00796B"/>
                </a:solidFill>
                <a:latin typeface="Nunito"/>
              </a:rPr>
              <a:t> </a:t>
            </a:r>
            <a:endParaRPr sz="1200" b="1" i="0" dirty="0">
              <a:solidFill>
                <a:srgbClr val="00796B"/>
              </a:solidFill>
              <a:latin typeface="Nunito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82880" y="2194560"/>
            <a:ext cx="694944" cy="301752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7744" y="2240279"/>
            <a:ext cx="60350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Mutant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" y="2194560"/>
            <a:ext cx="2340864" cy="301752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4984" y="2240279"/>
            <a:ext cx="224942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Original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2194560"/>
            <a:ext cx="1426464" cy="301752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38144" y="2240279"/>
            <a:ext cx="133502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Modificare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92039" y="2194560"/>
            <a:ext cx="3834383" cy="301752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46902" y="2240279"/>
            <a:ext cx="36758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sz="1000" b="1" i="0" dirty="0" smtClean="0">
                <a:solidFill>
                  <a:srgbClr val="FFFFFF"/>
                </a:solidFill>
                <a:latin typeface="Nunito"/>
              </a:rPr>
              <a:t>De ce e quasi-echivalent</a:t>
            </a:r>
            <a:endParaRPr sz="1000" b="1" i="0" dirty="0">
              <a:solidFill>
                <a:srgbClr val="FFFFFF"/>
              </a:solidFill>
              <a:latin typeface="Nunito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82880" y="2551176"/>
            <a:ext cx="69494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37744" y="2615184"/>
            <a:ext cx="6035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smtClean="0">
                <a:solidFill>
                  <a:srgbClr val="00796B"/>
                </a:solidFill>
                <a:latin typeface="Nunito"/>
              </a:rPr>
              <a:t>M</a:t>
            </a:r>
            <a:r>
              <a:rPr lang="ro-RO" sz="1000" b="0" i="0" dirty="0" smtClean="0">
                <a:solidFill>
                  <a:srgbClr val="00796B"/>
                </a:solidFill>
                <a:latin typeface="Nunito"/>
              </a:rPr>
              <a:t>49</a:t>
            </a:r>
            <a:endParaRPr sz="1000" b="0" i="0" dirty="0">
              <a:solidFill>
                <a:srgbClr val="00796B"/>
              </a:solidFill>
              <a:latin typeface="Nunito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60120" y="2551176"/>
            <a:ext cx="234086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14984" y="2615184"/>
            <a:ext cx="22494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233A44"/>
                </a:solidFill>
                <a:latin typeface="Nunito"/>
              </a:rPr>
              <a:t>client_name</a:t>
            </a:r>
            <a:r>
              <a:rPr lang="en-US" sz="1000" dirty="0">
                <a:solidFill>
                  <a:srgbClr val="233A44"/>
                </a:solidFill>
                <a:latin typeface="Nunito"/>
              </a:rPr>
              <a:t> else ""</a:t>
            </a:r>
            <a:endParaRPr sz="1000" b="0" i="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383280" y="2551176"/>
            <a:ext cx="142646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38144" y="2615184"/>
            <a:ext cx="1335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233A44"/>
                </a:solidFill>
                <a:latin typeface="Nunito"/>
              </a:rPr>
              <a:t>"" → "XXXX"</a:t>
            </a:r>
            <a:endParaRPr sz="1000" b="0" i="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892039" y="2551176"/>
            <a:ext cx="3834383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67657" y="2574131"/>
            <a:ext cx="3883149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850" dirty="0">
                <a:solidFill>
                  <a:srgbClr val="233A44"/>
                </a:solidFill>
                <a:latin typeface="Nunito"/>
              </a:rPr>
              <a:t>Diferența apare doar dacă există un client confirmat cu numele exact "XXXX" și se apelează cancel_booking(None) — scenariu imposibil în practică</a:t>
            </a:r>
            <a:endParaRPr sz="850" b="0" i="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82880" y="3695795"/>
            <a:ext cx="69494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37744" y="3759803"/>
            <a:ext cx="6035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smtClean="0">
                <a:solidFill>
                  <a:srgbClr val="00796B"/>
                </a:solidFill>
                <a:latin typeface="Nunito"/>
              </a:rPr>
              <a:t>M7</a:t>
            </a:r>
            <a:r>
              <a:rPr lang="ro-RO" sz="1000" b="0" i="0" dirty="0" smtClean="0">
                <a:solidFill>
                  <a:srgbClr val="00796B"/>
                </a:solidFill>
                <a:latin typeface="Nunito"/>
              </a:rPr>
              <a:t>5</a:t>
            </a:r>
            <a:endParaRPr sz="1000" b="0" i="0" dirty="0">
              <a:solidFill>
                <a:srgbClr val="00796B"/>
              </a:solidFill>
              <a:latin typeface="Nunito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960120" y="3695795"/>
            <a:ext cx="234086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14984" y="3759803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round(cost, 2)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83280" y="3695795"/>
            <a:ext cx="142646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438144" y="3759803"/>
            <a:ext cx="1335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2 → 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92040" y="3695795"/>
            <a:ext cx="1975104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946903" y="3759803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33A44"/>
                </a:solidFill>
                <a:latin typeface="Nunito"/>
              </a:rPr>
              <a:t>Cost cu 3 zecimale în loc de 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949440" y="3695795"/>
            <a:ext cx="1837943" cy="402336"/>
          </a:xfrm>
          <a:prstGeom prst="rect">
            <a:avLst/>
          </a:prstGeom>
          <a:solidFill>
            <a:srgbClr val="F0F4F4"/>
          </a:solidFill>
          <a:ln w="12700">
            <a:solidFill>
              <a:srgbClr val="D6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004303" y="3759803"/>
            <a:ext cx="17465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smtClean="0">
                <a:solidFill>
                  <a:srgbClr val="233A44"/>
                </a:solidFill>
                <a:latin typeface="Nunito"/>
              </a:rPr>
              <a:t>test_kill_M7</a:t>
            </a:r>
            <a:r>
              <a:rPr lang="ro-RO" sz="1000" b="0" i="0" dirty="0" smtClean="0">
                <a:solidFill>
                  <a:srgbClr val="233A44"/>
                </a:solidFill>
                <a:latin typeface="Nunito"/>
              </a:rPr>
              <a:t>5</a:t>
            </a:r>
            <a:r>
              <a:rPr sz="1000" b="0" i="0" dirty="0" smtClean="0">
                <a:solidFill>
                  <a:srgbClr val="233A44"/>
                </a:solidFill>
                <a:latin typeface="Nunito"/>
              </a:rPr>
              <a:t>_</a:t>
            </a:r>
            <a:r>
              <a:rPr sz="1000" b="0" i="0" dirty="0" err="1" smtClean="0">
                <a:solidFill>
                  <a:srgbClr val="233A44"/>
                </a:solidFill>
                <a:latin typeface="Nunito"/>
              </a:rPr>
              <a:t>cost_rounds</a:t>
            </a:r>
            <a:endParaRPr sz="1000" b="0" i="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182880" y="4174331"/>
            <a:ext cx="1280160" cy="274320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28600" y="4220051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Nunito"/>
              </a:rPr>
              <a:t>Grup 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08760" y="4220051"/>
            <a:ext cx="45110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950" dirty="0">
                <a:solidFill>
                  <a:srgbClr val="999999"/>
                </a:solidFill>
                <a:latin typeface="Nunito"/>
              </a:rPr>
              <a:t>6 mutanți string — modifică mesajele ValueError cu 'XX'; excepția e aruncată → comportament identic → nu se omoară (M9, M14, M21, M26, M39, M70)</a:t>
            </a:r>
            <a:endParaRPr sz="950" b="0" i="0" dirty="0">
              <a:solidFill>
                <a:srgbClr val="999999"/>
              </a:solidFill>
              <a:latin typeface="Nunito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58497" y="3298126"/>
            <a:ext cx="694944" cy="301752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13361" y="3343845"/>
            <a:ext cx="60350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Mutant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35737" y="3298126"/>
            <a:ext cx="2340864" cy="301752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90601" y="3343845"/>
            <a:ext cx="224942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Original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358897" y="3298126"/>
            <a:ext cx="1426464" cy="301752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413761" y="3343845"/>
            <a:ext cx="133502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Modificare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67657" y="3298126"/>
            <a:ext cx="1975104" cy="301752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922520" y="3343845"/>
            <a:ext cx="188366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Efect bug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25057" y="3298126"/>
            <a:ext cx="1837943" cy="301752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979920" y="3343845"/>
            <a:ext cx="1746503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unito"/>
              </a:rPr>
              <a:t>Test killer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52400" y="2985611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dirty="0" err="1">
                <a:solidFill>
                  <a:srgbClr val="00796B"/>
                </a:solidFill>
                <a:latin typeface="Nunito"/>
              </a:rPr>
              <a:t>Grup</a:t>
            </a:r>
            <a:r>
              <a:rPr sz="1200" b="1" i="0" dirty="0">
                <a:solidFill>
                  <a:srgbClr val="00796B"/>
                </a:solidFill>
                <a:latin typeface="Nunito"/>
              </a:rPr>
              <a:t> C – </a:t>
            </a:r>
            <a:r>
              <a:rPr lang="fr-FR" sz="1200" b="1" dirty="0">
                <a:solidFill>
                  <a:srgbClr val="00796B"/>
                </a:solidFill>
                <a:latin typeface="Nunito"/>
              </a:rPr>
              <a:t>Mutant </a:t>
            </a:r>
            <a:r>
              <a:rPr lang="fr-FR" sz="1200" b="1" dirty="0" err="1">
                <a:solidFill>
                  <a:srgbClr val="00796B"/>
                </a:solidFill>
                <a:latin typeface="Nunito"/>
              </a:rPr>
              <a:t>comportamental</a:t>
            </a:r>
            <a:r>
              <a:rPr lang="fr-FR" sz="1200" b="1" dirty="0">
                <a:solidFill>
                  <a:srgbClr val="00796B"/>
                </a:solidFill>
                <a:latin typeface="Nunito"/>
              </a:rPr>
              <a:t> </a:t>
            </a:r>
            <a:r>
              <a:rPr lang="fr-FR" sz="1200" b="1" dirty="0" err="1">
                <a:solidFill>
                  <a:srgbClr val="00796B"/>
                </a:solidFill>
                <a:latin typeface="Nunito"/>
              </a:rPr>
              <a:t>neechivalent</a:t>
            </a:r>
            <a:r>
              <a:rPr lang="fr-FR" sz="1200" b="1" dirty="0">
                <a:solidFill>
                  <a:srgbClr val="00796B"/>
                </a:solidFill>
                <a:latin typeface="Nunito"/>
              </a:rPr>
              <a:t> (1 mutant) — </a:t>
            </a:r>
            <a:r>
              <a:rPr lang="fr-FR" sz="1200" b="1" dirty="0" err="1">
                <a:solidFill>
                  <a:srgbClr val="00796B"/>
                </a:solidFill>
                <a:latin typeface="Nunito"/>
              </a:rPr>
              <a:t>Omorât</a:t>
            </a:r>
            <a:endParaRPr sz="1200" b="1" i="0" dirty="0">
              <a:solidFill>
                <a:srgbClr val="00796B"/>
              </a:solidFill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979784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unito"/>
              </a:rPr>
              <a:t>Rezultate Finale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4E3"/>
                </a:solidFill>
                <a:latin typeface="Nunito"/>
              </a:rPr>
              <a:t>127 teste  |  100% coverage  |  toate strategiile acoperite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87552"/>
            <a:ext cx="2103120" cy="1188720"/>
          </a:xfrm>
          <a:prstGeom prst="rect">
            <a:avLst/>
          </a:prstGeom>
          <a:solidFill>
            <a:srgbClr val="F0F4F4"/>
          </a:solidFill>
          <a:ln w="127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987552"/>
            <a:ext cx="2103120" cy="27432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Nunito"/>
              </a:rPr>
              <a:t>teste unitare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298448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33A44"/>
                </a:solidFill>
                <a:latin typeface="Nunito"/>
              </a:rPr>
              <a:t>127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828800"/>
            <a:ext cx="1956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99999"/>
                </a:solidFill>
                <a:latin typeface="Nunito"/>
              </a:rPr>
              <a:t>toate trec (0 eșuate)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04872" y="987552"/>
            <a:ext cx="2103120" cy="1188720"/>
          </a:xfrm>
          <a:prstGeom prst="rect">
            <a:avLst/>
          </a:prstGeom>
          <a:solidFill>
            <a:srgbClr val="F0F4F4"/>
          </a:solidFill>
          <a:ln w="12700">
            <a:solidFill>
              <a:srgbClr val="D95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04872" y="987552"/>
            <a:ext cx="2103120" cy="274320"/>
          </a:xfrm>
          <a:prstGeom prst="rect">
            <a:avLst/>
          </a:prstGeom>
          <a:solidFill>
            <a:srgbClr val="D95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78024" y="1005840"/>
            <a:ext cx="19568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 smtClean="0">
                <a:solidFill>
                  <a:srgbClr val="FFFFFF"/>
                </a:solidFill>
                <a:latin typeface="Nunito"/>
              </a:rPr>
              <a:t>st</a:t>
            </a:r>
            <a:r>
              <a:rPr lang="en-US" sz="1000" b="1" i="0" dirty="0" smtClean="0">
                <a:solidFill>
                  <a:srgbClr val="FFFFFF"/>
                </a:solidFill>
                <a:latin typeface="Nunito"/>
              </a:rPr>
              <a:t>ate</a:t>
            </a:r>
            <a:r>
              <a:rPr sz="1000" b="1" i="0" dirty="0" smtClean="0">
                <a:solidFill>
                  <a:srgbClr val="FFFFFF"/>
                </a:solidFill>
                <a:latin typeface="Nunito"/>
              </a:rPr>
              <a:t>m</a:t>
            </a:r>
            <a:r>
              <a:rPr lang="en-US" sz="1000" b="1" i="0" dirty="0" smtClean="0">
                <a:solidFill>
                  <a:srgbClr val="FFFFFF"/>
                </a:solidFill>
                <a:latin typeface="Nunito"/>
              </a:rPr>
              <a:t>en</a:t>
            </a:r>
            <a:r>
              <a:rPr sz="1000" b="1" i="0" dirty="0" smtClean="0">
                <a:solidFill>
                  <a:srgbClr val="FFFFFF"/>
                </a:solidFill>
                <a:latin typeface="Nunito"/>
              </a:rPr>
              <a:t>t </a:t>
            </a:r>
            <a:r>
              <a:rPr sz="1000" b="1" i="0" dirty="0">
                <a:solidFill>
                  <a:srgbClr val="FFFFFF"/>
                </a:solidFill>
                <a:latin typeface="Nunito"/>
              </a:rPr>
              <a:t>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8024" y="1298448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33A44"/>
                </a:solidFill>
                <a:latin typeface="Nunito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8024" y="1828800"/>
            <a:ext cx="1956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99999"/>
                </a:solidFill>
                <a:latin typeface="Nunito"/>
              </a:rPr>
              <a:t>55 stmts / 0 miss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26864" y="987552"/>
            <a:ext cx="2103120" cy="1188720"/>
          </a:xfrm>
          <a:prstGeom prst="rect">
            <a:avLst/>
          </a:prstGeom>
          <a:solidFill>
            <a:srgbClr val="F0F4F4"/>
          </a:solidFill>
          <a:ln w="12700">
            <a:solidFill>
              <a:srgbClr val="C4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26864" y="987552"/>
            <a:ext cx="2103120" cy="27432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0016" y="1005840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Nunito"/>
              </a:rPr>
              <a:t>branch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1298448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33A44"/>
                </a:solidFill>
                <a:latin typeface="Nunito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16" y="1828800"/>
            <a:ext cx="1956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99999"/>
                </a:solidFill>
                <a:latin typeface="Nunito"/>
              </a:rPr>
              <a:t>26 branches / 0 miss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48856" y="987552"/>
            <a:ext cx="2103120" cy="1188720"/>
          </a:xfrm>
          <a:prstGeom prst="rect">
            <a:avLst/>
          </a:prstGeom>
          <a:solidFill>
            <a:srgbClr val="F0F4F4"/>
          </a:solidFill>
          <a:ln w="12700">
            <a:solidFill>
              <a:srgbClr val="3D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48856" y="987552"/>
            <a:ext cx="2103120" cy="274320"/>
          </a:xfrm>
          <a:prstGeom prst="rect">
            <a:avLst/>
          </a:prstGeom>
          <a:solidFill>
            <a:srgbClr val="3D4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22008" y="1005840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Nunito"/>
              </a:rPr>
              <a:t>mutation killing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1298448"/>
            <a:ext cx="19568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sz="2800" b="1" i="0" dirty="0" smtClean="0">
                <a:solidFill>
                  <a:srgbClr val="233A44"/>
                </a:solidFill>
                <a:latin typeface="Nunito"/>
              </a:rPr>
              <a:t>1/1</a:t>
            </a:r>
            <a:endParaRPr sz="2800" b="1" i="0" dirty="0">
              <a:solidFill>
                <a:srgbClr val="233A44"/>
              </a:solidFill>
              <a:latin typeface="Nunito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22008" y="1828800"/>
            <a:ext cx="1956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99999"/>
                </a:solidFill>
                <a:latin typeface="Nunito"/>
              </a:rPr>
              <a:t>comportamental 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" y="2819359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 dirty="0">
                <a:solidFill>
                  <a:srgbClr val="999999"/>
                </a:solidFill>
                <a:latin typeface="Nunito"/>
              </a:rPr>
              <a:t>coverage report -m --include="fitness_class_booking.py"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226933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 dirty="0">
                <a:solidFill>
                  <a:srgbClr val="999999"/>
                </a:solidFill>
                <a:latin typeface="Nunito"/>
              </a:rPr>
              <a:t>python -m </a:t>
            </a:r>
            <a:r>
              <a:rPr sz="850" b="0" i="1" dirty="0" err="1">
                <a:solidFill>
                  <a:srgbClr val="999999"/>
                </a:solidFill>
                <a:latin typeface="Nunito"/>
              </a:rPr>
              <a:t>pytest</a:t>
            </a:r>
            <a:r>
              <a:rPr sz="850" b="0" i="1" dirty="0">
                <a:solidFill>
                  <a:srgbClr val="999999"/>
                </a:solidFill>
                <a:latin typeface="Nunito"/>
              </a:rPr>
              <a:t> test_*.py -v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3640931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33A44"/>
                </a:solidFill>
                <a:latin typeface="Nunito"/>
              </a:rPr>
              <a:t>Strategii acoperite: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3960971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96B"/>
                </a:solidFill>
                <a:latin typeface="Nunito"/>
              </a:rPr>
              <a:t>✓ S1: Clase de echivalență (EC01–EC30)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960971"/>
            <a:ext cx="4206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dirty="0">
                <a:solidFill>
                  <a:srgbClr val="00796B"/>
                </a:solidFill>
                <a:latin typeface="Nunito"/>
              </a:rPr>
              <a:t>✓ S5: </a:t>
            </a:r>
            <a:r>
              <a:rPr sz="1000" dirty="0" err="1">
                <a:solidFill>
                  <a:srgbClr val="00796B"/>
                </a:solidFill>
                <a:latin typeface="Nunito"/>
              </a:rPr>
              <a:t>Acoperire</a:t>
            </a:r>
            <a:r>
              <a:rPr sz="1000" dirty="0">
                <a:solidFill>
                  <a:srgbClr val="00796B"/>
                </a:solidFill>
                <a:latin typeface="Nunito"/>
              </a:rPr>
              <a:t> </a:t>
            </a:r>
            <a:r>
              <a:rPr sz="1000" dirty="0" err="1">
                <a:solidFill>
                  <a:srgbClr val="00796B"/>
                </a:solidFill>
                <a:latin typeface="Nunito"/>
              </a:rPr>
              <a:t>condiții</a:t>
            </a:r>
            <a:endParaRPr sz="1000" dirty="0">
              <a:solidFill>
                <a:srgbClr val="00796B"/>
              </a:solidFill>
              <a:latin typeface="Nunito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82880" y="4217003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796B"/>
                </a:solidFill>
                <a:latin typeface="Nunito"/>
              </a:rPr>
              <a:t>✓ S2: </a:t>
            </a:r>
            <a:r>
              <a:rPr sz="1000" b="0" i="0" dirty="0" err="1">
                <a:solidFill>
                  <a:srgbClr val="00796B"/>
                </a:solidFill>
                <a:latin typeface="Nunito"/>
              </a:rPr>
              <a:t>Valori</a:t>
            </a:r>
            <a:r>
              <a:rPr sz="1000" b="0" i="0" dirty="0">
                <a:solidFill>
                  <a:srgbClr val="00796B"/>
                </a:solidFill>
                <a:latin typeface="Nunito"/>
              </a:rPr>
              <a:t> de </a:t>
            </a:r>
            <a:r>
              <a:rPr sz="1000" b="0" i="0" dirty="0" err="1">
                <a:solidFill>
                  <a:srgbClr val="00796B"/>
                </a:solidFill>
                <a:latin typeface="Nunito"/>
              </a:rPr>
              <a:t>frontieră</a:t>
            </a:r>
            <a:r>
              <a:rPr sz="1000" b="0" i="0" dirty="0">
                <a:solidFill>
                  <a:srgbClr val="00796B"/>
                </a:solidFill>
                <a:latin typeface="Nunito"/>
              </a:rPr>
              <a:t> (BVA01–BVA23)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217003"/>
            <a:ext cx="4206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chemeClr val="accent1"/>
                </a:solidFill>
                <a:latin typeface="Nunito"/>
              </a:rPr>
              <a:t>✓ S6: Basis path / CFG (McCabe V(G)=17)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" y="4473035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96B"/>
                </a:solidFill>
                <a:latin typeface="Nunito"/>
              </a:rPr>
              <a:t>✓ S3: Acoperire instrucțiuni (100%)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473035"/>
            <a:ext cx="4206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chemeClr val="accent1"/>
                </a:solidFill>
                <a:latin typeface="Nunito"/>
              </a:rPr>
              <a:t>✓ S7: </a:t>
            </a:r>
            <a:r>
              <a:rPr sz="1000" b="0" i="0" dirty="0" err="1">
                <a:solidFill>
                  <a:schemeClr val="accent1"/>
                </a:solidFill>
                <a:latin typeface="Nunito"/>
              </a:rPr>
              <a:t>Raport</a:t>
            </a:r>
            <a:r>
              <a:rPr sz="1000" b="0" i="0" dirty="0">
                <a:solidFill>
                  <a:schemeClr val="accent1"/>
                </a:solidFill>
                <a:latin typeface="Nunito"/>
              </a:rPr>
              <a:t> </a:t>
            </a:r>
            <a:r>
              <a:rPr sz="1000" b="0" i="0" dirty="0" err="1">
                <a:solidFill>
                  <a:schemeClr val="accent1"/>
                </a:solidFill>
                <a:latin typeface="Nunito"/>
              </a:rPr>
              <a:t>mutmut</a:t>
            </a:r>
            <a:r>
              <a:rPr sz="1000" b="0" i="0" dirty="0">
                <a:solidFill>
                  <a:schemeClr val="accent1"/>
                </a:solidFill>
                <a:latin typeface="Nunito"/>
              </a:rPr>
              <a:t> (86 </a:t>
            </a:r>
            <a:r>
              <a:rPr sz="1000" b="0" i="0" dirty="0" err="1">
                <a:solidFill>
                  <a:schemeClr val="accent1"/>
                </a:solidFill>
                <a:latin typeface="Nunito"/>
              </a:rPr>
              <a:t>mutanți</a:t>
            </a:r>
            <a:r>
              <a:rPr sz="1000" b="0" i="0" dirty="0">
                <a:solidFill>
                  <a:schemeClr val="accent1"/>
                </a:solidFill>
                <a:latin typeface="Nunito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" y="4729067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96B"/>
                </a:solidFill>
                <a:latin typeface="Nunito"/>
              </a:rPr>
              <a:t>✓ S4: Acoperire decizii (100%)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729067"/>
            <a:ext cx="4206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accent1"/>
                </a:solidFill>
                <a:latin typeface="Nunito"/>
              </a:rPr>
              <a:t>✓ S8: Teste suplimentare anti-mutanți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28"/>
          <a:stretch/>
        </p:blipFill>
        <p:spPr bwMode="auto">
          <a:xfrm>
            <a:off x="187497" y="2269330"/>
            <a:ext cx="4439367" cy="500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067" y="2537336"/>
            <a:ext cx="5053013" cy="130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1548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unito"/>
              </a:rPr>
              <a:t>Mediu de Lucru, Structura Proiectului &amp; Referințe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4E3"/>
                </a:solidFill>
                <a:latin typeface="Nunito"/>
              </a:rPr>
              <a:t>Hardware / Software / Fișiere / Comenzi / Documentație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87552"/>
            <a:ext cx="2743200" cy="2011680"/>
          </a:xfrm>
          <a:prstGeom prst="rect">
            <a:avLst/>
          </a:prstGeom>
          <a:solidFill>
            <a:srgbClr val="F0F4F4"/>
          </a:solidFill>
          <a:ln w="127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92608" y="1078992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96B"/>
                </a:solidFill>
                <a:latin typeface="Nunito"/>
              </a:rPr>
              <a:t>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1426464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33A44"/>
                </a:solidFill>
                <a:latin typeface="Nunito"/>
              </a:rPr>
              <a:t>• HP Victus 16 – i7-12700H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788" y="1658630"/>
            <a:ext cx="25237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smtClean="0">
                <a:solidFill>
                  <a:srgbClr val="233A44"/>
                </a:solidFill>
                <a:latin typeface="Nunito"/>
              </a:rPr>
              <a:t>16 </a:t>
            </a:r>
            <a:r>
              <a:rPr sz="1100" b="0" i="0" dirty="0">
                <a:solidFill>
                  <a:srgbClr val="233A44"/>
                </a:solidFill>
                <a:latin typeface="Nunito"/>
              </a:rPr>
              <a:t>GB DDR5 / 512 GB SSD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2089499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33A44"/>
                </a:solidFill>
                <a:latin typeface="Nunito"/>
              </a:rPr>
              <a:t>• HP Laptop 15 – i7-1165G7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788" y="2295144"/>
            <a:ext cx="25237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smtClean="0">
                <a:solidFill>
                  <a:srgbClr val="233A44"/>
                </a:solidFill>
                <a:latin typeface="Nunito"/>
              </a:rPr>
              <a:t>16 </a:t>
            </a:r>
            <a:r>
              <a:rPr sz="1100" b="0" i="0" dirty="0">
                <a:solidFill>
                  <a:srgbClr val="233A44"/>
                </a:solidFill>
                <a:latin typeface="Nunito"/>
              </a:rPr>
              <a:t>GB DDR4 / 512 GB SSD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987552"/>
            <a:ext cx="2743200" cy="2011680"/>
          </a:xfrm>
          <a:prstGeom prst="rect">
            <a:avLst/>
          </a:prstGeom>
          <a:solidFill>
            <a:srgbClr val="F0F4F4"/>
          </a:solidFill>
          <a:ln w="12700">
            <a:solidFill>
              <a:srgbClr val="D95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18688" y="1078992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563F"/>
                </a:solidFill>
                <a:latin typeface="Nunito"/>
              </a:rPr>
              <a:t>Software &amp; Mediu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8688" y="1426464"/>
            <a:ext cx="26334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33A44"/>
                </a:solidFill>
                <a:latin typeface="Nunito"/>
              </a:rPr>
              <a:t>• Windows 11 + WSL2 + Ubuntu 24.04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1673352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33A44"/>
                </a:solidFill>
                <a:latin typeface="Nunito"/>
              </a:rPr>
              <a:t>• Python 3.12.3 (WSL) / 3.13.3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8" y="1920240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33A44"/>
                </a:solidFill>
                <a:latin typeface="Nunito"/>
              </a:rPr>
              <a:t>• pytest 9.0.2 | coverage 7.13.5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2167128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33A44"/>
                </a:solidFill>
                <a:latin typeface="Nunito"/>
              </a:rPr>
              <a:t>• </a:t>
            </a:r>
            <a:r>
              <a:rPr sz="1100" b="0" i="0" dirty="0" err="1">
                <a:solidFill>
                  <a:srgbClr val="233A44"/>
                </a:solidFill>
                <a:latin typeface="Nunito"/>
              </a:rPr>
              <a:t>mutmut</a:t>
            </a:r>
            <a:r>
              <a:rPr sz="1100" b="0" i="0" dirty="0">
                <a:solidFill>
                  <a:srgbClr val="233A44"/>
                </a:solidFill>
                <a:latin typeface="Nunito"/>
              </a:rPr>
              <a:t> 2.5.1 | VS Code 1.116.0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8" y="2414016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33A44"/>
                </a:solidFill>
                <a:latin typeface="Nunito"/>
              </a:rPr>
              <a:t>• venv: tss_venv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987552"/>
            <a:ext cx="2926080" cy="2011680"/>
          </a:xfrm>
          <a:prstGeom prst="rect">
            <a:avLst/>
          </a:prstGeom>
          <a:solidFill>
            <a:srgbClr val="F0F4F4"/>
          </a:solidFill>
          <a:ln w="12700">
            <a:solidFill>
              <a:srgbClr val="C4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44768" y="1078992"/>
            <a:ext cx="2706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A15A"/>
                </a:solidFill>
                <a:latin typeface="Nunito"/>
              </a:rPr>
              <a:t>Structura proiectului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1278731"/>
            <a:ext cx="2706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233A44"/>
                </a:solidFill>
                <a:latin typeface="Nunito"/>
              </a:rPr>
              <a:t>• fitness_class_booking.py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1525619"/>
            <a:ext cx="2706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233A44"/>
                </a:solidFill>
                <a:latin typeface="Nunito"/>
              </a:rPr>
              <a:t>• test_equivalence_partitioning.py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1772507"/>
            <a:ext cx="2706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233A44"/>
                </a:solidFill>
                <a:latin typeface="Nunito"/>
              </a:rPr>
              <a:t>• test_boundary_value_analysis.py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2019395"/>
            <a:ext cx="2706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33A44"/>
                </a:solidFill>
                <a:latin typeface="Nunito"/>
              </a:rPr>
              <a:t>• test_coverage.py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2266283"/>
            <a:ext cx="2706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33A44"/>
                </a:solidFill>
                <a:latin typeface="Nunito"/>
              </a:rPr>
              <a:t>• test_independent_circuits.py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2513171"/>
            <a:ext cx="2706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33A44"/>
                </a:solidFill>
                <a:latin typeface="Nunito"/>
              </a:rPr>
              <a:t>• test_mutation.py  |  run_coverage.sh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2760059"/>
            <a:ext cx="2706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33A44"/>
                </a:solidFill>
                <a:latin typeface="Nunito"/>
              </a:rPr>
              <a:t>• teste_ai/  |  screenshots/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3090672"/>
            <a:ext cx="5120640" cy="2011680"/>
          </a:xfrm>
          <a:prstGeom prst="rect">
            <a:avLst/>
          </a:prstGeom>
          <a:solidFill>
            <a:srgbClr val="F0F4F4"/>
          </a:solidFill>
          <a:ln w="12700">
            <a:solidFill>
              <a:srgbClr val="3D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82880" y="3090672"/>
            <a:ext cx="5120640" cy="274320"/>
          </a:xfrm>
          <a:prstGeom prst="rect">
            <a:avLst/>
          </a:prstGeom>
          <a:solidFill>
            <a:srgbClr val="3D4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4320" y="311810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Nunito"/>
              </a:rPr>
              <a:t>Cum se rulează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3401568"/>
            <a:ext cx="5120640" cy="1664208"/>
          </a:xfrm>
          <a:prstGeom prst="rect">
            <a:avLst/>
          </a:prstGeom>
          <a:solidFill>
            <a:srgbClr val="23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2608" y="3483864"/>
            <a:ext cx="49011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4F597"/>
                </a:solidFill>
                <a:latin typeface="Courier New"/>
              </a:rPr>
              <a:t>source tss_venv/bin/activate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" y="3703320"/>
            <a:ext cx="49011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4F597"/>
                </a:solidFill>
                <a:latin typeface="Courier New"/>
              </a:rPr>
              <a:t>bash run_coverage.sh          # rulare rapidă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" y="3922776"/>
            <a:ext cx="49011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4F597"/>
                </a:solidFill>
                <a:latin typeface="Courier New"/>
              </a:rPr>
              <a:t>python -m pytest test_*.py -v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" y="4142232"/>
            <a:ext cx="49011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4F597"/>
                </a:solidFill>
                <a:latin typeface="Courier New"/>
              </a:rPr>
              <a:t>python -m coverage run --branch -m pytest test_*.py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" y="4361688"/>
            <a:ext cx="49011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14F597"/>
                </a:solidFill>
                <a:latin typeface="Courier New"/>
              </a:rPr>
              <a:t>python -m coverage report -m --include='fitness_class_booking.py'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" y="4631531"/>
            <a:ext cx="49011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 err="1">
                <a:solidFill>
                  <a:srgbClr val="14F597"/>
                </a:solidFill>
                <a:latin typeface="Courier New"/>
              </a:rPr>
              <a:t>mutmut</a:t>
            </a:r>
            <a:r>
              <a:rPr sz="950" b="0" i="0" dirty="0">
                <a:solidFill>
                  <a:srgbClr val="14F597"/>
                </a:solidFill>
                <a:latin typeface="Courier New"/>
              </a:rPr>
              <a:t> run --paths-to-mutate fitness_class_booking.py \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" y="4800600"/>
            <a:ext cx="49011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4F597"/>
                </a:solidFill>
                <a:latin typeface="Courier New"/>
              </a:rPr>
              <a:t>    --tests-dir . --runner 'python -m pytest'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0" y="3090672"/>
            <a:ext cx="3474720" cy="2011680"/>
          </a:xfrm>
          <a:prstGeom prst="rect">
            <a:avLst/>
          </a:prstGeom>
          <a:solidFill>
            <a:srgbClr val="F0F4F4"/>
          </a:solidFill>
          <a:ln w="127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0" y="3090672"/>
            <a:ext cx="3474720" cy="27432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577840" y="3118104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Nunito"/>
              </a:rPr>
              <a:t>Referințe &amp; Documentație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96128" y="3412331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33A44"/>
                </a:solidFill>
                <a:latin typeface="Nunito"/>
              </a:rPr>
              <a:t>[1] pytest – docs.pytest.org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96128" y="3659218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33A44"/>
                </a:solidFill>
                <a:latin typeface="Nunito"/>
              </a:rPr>
              <a:t>[2] coverage.py – coverage.readthedocs.io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96128" y="3906107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33A44"/>
                </a:solidFill>
                <a:latin typeface="Nunito"/>
              </a:rPr>
              <a:t>[3] mutmut – mutmut.readthedocs.io/en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96128" y="4152995"/>
            <a:ext cx="32918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 smtClean="0">
                <a:solidFill>
                  <a:srgbClr val="233A44"/>
                </a:solidFill>
                <a:latin typeface="Nunito"/>
              </a:rPr>
              <a:t>draw.io </a:t>
            </a:r>
            <a:r>
              <a:rPr sz="950" b="0" i="0" dirty="0">
                <a:solidFill>
                  <a:srgbClr val="233A44"/>
                </a:solidFill>
                <a:latin typeface="Nunito"/>
              </a:rPr>
              <a:t>– diagrams.net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96128" y="4399883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33A44"/>
                </a:solidFill>
                <a:latin typeface="Nunito"/>
              </a:rPr>
              <a:t>unittest – docs.python.org/3/library/unittest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96128" y="4646771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33A44"/>
                </a:solidFill>
                <a:latin typeface="Nunito"/>
              </a:rPr>
              <a:t>VS Code – code.visualstudio.com/docs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96128" y="4893659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33A44"/>
                </a:solidFill>
                <a:latin typeface="Nunito"/>
              </a:rPr>
              <a:t>WSL – learn.microsoft.com/windows/wsl</a:t>
            </a:r>
          </a:p>
        </p:txBody>
      </p:sp>
    </p:spTree>
    <p:extLst>
      <p:ext uri="{BB962C8B-B14F-4D97-AF65-F5344CB8AC3E}">
        <p14:creationId xmlns:p14="http://schemas.microsoft.com/office/powerpoint/2010/main" val="74348021"/>
      </p:ext>
    </p:extLst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1568</Words>
  <Application>Microsoft Office PowerPoint</Application>
  <PresentationFormat>Custom</PresentationFormat>
  <Paragraphs>294</Paragraphs>
  <Slides>11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Shift</vt:lpstr>
      <vt:lpstr>PROIECT ~ Testarea Sistemelor Software ~  T1 – Testare unitară în Python Fitness Class Booking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PROIECT ~ Testarea Sistemelor Software ~  T1 – Testare unitară în Python</dc:title>
  <dc:creator>user</dc:creator>
  <cp:lastModifiedBy>user</cp:lastModifiedBy>
  <cp:revision>21</cp:revision>
  <dcterms:created xsi:type="dcterms:W3CDTF">2006-08-16T00:00:00Z</dcterms:created>
  <dcterms:modified xsi:type="dcterms:W3CDTF">2026-04-22T07:31:55Z</dcterms:modified>
</cp:coreProperties>
</file>