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sldIdLst>
    <p:sldId id="257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6" autoAdjust="0"/>
    <p:restoredTop sz="94619" autoAdjust="0"/>
  </p:normalViewPr>
  <p:slideViewPr>
    <p:cSldViewPr snapToGrid="0">
      <p:cViewPr varScale="1">
        <p:scale>
          <a:sx n="82" d="100"/>
          <a:sy n="82" d="100"/>
        </p:scale>
        <p:origin x="-586" y="-9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xmlns="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xmlns="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xmlns="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xmlns="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xmlns="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xmlns="" id="{D6D7A0BC-0046-4CAA-8E7F-DCAFE511EA0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6715" y="721852"/>
            <a:ext cx="10993549" cy="724393"/>
          </a:xfrm>
        </p:spPr>
        <p:txBody>
          <a:bodyPr>
            <a:normAutofit fontScale="90000"/>
          </a:bodyPr>
          <a:lstStyle/>
          <a:p>
            <a:r>
              <a:rPr lang="en-US" sz="2800" dirty="0" err="1"/>
              <a:t>Testarea</a:t>
            </a:r>
            <a:r>
              <a:rPr lang="en-US" sz="2800" dirty="0"/>
              <a:t> </a:t>
            </a:r>
            <a:r>
              <a:rPr lang="en-US" sz="2800" dirty="0" err="1"/>
              <a:t>sistemelor</a:t>
            </a:r>
            <a:r>
              <a:rPr lang="en-US" sz="2800" dirty="0"/>
              <a:t> software – </a:t>
            </a:r>
            <a:r>
              <a:rPr lang="ro-RO" sz="2800" dirty="0" smtClean="0"/>
              <a:t>t1 - </a:t>
            </a:r>
            <a:r>
              <a:rPr lang="en-US" sz="2800" dirty="0" err="1" smtClean="0"/>
              <a:t>Testare</a:t>
            </a:r>
            <a:r>
              <a:rPr lang="en-US" sz="2800" dirty="0" smtClean="0"/>
              <a:t> </a:t>
            </a:r>
            <a:r>
              <a:rPr lang="en-US" sz="2800" dirty="0" err="1"/>
              <a:t>unitară</a:t>
            </a:r>
            <a:r>
              <a:rPr lang="en-US" sz="2800" dirty="0"/>
              <a:t> </a:t>
            </a:r>
            <a:r>
              <a:rPr lang="en-US" sz="2800" dirty="0" err="1"/>
              <a:t>în</a:t>
            </a:r>
            <a:r>
              <a:rPr lang="en-US" sz="2800" dirty="0"/>
              <a:t> Python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E7C6334F-6411-41EC-AD7D-179EDD8B58C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E6B02CEE-3AF8-4349-9B3E-8970E6DF62B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xmlns="" id="{AAA01CF0-3FB5-44EB-B7DE-F2E86374C2F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xmlns="" id="{835D6E6B-3353-491C-A3C6-F278D6CED8B3}"/>
              </a:ext>
            </a:extLst>
          </p:cNvPr>
          <p:cNvSpPr txBox="1">
            <a:spLocks/>
          </p:cNvSpPr>
          <p:nvPr/>
        </p:nvSpPr>
        <p:spPr>
          <a:xfrm>
            <a:off x="6472728" y="1638059"/>
            <a:ext cx="4810966" cy="8106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0" indent="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600" kern="1200" cap="all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o-RO" dirty="0" smtClean="0">
                <a:latin typeface="Arial" pitchFamily="34" charset="0"/>
                <a:cs typeface="Arial" pitchFamily="34" charset="0"/>
              </a:rPr>
              <a:t>Proiect realizat de: mihăilă denisa (352)</a:t>
            </a:r>
          </a:p>
          <a:p>
            <a:r>
              <a:rPr lang="ro-RO" dirty="0" smtClean="0">
                <a:latin typeface="Arial" pitchFamily="34" charset="0"/>
                <a:cs typeface="Arial" pitchFamily="34" charset="0"/>
              </a:rPr>
              <a:t>				     Nițe dan-alexandru (344)</a:t>
            </a:r>
            <a:br>
              <a:rPr lang="ro-RO" dirty="0" smtClean="0">
                <a:latin typeface="Arial" pitchFamily="34" charset="0"/>
                <a:cs typeface="Arial" pitchFamily="34" charset="0"/>
              </a:rPr>
            </a:b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xmlns="" id="{1B021E2C-E4CD-07DF-0E58-8CBDCC812FD4}"/>
              </a:ext>
            </a:extLst>
          </p:cNvPr>
          <p:cNvSpPr txBox="1">
            <a:spLocks/>
          </p:cNvSpPr>
          <p:nvPr/>
        </p:nvSpPr>
        <p:spPr>
          <a:xfrm>
            <a:off x="446534" y="2682019"/>
            <a:ext cx="11496650" cy="2739067"/>
          </a:xfrm>
          <a:prstGeom prst="rect">
            <a:avLst/>
          </a:prstGeom>
        </p:spPr>
        <p:txBody>
          <a:bodyPr/>
          <a:lstStyle>
            <a:lvl1pPr marL="3060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1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1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o-RO" sz="1600" b="1" dirty="0" smtClean="0">
                <a:latin typeface="Arial" pitchFamily="34" charset="0"/>
                <a:cs typeface="Arial" pitchFamily="34" charset="0"/>
              </a:rPr>
              <a:t>Clasa implementată: </a:t>
            </a:r>
            <a:r>
              <a:rPr lang="en-US" sz="1600" i="1" dirty="0" err="1" smtClean="0">
                <a:latin typeface="Arial" pitchFamily="34" charset="0"/>
                <a:cs typeface="Arial" pitchFamily="34" charset="0"/>
              </a:rPr>
              <a:t>FitnessClassBooking</a:t>
            </a:r>
            <a:r>
              <a:rPr lang="ro-RO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ro-RO" sz="1600" dirty="0" smtClean="0">
                <a:latin typeface="Arial" pitchFamily="34" charset="0"/>
                <a:cs typeface="Arial" pitchFamily="34" charset="0"/>
                <a:sym typeface="Wingdings" pitchFamily="2" charset="2"/>
              </a:rPr>
              <a:t></a:t>
            </a:r>
            <a:r>
              <a:rPr lang="en-US" sz="1600" dirty="0" smtClean="0">
                <a:latin typeface="Arial" pitchFamily="34" charset="0"/>
                <a:cs typeface="Arial" pitchFamily="34" charset="0"/>
                <a:sym typeface="Wingdings" pitchFamily="2" charset="2"/>
              </a:rPr>
              <a:t> </a:t>
            </a:r>
            <a:r>
              <a:rPr lang="vi-VN" sz="1600" dirty="0">
                <a:latin typeface="Arial" pitchFamily="34" charset="0"/>
                <a:cs typeface="Arial" pitchFamily="34" charset="0"/>
                <a:sym typeface="Wingdings" pitchFamily="2" charset="2"/>
              </a:rPr>
              <a:t>modelează evaluarea unui pachet de ședințe pentru o clasă de fitness.</a:t>
            </a:r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ro-RO" sz="1600" b="1" dirty="0" smtClean="0">
                <a:latin typeface="Arial" pitchFamily="34" charset="0"/>
                <a:cs typeface="Arial" pitchFamily="34" charset="0"/>
              </a:rPr>
              <a:t>Metoda testată: </a:t>
            </a:r>
            <a:r>
              <a:rPr lang="en-US" sz="1600" i="1" dirty="0" err="1" smtClean="0">
                <a:latin typeface="Arial" pitchFamily="34" charset="0"/>
                <a:cs typeface="Arial" pitchFamily="34" charset="0"/>
              </a:rPr>
              <a:t>evaluate_client_package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(self,</a:t>
            </a:r>
            <a:r>
              <a:rPr lang="ro-RO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session_history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: list[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str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],</a:t>
            </a:r>
            <a:r>
              <a:rPr lang="ro-RO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package_sessions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: 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,</a:t>
            </a:r>
            <a:r>
              <a:rPr lang="ro-RO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has_membership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: 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bool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)</a:t>
            </a:r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b="1" dirty="0">
                <a:latin typeface="Arial" pitchFamily="34" charset="0"/>
                <a:cs typeface="Arial" pitchFamily="34" charset="0"/>
              </a:rPr>
              <a:t>Framework </a:t>
            </a:r>
            <a:r>
              <a:rPr lang="en-US" sz="1600" b="1" dirty="0" err="1" smtClean="0">
                <a:latin typeface="Arial" pitchFamily="34" charset="0"/>
                <a:cs typeface="Arial" pitchFamily="34" charset="0"/>
              </a:rPr>
              <a:t>testare</a:t>
            </a:r>
            <a:r>
              <a:rPr lang="ro-RO" sz="1600" b="1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pytest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9.0.3</a:t>
            </a:r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b="1" dirty="0" smtClean="0">
                <a:latin typeface="Arial" pitchFamily="34" charset="0"/>
                <a:cs typeface="Arial" pitchFamily="34" charset="0"/>
              </a:rPr>
              <a:t>Coverage</a:t>
            </a:r>
            <a:r>
              <a:rPr lang="ro-RO" sz="1600" b="1" dirty="0" smtClean="0">
                <a:latin typeface="Arial" pitchFamily="34" charset="0"/>
                <a:cs typeface="Arial" pitchFamily="34" charset="0"/>
              </a:rPr>
              <a:t>:</a:t>
            </a:r>
            <a:r>
              <a:rPr lang="ro-RO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coverage.py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7.13.5</a:t>
            </a:r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b="1" dirty="0">
                <a:latin typeface="Arial" pitchFamily="34" charset="0"/>
                <a:cs typeface="Arial" pitchFamily="34" charset="0"/>
              </a:rPr>
              <a:t>Mutation </a:t>
            </a:r>
            <a:r>
              <a:rPr lang="en-US" sz="1600" b="1" dirty="0" smtClean="0">
                <a:latin typeface="Arial" pitchFamily="34" charset="0"/>
                <a:cs typeface="Arial" pitchFamily="34" charset="0"/>
              </a:rPr>
              <a:t>testing</a:t>
            </a:r>
            <a:r>
              <a:rPr lang="ro-RO" sz="1600" b="1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mutmut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2.5.1</a:t>
            </a:r>
          </a:p>
          <a:p>
            <a:r>
              <a:rPr lang="en-US" sz="1600" b="1" dirty="0" err="1" smtClean="0">
                <a:latin typeface="Arial" pitchFamily="34" charset="0"/>
                <a:cs typeface="Arial" pitchFamily="34" charset="0"/>
              </a:rPr>
              <a:t>Mediu</a:t>
            </a:r>
            <a:r>
              <a:rPr lang="en-US" sz="16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b="1" dirty="0" err="1" smtClean="0">
                <a:latin typeface="Arial" pitchFamily="34" charset="0"/>
                <a:cs typeface="Arial" pitchFamily="34" charset="0"/>
              </a:rPr>
              <a:t>rulare</a:t>
            </a:r>
            <a:r>
              <a:rPr lang="ro-RO" sz="1600" b="1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Windows 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11 Pro · Python 3.13.3 · WSL Ubuntu 24.04.1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0682" y="4428623"/>
            <a:ext cx="3612548" cy="14997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334020" cy="464171"/>
          </a:xfrm>
        </p:spPr>
        <p:txBody>
          <a:bodyPr>
            <a:noAutofit/>
          </a:bodyPr>
          <a:lstStyle/>
          <a:p>
            <a:r>
              <a:rPr lang="en-US" sz="2200" b="1" dirty="0" err="1" smtClean="0">
                <a:latin typeface="Arial" pitchFamily="34" charset="0"/>
                <a:cs typeface="Arial" pitchFamily="34" charset="0"/>
              </a:rPr>
              <a:t>Metoda</a:t>
            </a:r>
            <a:r>
              <a:rPr lang="en-US" sz="2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vi-VN" sz="2200" b="1" dirty="0" smtClean="0">
                <a:latin typeface="Arial" pitchFamily="34" charset="0"/>
                <a:cs typeface="Arial" pitchFamily="34" charset="0"/>
              </a:rPr>
              <a:t>testată</a:t>
            </a:r>
            <a:r>
              <a:rPr lang="en-US" sz="2200" b="1" dirty="0" smtClean="0">
                <a:latin typeface="Arial" pitchFamily="34" charset="0"/>
                <a:cs typeface="Arial" pitchFamily="34" charset="0"/>
              </a:rPr>
              <a:t> - </a:t>
            </a:r>
            <a:r>
              <a:rPr lang="vi-VN" sz="2200" b="1" dirty="0">
                <a:latin typeface="Arial" pitchFamily="34" charset="0"/>
                <a:cs typeface="Arial" pitchFamily="34" charset="0"/>
              </a:rPr>
              <a:t>Evaluarea stării unui pachet de ședințe de fitness</a:t>
            </a:r>
            <a:endParaRPr lang="en-US" sz="22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278293"/>
            <a:ext cx="11610808" cy="324705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b="1" dirty="0" err="1">
                <a:latin typeface="Tahoma" pitchFamily="34" charset="0"/>
                <a:ea typeface="Tahoma" pitchFamily="34" charset="0"/>
                <a:cs typeface="Tahoma" pitchFamily="34" charset="0"/>
              </a:rPr>
              <a:t>Descrierea</a:t>
            </a:r>
            <a:r>
              <a:rPr lang="en-US" b="1" dirty="0">
                <a:latin typeface="Tahoma" pitchFamily="34" charset="0"/>
                <a:ea typeface="Tahoma" pitchFamily="34" charset="0"/>
                <a:cs typeface="Tahoma" pitchFamily="34" charset="0"/>
              </a:rPr>
              <a:t> </a:t>
            </a:r>
            <a:r>
              <a:rPr lang="en-US" b="1" dirty="0" err="1">
                <a:latin typeface="Tahoma" pitchFamily="34" charset="0"/>
                <a:ea typeface="Tahoma" pitchFamily="34" charset="0"/>
                <a:cs typeface="Tahoma" pitchFamily="34" charset="0"/>
              </a:rPr>
              <a:t>clasei</a:t>
            </a:r>
            <a:r>
              <a:rPr lang="en-US" b="1" dirty="0">
                <a:latin typeface="Tahoma" pitchFamily="34" charset="0"/>
                <a:ea typeface="Tahoma" pitchFamily="34" charset="0"/>
                <a:cs typeface="Tahoma" pitchFamily="34" charset="0"/>
              </a:rPr>
              <a:t> </a:t>
            </a:r>
            <a:r>
              <a:rPr lang="en-US" b="1" dirty="0" err="1">
                <a:latin typeface="Tahoma" pitchFamily="34" charset="0"/>
                <a:ea typeface="Tahoma" pitchFamily="34" charset="0"/>
                <a:cs typeface="Tahoma" pitchFamily="34" charset="0"/>
              </a:rPr>
              <a:t>și</a:t>
            </a:r>
            <a:r>
              <a:rPr lang="en-US" b="1" dirty="0">
                <a:latin typeface="Tahoma" pitchFamily="34" charset="0"/>
                <a:ea typeface="Tahoma" pitchFamily="34" charset="0"/>
                <a:cs typeface="Tahoma" pitchFamily="34" charset="0"/>
              </a:rPr>
              <a:t> </a:t>
            </a:r>
            <a:r>
              <a:rPr lang="en-US" b="1" dirty="0" err="1" smtClean="0">
                <a:latin typeface="Tahoma" pitchFamily="34" charset="0"/>
                <a:ea typeface="Tahoma" pitchFamily="34" charset="0"/>
                <a:cs typeface="Tahoma" pitchFamily="34" charset="0"/>
              </a:rPr>
              <a:t>metodei</a:t>
            </a:r>
            <a:r>
              <a:rPr lang="en-US" b="1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: </a:t>
            </a:r>
          </a:p>
          <a:p>
            <a:r>
              <a:rPr lang="vi-VN" b="1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FitnessClassBooking</a:t>
            </a:r>
            <a:r>
              <a:rPr lang="vi-VN" dirty="0">
                <a:latin typeface="Tahoma" pitchFamily="34" charset="0"/>
                <a:ea typeface="Tahoma" pitchFamily="34" charset="0"/>
                <a:cs typeface="Tahoma" pitchFamily="34" charset="0"/>
              </a:rPr>
              <a:t> este o clasă Python care modelează o clasă de fitness dintr-un sistem de rezervări. Constructorul primește tipul clasei (class_name), instructorul și prețul per ședință, și validează aceste date la creare.</a:t>
            </a:r>
          </a:p>
          <a:p>
            <a:r>
              <a:rPr lang="vi-VN" b="1" dirty="0">
                <a:latin typeface="Tahoma" pitchFamily="34" charset="0"/>
                <a:ea typeface="Tahoma" pitchFamily="34" charset="0"/>
                <a:cs typeface="Tahoma" pitchFamily="34" charset="0"/>
              </a:rPr>
              <a:t>evaluate_client_package</a:t>
            </a:r>
            <a:r>
              <a:rPr lang="vi-VN" dirty="0">
                <a:latin typeface="Tahoma" pitchFamily="34" charset="0"/>
                <a:ea typeface="Tahoma" pitchFamily="34" charset="0"/>
                <a:cs typeface="Tahoma" pitchFamily="34" charset="0"/>
              </a:rPr>
              <a:t> este metoda principală testată. Primește istoricul ședințelor unui client (session_history), numărul de ședințe din pachetul cumpărat (package_sessions) și dacă clientul are membership (has_membership). Pe baza acestora calculează câte ședințe au fost consumate, câte au rămas, costul total al pachetului (cu sau fără discount) și statusul final al pachetului.</a:t>
            </a:r>
          </a:p>
          <a:p>
            <a:pPr marL="0" indent="0">
              <a:buNone/>
            </a:pPr>
            <a:r>
              <a:rPr lang="vi-VN" b="1" dirty="0">
                <a:latin typeface="Tahoma" pitchFamily="34" charset="0"/>
                <a:ea typeface="Tahoma" pitchFamily="34" charset="0"/>
                <a:cs typeface="Tahoma" pitchFamily="34" charset="0"/>
              </a:rPr>
              <a:t>Semnăturile metodelor</a:t>
            </a:r>
          </a:p>
          <a:p>
            <a:r>
              <a:rPr lang="en-US" dirty="0">
                <a:latin typeface="Tahoma" pitchFamily="34" charset="0"/>
                <a:ea typeface="Tahoma" pitchFamily="34" charset="0"/>
                <a:cs typeface="Tahoma" pitchFamily="34" charset="0"/>
              </a:rPr>
              <a:t>booking = </a:t>
            </a:r>
            <a:r>
              <a:rPr lang="en-US" dirty="0" err="1">
                <a:latin typeface="Tahoma" pitchFamily="34" charset="0"/>
                <a:ea typeface="Tahoma" pitchFamily="34" charset="0"/>
                <a:cs typeface="Tahoma" pitchFamily="34" charset="0"/>
              </a:rPr>
              <a:t>FitnessClassBooking</a:t>
            </a:r>
            <a:r>
              <a:rPr lang="en-US" dirty="0">
                <a:latin typeface="Tahoma" pitchFamily="34" charset="0"/>
                <a:ea typeface="Tahoma" pitchFamily="34" charset="0"/>
                <a:cs typeface="Tahoma" pitchFamily="34" charset="0"/>
              </a:rPr>
              <a:t>(</a:t>
            </a:r>
            <a:r>
              <a:rPr lang="en-US" dirty="0" err="1">
                <a:latin typeface="Tahoma" pitchFamily="34" charset="0"/>
                <a:ea typeface="Tahoma" pitchFamily="34" charset="0"/>
                <a:cs typeface="Tahoma" pitchFamily="34" charset="0"/>
              </a:rPr>
              <a:t>class_name</a:t>
            </a:r>
            <a:r>
              <a:rPr lang="en-US" dirty="0">
                <a:latin typeface="Tahoma" pitchFamily="34" charset="0"/>
                <a:ea typeface="Tahoma" pitchFamily="34" charset="0"/>
                <a:cs typeface="Tahoma" pitchFamily="34" charset="0"/>
              </a:rPr>
              <a:t>, instructor, </a:t>
            </a:r>
            <a:r>
              <a:rPr lang="en-US" dirty="0" err="1">
                <a:latin typeface="Tahoma" pitchFamily="34" charset="0"/>
                <a:ea typeface="Tahoma" pitchFamily="34" charset="0"/>
                <a:cs typeface="Tahoma" pitchFamily="34" charset="0"/>
              </a:rPr>
              <a:t>price_per_session</a:t>
            </a:r>
            <a:r>
              <a:rPr lang="en-US" dirty="0">
                <a:latin typeface="Tahoma" pitchFamily="34" charset="0"/>
                <a:ea typeface="Tahoma" pitchFamily="34" charset="0"/>
                <a:cs typeface="Tahoma" pitchFamily="34" charset="0"/>
              </a:rPr>
              <a:t>) </a:t>
            </a:r>
            <a:endParaRPr lang="en-US" dirty="0" smtClean="0">
              <a:latin typeface="Tahoma" pitchFamily="34" charset="0"/>
              <a:ea typeface="Tahoma" pitchFamily="34" charset="0"/>
              <a:cs typeface="Tahoma" pitchFamily="34" charset="0"/>
            </a:endParaRPr>
          </a:p>
          <a:p>
            <a:r>
              <a:rPr lang="en-US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result </a:t>
            </a:r>
            <a:r>
              <a:rPr lang="en-US" dirty="0">
                <a:latin typeface="Tahoma" pitchFamily="34" charset="0"/>
                <a:ea typeface="Tahoma" pitchFamily="34" charset="0"/>
                <a:cs typeface="Tahoma" pitchFamily="34" charset="0"/>
              </a:rPr>
              <a:t>= </a:t>
            </a:r>
            <a:r>
              <a:rPr lang="en-US" dirty="0" err="1">
                <a:latin typeface="Tahoma" pitchFamily="34" charset="0"/>
                <a:ea typeface="Tahoma" pitchFamily="34" charset="0"/>
                <a:cs typeface="Tahoma" pitchFamily="34" charset="0"/>
              </a:rPr>
              <a:t>booking.evaluate_client_package</a:t>
            </a:r>
            <a:r>
              <a:rPr lang="en-US" dirty="0">
                <a:latin typeface="Tahoma" pitchFamily="34" charset="0"/>
                <a:ea typeface="Tahoma" pitchFamily="34" charset="0"/>
                <a:cs typeface="Tahoma" pitchFamily="34" charset="0"/>
              </a:rPr>
              <a:t>(</a:t>
            </a:r>
            <a:r>
              <a:rPr lang="en-US" dirty="0" err="1">
                <a:latin typeface="Tahoma" pitchFamily="34" charset="0"/>
                <a:ea typeface="Tahoma" pitchFamily="34" charset="0"/>
                <a:cs typeface="Tahoma" pitchFamily="34" charset="0"/>
              </a:rPr>
              <a:t>session_history</a:t>
            </a:r>
            <a:r>
              <a:rPr lang="en-US" dirty="0">
                <a:latin typeface="Tahoma" pitchFamily="34" charset="0"/>
                <a:ea typeface="Tahoma" pitchFamily="34" charset="0"/>
                <a:cs typeface="Tahoma" pitchFamily="34" charset="0"/>
              </a:rPr>
              <a:t>, </a:t>
            </a:r>
            <a:r>
              <a:rPr lang="en-US" dirty="0" err="1">
                <a:latin typeface="Tahoma" pitchFamily="34" charset="0"/>
                <a:ea typeface="Tahoma" pitchFamily="34" charset="0"/>
                <a:cs typeface="Tahoma" pitchFamily="34" charset="0"/>
              </a:rPr>
              <a:t>package_sessions</a:t>
            </a:r>
            <a:r>
              <a:rPr lang="en-US" dirty="0">
                <a:latin typeface="Tahoma" pitchFamily="34" charset="0"/>
                <a:ea typeface="Tahoma" pitchFamily="34" charset="0"/>
                <a:cs typeface="Tahoma" pitchFamily="34" charset="0"/>
              </a:rPr>
              <a:t>, </a:t>
            </a:r>
            <a:r>
              <a:rPr lang="en-US" dirty="0" err="1">
                <a:latin typeface="Tahoma" pitchFamily="34" charset="0"/>
                <a:ea typeface="Tahoma" pitchFamily="34" charset="0"/>
                <a:cs typeface="Tahoma" pitchFamily="34" charset="0"/>
              </a:rPr>
              <a:t>has_membership</a:t>
            </a:r>
            <a:r>
              <a:rPr lang="en-US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)</a:t>
            </a:r>
            <a:endParaRPr lang="en-US" b="1" dirty="0" smtClean="0">
              <a:latin typeface="Tahoma" pitchFamily="34" charset="0"/>
              <a:ea typeface="Tahoma" pitchFamily="34" charset="0"/>
              <a:cs typeface="Tahoma" pitchFamily="34" charset="0"/>
            </a:endParaRPr>
          </a:p>
          <a:p>
            <a:pPr marL="0" indent="0">
              <a:buNone/>
            </a:pPr>
            <a:r>
              <a:rPr lang="en-US" b="1" dirty="0" err="1">
                <a:latin typeface="Tahoma" pitchFamily="34" charset="0"/>
                <a:ea typeface="Tahoma" pitchFamily="34" charset="0"/>
                <a:cs typeface="Tahoma" pitchFamily="34" charset="0"/>
              </a:rPr>
              <a:t>Statusurile</a:t>
            </a:r>
            <a:r>
              <a:rPr lang="en-US" b="1" dirty="0">
                <a:latin typeface="Tahoma" pitchFamily="34" charset="0"/>
                <a:ea typeface="Tahoma" pitchFamily="34" charset="0"/>
                <a:cs typeface="Tahoma" pitchFamily="34" charset="0"/>
              </a:rPr>
              <a:t> din </a:t>
            </a:r>
            <a:r>
              <a:rPr lang="en-US" b="1" dirty="0" err="1" smtClean="0">
                <a:latin typeface="Tahoma" pitchFamily="34" charset="0"/>
                <a:ea typeface="Tahoma" pitchFamily="34" charset="0"/>
                <a:cs typeface="Tahoma" pitchFamily="34" charset="0"/>
              </a:rPr>
              <a:t>session_history</a:t>
            </a:r>
            <a:r>
              <a:rPr lang="en-US" b="1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                                                 </a:t>
            </a:r>
            <a:r>
              <a:rPr lang="en-US" sz="1600" b="1" dirty="0" err="1">
                <a:latin typeface="Tahoma" pitchFamily="34" charset="0"/>
                <a:ea typeface="Tahoma" pitchFamily="34" charset="0"/>
                <a:cs typeface="Tahoma" pitchFamily="34" charset="0"/>
              </a:rPr>
              <a:t>Statusul</a:t>
            </a:r>
            <a:r>
              <a:rPr lang="en-US" sz="1600" b="1" dirty="0">
                <a:latin typeface="Tahoma" pitchFamily="34" charset="0"/>
                <a:ea typeface="Tahoma" pitchFamily="34" charset="0"/>
                <a:cs typeface="Tahoma" pitchFamily="34" charset="0"/>
              </a:rPr>
              <a:t> final al </a:t>
            </a:r>
            <a:r>
              <a:rPr lang="en-US" sz="1600" b="1" dirty="0" err="1">
                <a:latin typeface="Tahoma" pitchFamily="34" charset="0"/>
                <a:ea typeface="Tahoma" pitchFamily="34" charset="0"/>
                <a:cs typeface="Tahoma" pitchFamily="34" charset="0"/>
              </a:rPr>
              <a:t>pachetului</a:t>
            </a:r>
            <a:endParaRPr lang="en-US" sz="1600" b="1" dirty="0">
              <a:latin typeface="Tahoma" pitchFamily="34" charset="0"/>
              <a:ea typeface="Tahoma" pitchFamily="34" charset="0"/>
              <a:cs typeface="Tahoma" pitchFamily="34" charset="0"/>
            </a:endParaRPr>
          </a:p>
          <a:p>
            <a:pPr marL="0" indent="0">
              <a:buNone/>
            </a:pPr>
            <a:endParaRPr lang="en-US" b="1" dirty="0"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088" y="4288809"/>
            <a:ext cx="3916654" cy="11603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7213" y="4288810"/>
            <a:ext cx="4569430" cy="11603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496724" y="5551864"/>
            <a:ext cx="4420510" cy="95794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060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1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1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 err="1" smtClean="0">
                <a:latin typeface="Tahoma" pitchFamily="34" charset="0"/>
                <a:ea typeface="Tahoma" pitchFamily="34" charset="0"/>
                <a:cs typeface="Tahoma" pitchFamily="34" charset="0"/>
              </a:rPr>
              <a:t>Exemplu</a:t>
            </a:r>
            <a:r>
              <a:rPr lang="en-US" sz="1400" b="1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:</a:t>
            </a:r>
          </a:p>
          <a:p>
            <a:pPr marL="0" indent="0">
              <a:buNone/>
            </a:pPr>
            <a:r>
              <a:rPr lang="en-US" sz="1400" b="1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 </a:t>
            </a:r>
            <a:br>
              <a:rPr lang="en-US" sz="1400" b="1" dirty="0" smtClean="0">
                <a:latin typeface="Tahoma" pitchFamily="34" charset="0"/>
                <a:ea typeface="Tahoma" pitchFamily="34" charset="0"/>
                <a:cs typeface="Tahoma" pitchFamily="34" charset="0"/>
              </a:rPr>
            </a:br>
            <a:r>
              <a:rPr lang="en-US" sz="1400" b="1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Input: </a:t>
            </a:r>
            <a:r>
              <a:rPr lang="en-US" sz="1400" dirty="0"/>
              <a:t>["attended", "attended", "cancelled", "</a:t>
            </a:r>
            <a:r>
              <a:rPr lang="en-US" sz="1400" dirty="0" err="1"/>
              <a:t>no_show</a:t>
            </a:r>
            <a:r>
              <a:rPr lang="en-US" sz="1400" dirty="0"/>
              <a:t>"], </a:t>
            </a:r>
            <a:r>
              <a:rPr lang="en-US" sz="1400" dirty="0" err="1"/>
              <a:t>package_sessions</a:t>
            </a:r>
            <a:r>
              <a:rPr lang="en-US" sz="1400" dirty="0"/>
              <a:t>=5, </a:t>
            </a:r>
            <a:r>
              <a:rPr lang="en-US" sz="1400" dirty="0" err="1"/>
              <a:t>has_membership</a:t>
            </a:r>
            <a:r>
              <a:rPr lang="en-US" sz="1400" dirty="0"/>
              <a:t>=True</a:t>
            </a:r>
            <a:endParaRPr lang="en-US" sz="1400" b="1" dirty="0"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  <p:sp>
        <p:nvSpPr>
          <p:cNvPr id="9" name="Content Placeholder 2"/>
          <p:cNvSpPr txBox="1">
            <a:spLocks/>
          </p:cNvSpPr>
          <p:nvPr/>
        </p:nvSpPr>
        <p:spPr>
          <a:xfrm>
            <a:off x="5057213" y="5847791"/>
            <a:ext cx="6857999" cy="95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1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1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Output: </a:t>
            </a:r>
            <a:r>
              <a:rPr lang="en-US" sz="1400" dirty="0"/>
              <a:t>attended=2 </a:t>
            </a:r>
            <a:r>
              <a:rPr lang="en-US" sz="1400" dirty="0" smtClean="0"/>
              <a:t>; </a:t>
            </a:r>
            <a:r>
              <a:rPr lang="en-US" sz="1400" dirty="0" err="1"/>
              <a:t>no_show</a:t>
            </a:r>
            <a:r>
              <a:rPr lang="en-US" sz="1400" dirty="0"/>
              <a:t>=1 </a:t>
            </a:r>
            <a:r>
              <a:rPr lang="en-US" sz="1400" dirty="0" smtClean="0"/>
              <a:t>; </a:t>
            </a:r>
            <a:r>
              <a:rPr lang="en-US" sz="1400" dirty="0"/>
              <a:t>cancelled=1 </a:t>
            </a:r>
            <a:r>
              <a:rPr lang="en-US" sz="1400" dirty="0" smtClean="0"/>
              <a:t>; </a:t>
            </a:r>
            <a:r>
              <a:rPr lang="en-US" sz="1400" dirty="0" err="1" smtClean="0"/>
              <a:t>used_sessions</a:t>
            </a:r>
            <a:r>
              <a:rPr lang="en-US" sz="1400" dirty="0" smtClean="0"/>
              <a:t>=3 ; remaining=2 ; </a:t>
            </a:r>
            <a:r>
              <a:rPr lang="en-US" sz="1400" dirty="0" err="1"/>
              <a:t>total_cost</a:t>
            </a:r>
            <a:r>
              <a:rPr lang="en-US" sz="1400" dirty="0"/>
              <a:t> = 5 × 50 × 0.80 = 200.0 </a:t>
            </a:r>
            <a:r>
              <a:rPr lang="en-US" sz="1400" dirty="0" smtClean="0"/>
              <a:t>; status </a:t>
            </a:r>
            <a:r>
              <a:rPr lang="en-US" sz="1400" dirty="0"/>
              <a:t>= "active"</a:t>
            </a:r>
            <a:endParaRPr lang="en-US" sz="1400" b="1" dirty="0"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4051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1151" y="802431"/>
            <a:ext cx="4569306" cy="715219"/>
          </a:xfrm>
        </p:spPr>
        <p:txBody>
          <a:bodyPr/>
          <a:lstStyle/>
          <a:p>
            <a:r>
              <a:rPr lang="en-US" dirty="0" err="1" smtClean="0"/>
              <a:t>Strategiile</a:t>
            </a:r>
            <a:r>
              <a:rPr lang="en-US" dirty="0" smtClean="0"/>
              <a:t> de </a:t>
            </a:r>
            <a:r>
              <a:rPr lang="en-US" dirty="0" err="1" smtClean="0"/>
              <a:t>testare</a:t>
            </a: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200" y="1591529"/>
            <a:ext cx="6027878" cy="2206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itle 1"/>
          <p:cNvSpPr txBox="1">
            <a:spLocks/>
          </p:cNvSpPr>
          <p:nvPr/>
        </p:nvSpPr>
        <p:spPr>
          <a:xfrm>
            <a:off x="149290" y="3670039"/>
            <a:ext cx="6195526" cy="7152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 err="1" smtClean="0"/>
              <a:t>Distribu</a:t>
            </a:r>
            <a:r>
              <a:rPr lang="ro-RO" dirty="0" smtClean="0"/>
              <a:t>tia celor 100 de teste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85" y="4534545"/>
            <a:ext cx="6112535" cy="1903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5924939" y="758889"/>
            <a:ext cx="6267061" cy="7152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o-RO" sz="2000" dirty="0" smtClean="0"/>
              <a:t>Obiectul verificat de teste – outputul metodei</a:t>
            </a:r>
            <a:endParaRPr lang="en-US" sz="2000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3320" y="1627706"/>
            <a:ext cx="5761038" cy="1417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ctangle 3"/>
          <p:cNvSpPr/>
          <p:nvPr/>
        </p:nvSpPr>
        <p:spPr>
          <a:xfrm>
            <a:off x="6723667" y="3295396"/>
            <a:ext cx="518219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dirty="0"/>
              <a:t>Testele verifică fiecare câmp din acest </a:t>
            </a:r>
            <a:r>
              <a:rPr lang="vi-VN" dirty="0" smtClean="0"/>
              <a:t>dicționar</a:t>
            </a:r>
            <a:r>
              <a:rPr lang="ro-RO" dirty="0" smtClean="0"/>
              <a:t> (</a:t>
            </a:r>
            <a:r>
              <a:rPr lang="vi-VN" dirty="0" smtClean="0"/>
              <a:t>atât </a:t>
            </a:r>
            <a:r>
              <a:rPr lang="vi-VN" dirty="0"/>
              <a:t>individual, cât și </a:t>
            </a:r>
            <a:r>
              <a:rPr lang="vi-VN" dirty="0" smtClean="0"/>
              <a:t>combinat</a:t>
            </a:r>
            <a:r>
              <a:rPr lang="ro-RO" dirty="0" smtClean="0"/>
              <a:t>)</a:t>
            </a:r>
            <a:r>
              <a:rPr lang="vi-VN" dirty="0" smtClean="0"/>
              <a:t> </a:t>
            </a:r>
            <a:r>
              <a:rPr lang="vi-VN" dirty="0"/>
              <a:t>pentru a confirma că logica metodei este corectă.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287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604130"/>
          </a:xfrm>
        </p:spPr>
        <p:txBody>
          <a:bodyPr/>
          <a:lstStyle/>
          <a:p>
            <a:r>
              <a:rPr lang="nb-NO" b="1" dirty="0"/>
              <a:t>Validări și reguli de </a:t>
            </a:r>
            <a:r>
              <a:rPr lang="nb-NO" b="1" dirty="0" smtClean="0"/>
              <a:t>business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877" y="1343608"/>
            <a:ext cx="11548605" cy="5187821"/>
          </a:xfrm>
        </p:spPr>
        <p:txBody>
          <a:bodyPr/>
          <a:lstStyle/>
          <a:p>
            <a:r>
              <a:rPr lang="vi-VN" b="1" dirty="0"/>
              <a:t>Validări constructor __init</a:t>
            </a:r>
            <a:r>
              <a:rPr lang="vi-VN" b="1" dirty="0" smtClean="0"/>
              <a:t>__</a:t>
            </a:r>
            <a:endParaRPr lang="ro-RO" b="1" dirty="0"/>
          </a:p>
          <a:p>
            <a:pPr marL="0" indent="0">
              <a:buNone/>
            </a:pPr>
            <a:endParaRPr lang="ro-RO" b="1" dirty="0" smtClean="0"/>
          </a:p>
          <a:p>
            <a:pPr marL="0" indent="0">
              <a:buNone/>
            </a:pPr>
            <a:endParaRPr lang="vi-VN" b="1" dirty="0"/>
          </a:p>
          <a:p>
            <a:r>
              <a:rPr lang="vi-VN" b="1" dirty="0"/>
              <a:t>Validări metodă </a:t>
            </a:r>
            <a:r>
              <a:rPr lang="vi-VN" b="1" dirty="0" smtClean="0"/>
              <a:t>evaluate_client_package</a:t>
            </a:r>
            <a:endParaRPr lang="ro-RO" b="1" dirty="0" smtClean="0"/>
          </a:p>
          <a:p>
            <a:endParaRPr lang="ro-RO" b="1" dirty="0"/>
          </a:p>
          <a:p>
            <a:endParaRPr lang="ro-RO" b="1" dirty="0" smtClean="0"/>
          </a:p>
          <a:p>
            <a:pPr marL="0" indent="0">
              <a:buNone/>
            </a:pPr>
            <a:endParaRPr lang="ro-RO" dirty="0" smtClean="0"/>
          </a:p>
          <a:p>
            <a:r>
              <a:rPr lang="vi-VN" b="1" dirty="0"/>
              <a:t>Cazul special bool / </a:t>
            </a:r>
            <a:r>
              <a:rPr lang="vi-VN" b="1" dirty="0" smtClean="0"/>
              <a:t>int</a:t>
            </a:r>
            <a:endParaRPr lang="ro-RO" b="1" dirty="0" smtClean="0"/>
          </a:p>
          <a:p>
            <a:endParaRPr lang="ro-RO" b="1" dirty="0"/>
          </a:p>
          <a:p>
            <a:pPr marL="0" indent="0">
              <a:buNone/>
            </a:pPr>
            <a:endParaRPr lang="ro-RO" b="1" dirty="0" smtClean="0"/>
          </a:p>
          <a:p>
            <a:r>
              <a:rPr lang="vi-VN" b="1" dirty="0"/>
              <a:t>Formula costului</a:t>
            </a:r>
            <a:endParaRPr lang="vi-VN" b="1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2289" y="1482405"/>
            <a:ext cx="4046602" cy="10667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6269" y="2651758"/>
            <a:ext cx="3913083" cy="17896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772" y="6263789"/>
            <a:ext cx="7529756" cy="5102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3743" y="4658535"/>
            <a:ext cx="4062412" cy="1273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77070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282" y="403073"/>
            <a:ext cx="11681926" cy="988332"/>
          </a:xfrm>
        </p:spPr>
        <p:txBody>
          <a:bodyPr>
            <a:noAutofit/>
          </a:bodyPr>
          <a:lstStyle/>
          <a:p>
            <a:r>
              <a:rPr lang="es-ES" sz="2000" b="1" dirty="0" err="1">
                <a:latin typeface="Arial" pitchFamily="34" charset="0"/>
                <a:cs typeface="Arial" pitchFamily="34" charset="0"/>
              </a:rPr>
              <a:t>Partiționare</a:t>
            </a:r>
            <a:r>
              <a:rPr lang="es-ES" sz="2000" b="1" dirty="0">
                <a:latin typeface="Arial" pitchFamily="34" charset="0"/>
                <a:cs typeface="Arial" pitchFamily="34" charset="0"/>
              </a:rPr>
              <a:t> </a:t>
            </a:r>
            <a:r>
              <a:rPr lang="es-ES" sz="2000" b="1" dirty="0" err="1">
                <a:latin typeface="Arial" pitchFamily="34" charset="0"/>
                <a:cs typeface="Arial" pitchFamily="34" charset="0"/>
              </a:rPr>
              <a:t>în</a:t>
            </a:r>
            <a:r>
              <a:rPr lang="es-ES" sz="2000" b="1" dirty="0">
                <a:latin typeface="Arial" pitchFamily="34" charset="0"/>
                <a:cs typeface="Arial" pitchFamily="34" charset="0"/>
              </a:rPr>
              <a:t> clase de </a:t>
            </a:r>
            <a:r>
              <a:rPr lang="es-ES" sz="2000" b="1" dirty="0" err="1" smtClean="0">
                <a:latin typeface="Arial" pitchFamily="34" charset="0"/>
                <a:cs typeface="Arial" pitchFamily="34" charset="0"/>
              </a:rPr>
              <a:t>echivalență</a:t>
            </a:r>
            <a:r>
              <a:rPr lang="ro-RO" sz="2000" b="1" dirty="0">
                <a:latin typeface="Arial" pitchFamily="34" charset="0"/>
                <a:cs typeface="Arial" pitchFamily="34" charset="0"/>
              </a:rPr>
              <a:t> </a:t>
            </a:r>
            <a:r>
              <a:rPr lang="ro-RO" sz="2000" b="1" dirty="0" smtClean="0">
                <a:latin typeface="Arial" pitchFamily="34" charset="0"/>
                <a:cs typeface="Arial" pitchFamily="34" charset="0"/>
              </a:rPr>
              <a:t>– 23 de teste</a:t>
            </a:r>
            <a:br>
              <a:rPr lang="ro-RO" sz="2000" b="1" dirty="0" smtClean="0">
                <a:latin typeface="Arial" pitchFamily="34" charset="0"/>
                <a:cs typeface="Arial" pitchFamily="34" charset="0"/>
              </a:rPr>
            </a:br>
            <a:r>
              <a:rPr lang="it-IT" sz="2000" dirty="0">
                <a:latin typeface="Arial" pitchFamily="34" charset="0"/>
                <a:cs typeface="Arial" pitchFamily="34" charset="0"/>
              </a:rPr>
              <a:t>Grupuri de valori cu comportament identic · câte un reprezentant per clasă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874060" y="1555493"/>
            <a:ext cx="13526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Clase</a:t>
            </a:r>
            <a:r>
              <a:rPr lang="en-US" dirty="0"/>
              <a:t> </a:t>
            </a:r>
            <a:r>
              <a:rPr lang="en-US" dirty="0" err="1"/>
              <a:t>valide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7066383" y="1598101"/>
            <a:ext cx="30491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Clase</a:t>
            </a:r>
            <a:r>
              <a:rPr lang="en-US" dirty="0"/>
              <a:t> </a:t>
            </a:r>
            <a:r>
              <a:rPr lang="en-US" dirty="0" err="1"/>
              <a:t>invalide</a:t>
            </a:r>
            <a:r>
              <a:rPr lang="en-US" dirty="0"/>
              <a:t> </a:t>
            </a:r>
            <a:r>
              <a:rPr lang="en-US" dirty="0" smtClean="0"/>
              <a:t>(</a:t>
            </a:r>
            <a:r>
              <a:rPr lang="ro-RO" dirty="0" smtClean="0"/>
              <a:t>=</a:t>
            </a:r>
            <a:r>
              <a:rPr lang="en-US" dirty="0" smtClean="0"/>
              <a:t>&gt; </a:t>
            </a:r>
            <a:r>
              <a:rPr lang="en-US" dirty="0" err="1" smtClean="0"/>
              <a:t>ValueError</a:t>
            </a:r>
            <a:r>
              <a:rPr lang="en-US" dirty="0"/>
              <a:t>)</a:t>
            </a:r>
          </a:p>
        </p:txBody>
      </p:sp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46" y="2004755"/>
            <a:ext cx="5003842" cy="3372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127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7625" y="2004755"/>
            <a:ext cx="7064375" cy="2225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Rectangle 7"/>
          <p:cNvSpPr/>
          <p:nvPr/>
        </p:nvSpPr>
        <p:spPr>
          <a:xfrm>
            <a:off x="5127625" y="4321719"/>
            <a:ext cx="709858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1600" b="1" dirty="0"/>
              <a:t>price_per_session</a:t>
            </a:r>
            <a:r>
              <a:rPr lang="vi-VN" sz="1600" dirty="0"/>
              <a:t> și </a:t>
            </a:r>
            <a:r>
              <a:rPr lang="vi-VN" sz="1600" b="1" dirty="0"/>
              <a:t>package_sessions</a:t>
            </a:r>
            <a:r>
              <a:rPr lang="vi-VN" sz="1600" dirty="0"/>
              <a:t> au câte o clasă invalidă separată pentru bool față de restul valorilor numerice invalide. Motivul: în Python bool este subclasă a lui int, deci True și False ar trece de isinstance(..., int) fără o verificare explicită pusă înaintea ei.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23932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66807"/>
          </a:xfrm>
        </p:spPr>
        <p:txBody>
          <a:bodyPr/>
          <a:lstStyle/>
          <a:p>
            <a:r>
              <a:rPr lang="vi-VN" b="1" dirty="0"/>
              <a:t>Analiza valorilor de </a:t>
            </a:r>
            <a:r>
              <a:rPr lang="vi-VN" b="1" dirty="0" smtClean="0"/>
              <a:t>frontieră</a:t>
            </a:r>
            <a:r>
              <a:rPr lang="ro-RO" b="1" dirty="0" smtClean="0"/>
              <a:t> – 16 teste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3683" y="1618089"/>
            <a:ext cx="49457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/>
              <a:t>Frontierele</a:t>
            </a:r>
            <a:r>
              <a:rPr lang="fr-FR" dirty="0"/>
              <a:t> </a:t>
            </a:r>
            <a:r>
              <a:rPr lang="fr-FR" b="1" dirty="0" err="1"/>
              <a:t>package_sessions</a:t>
            </a:r>
            <a:r>
              <a:rPr lang="fr-FR" dirty="0"/>
              <a:t> </a:t>
            </a:r>
            <a:r>
              <a:rPr lang="ro-RO" dirty="0" smtClean="0"/>
              <a:t>--</a:t>
            </a:r>
            <a:r>
              <a:rPr lang="fr-FR" dirty="0" smtClean="0"/>
              <a:t> </a:t>
            </a:r>
            <a:r>
              <a:rPr lang="fr-FR" dirty="0" err="1"/>
              <a:t>intervalul</a:t>
            </a:r>
            <a:r>
              <a:rPr lang="fr-FR" dirty="0"/>
              <a:t> [1, 20]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775" y="1980809"/>
            <a:ext cx="4831531" cy="22366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ectangle 5"/>
          <p:cNvSpPr/>
          <p:nvPr/>
        </p:nvSpPr>
        <p:spPr>
          <a:xfrm>
            <a:off x="310776" y="4391999"/>
            <a:ext cx="44718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Frontierele</a:t>
            </a:r>
            <a:r>
              <a:rPr lang="en-US" dirty="0"/>
              <a:t> </a:t>
            </a:r>
            <a:r>
              <a:rPr lang="en-US" b="1" dirty="0" err="1"/>
              <a:t>price_per_session</a:t>
            </a:r>
            <a:r>
              <a:rPr lang="en-US" dirty="0"/>
              <a:t> </a:t>
            </a:r>
            <a:r>
              <a:rPr lang="ro-RO" dirty="0" smtClean="0"/>
              <a:t>--</a:t>
            </a:r>
            <a:r>
              <a:rPr lang="en-US" dirty="0" smtClean="0"/>
              <a:t> </a:t>
            </a:r>
            <a:r>
              <a:rPr lang="en-US" dirty="0" err="1"/>
              <a:t>condiție</a:t>
            </a:r>
            <a:r>
              <a:rPr lang="en-US" dirty="0"/>
              <a:t> &gt; 0</a:t>
            </a: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331" y="4858509"/>
            <a:ext cx="3024058" cy="1327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6098" y="2170325"/>
            <a:ext cx="2416629" cy="924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Rectangle 7"/>
          <p:cNvSpPr/>
          <p:nvPr/>
        </p:nvSpPr>
        <p:spPr>
          <a:xfrm>
            <a:off x="6026098" y="1618089"/>
            <a:ext cx="48038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vi-VN" dirty="0"/>
              <a:t>Frontierele </a:t>
            </a:r>
            <a:r>
              <a:rPr lang="vi-VN" b="1" dirty="0" smtClean="0"/>
              <a:t>instructor</a:t>
            </a:r>
            <a:r>
              <a:rPr lang="ro-RO" dirty="0" smtClean="0"/>
              <a:t> --</a:t>
            </a:r>
            <a:r>
              <a:rPr lang="vi-VN" dirty="0" smtClean="0"/>
              <a:t> </a:t>
            </a:r>
            <a:r>
              <a:rPr lang="vi-VN" dirty="0"/>
              <a:t>lungime după strip()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6026098" y="3241246"/>
            <a:ext cx="6066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vi-VN" dirty="0"/>
              <a:t>Frontiera de </a:t>
            </a:r>
            <a:r>
              <a:rPr lang="vi-VN" b="1" dirty="0"/>
              <a:t>consum</a:t>
            </a:r>
            <a:r>
              <a:rPr lang="vi-VN" dirty="0"/>
              <a:t> </a:t>
            </a:r>
            <a:r>
              <a:rPr lang="ro-RO" dirty="0" smtClean="0"/>
              <a:t>--</a:t>
            </a:r>
            <a:r>
              <a:rPr lang="vi-VN" dirty="0" smtClean="0"/>
              <a:t> </a:t>
            </a:r>
            <a:r>
              <a:rPr lang="vi-VN" dirty="0"/>
              <a:t>momentul completării pachetului</a:t>
            </a:r>
            <a:endParaRPr lang="en-US" dirty="0"/>
          </a:p>
        </p:txBody>
      </p:sp>
      <p:pic>
        <p:nvPicPr>
          <p:cNvPr id="6150" name="Picture 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6098" y="3764128"/>
            <a:ext cx="4897351" cy="24220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60479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1" y="702156"/>
            <a:ext cx="11501951" cy="772081"/>
          </a:xfrm>
        </p:spPr>
        <p:txBody>
          <a:bodyPr>
            <a:normAutofit/>
          </a:bodyPr>
          <a:lstStyle/>
          <a:p>
            <a:r>
              <a:rPr lang="it-IT" sz="2000" b="1" dirty="0">
                <a:latin typeface="Arial" pitchFamily="34" charset="0"/>
                <a:cs typeface="Arial" pitchFamily="34" charset="0"/>
              </a:rPr>
              <a:t>Acoperire structurală: instrucțiune, decizie, </a:t>
            </a:r>
            <a:r>
              <a:rPr lang="it-IT" sz="2000" b="1" dirty="0" smtClean="0">
                <a:latin typeface="Arial" pitchFamily="34" charset="0"/>
                <a:cs typeface="Arial" pitchFamily="34" charset="0"/>
              </a:rPr>
              <a:t>condiție</a:t>
            </a:r>
            <a:r>
              <a:rPr lang="ro-RO" sz="2000" b="1" dirty="0" smtClean="0">
                <a:latin typeface="Arial" pitchFamily="34" charset="0"/>
                <a:cs typeface="Arial" pitchFamily="34" charset="0"/>
              </a:rPr>
              <a:t> – 40 de teste</a:t>
            </a:r>
            <a:br>
              <a:rPr lang="ro-RO" sz="2000" b="1" dirty="0" smtClean="0">
                <a:latin typeface="Arial" pitchFamily="34" charset="0"/>
                <a:cs typeface="Arial" pitchFamily="34" charset="0"/>
              </a:rPr>
            </a:br>
            <a:r>
              <a:rPr lang="en-US" sz="2000" dirty="0">
                <a:latin typeface="Arial" pitchFamily="34" charset="0"/>
                <a:cs typeface="Arial" pitchFamily="34" charset="0"/>
              </a:rPr>
              <a:t>Statement · Decision · Condition coverage → 43 </a:t>
            </a:r>
            <a:r>
              <a:rPr lang="en-US" sz="2000" dirty="0" err="1">
                <a:latin typeface="Arial" pitchFamily="34" charset="0"/>
                <a:cs typeface="Arial" pitchFamily="34" charset="0"/>
              </a:rPr>
              <a:t>instrucțiuni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· 26 </a:t>
            </a:r>
            <a:r>
              <a:rPr lang="en-US" sz="2000" dirty="0" err="1">
                <a:latin typeface="Arial" pitchFamily="34" charset="0"/>
                <a:cs typeface="Arial" pitchFamily="34" charset="0"/>
              </a:rPr>
              <a:t>ramuri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· </a:t>
            </a:r>
            <a:r>
              <a:rPr lang="en-US" sz="2000" b="1" dirty="0">
                <a:latin typeface="Arial" pitchFamily="34" charset="0"/>
                <a:cs typeface="Arial" pitchFamily="34" charset="0"/>
              </a:rPr>
              <a:t>100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%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9935" y="1755957"/>
            <a:ext cx="11029615" cy="3634486"/>
          </a:xfrm>
        </p:spPr>
        <p:txBody>
          <a:bodyPr>
            <a:noAutofit/>
          </a:bodyPr>
          <a:lstStyle/>
          <a:p>
            <a:r>
              <a:rPr lang="en-US" sz="1600" b="1" dirty="0" err="1">
                <a:latin typeface="Arial" pitchFamily="34" charset="0"/>
                <a:cs typeface="Arial" pitchFamily="34" charset="0"/>
              </a:rPr>
              <a:t>Acoperire</a:t>
            </a:r>
            <a:r>
              <a:rPr lang="en-US" sz="16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b="1" dirty="0" err="1" smtClean="0">
                <a:latin typeface="Arial" pitchFamily="34" charset="0"/>
                <a:cs typeface="Arial" pitchFamily="34" charset="0"/>
              </a:rPr>
              <a:t>instrucțiune</a:t>
            </a:r>
            <a:r>
              <a:rPr lang="ro-RO" sz="1600" b="1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vi-VN" sz="1600" dirty="0">
                <a:latin typeface="Arial" pitchFamily="34" charset="0"/>
                <a:cs typeface="Arial" pitchFamily="34" charset="0"/>
              </a:rPr>
              <a:t>Fiecare din cele </a:t>
            </a:r>
            <a:r>
              <a:rPr lang="vi-VN" sz="1600" b="1" dirty="0">
                <a:latin typeface="Arial" pitchFamily="34" charset="0"/>
                <a:cs typeface="Arial" pitchFamily="34" charset="0"/>
              </a:rPr>
              <a:t>43 de instrucțiuni</a:t>
            </a:r>
            <a:r>
              <a:rPr lang="vi-VN" sz="1600" dirty="0">
                <a:latin typeface="Arial" pitchFamily="34" charset="0"/>
                <a:cs typeface="Arial" pitchFamily="34" charset="0"/>
              </a:rPr>
              <a:t> este executată cel puțin o dată</a:t>
            </a:r>
            <a:r>
              <a:rPr lang="vi-VN" sz="1600" dirty="0" smtClean="0">
                <a:latin typeface="Arial" pitchFamily="34" charset="0"/>
                <a:cs typeface="Arial" pitchFamily="34" charset="0"/>
              </a:rPr>
              <a:t>.</a:t>
            </a:r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ro-RO" sz="16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b="1" dirty="0" err="1">
                <a:latin typeface="Arial" pitchFamily="34" charset="0"/>
                <a:cs typeface="Arial" pitchFamily="34" charset="0"/>
              </a:rPr>
              <a:t>Acoperire</a:t>
            </a:r>
            <a:r>
              <a:rPr lang="en-US" sz="16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b="1" dirty="0" err="1" smtClean="0">
                <a:latin typeface="Arial" pitchFamily="34" charset="0"/>
                <a:cs typeface="Arial" pitchFamily="34" charset="0"/>
              </a:rPr>
              <a:t>decizie</a:t>
            </a:r>
            <a:r>
              <a:rPr lang="ro-RO" sz="1600" b="1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Fiecare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 </a:t>
            </a:r>
            <a:r>
              <a:rPr lang="en-US" sz="1600" b="1" dirty="0">
                <a:latin typeface="Arial" pitchFamily="34" charset="0"/>
                <a:cs typeface="Arial" pitchFamily="34" charset="0"/>
              </a:rPr>
              <a:t>if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 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este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executat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 </a:t>
            </a:r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ro-RO" sz="1600" dirty="0" smtClean="0">
                <a:latin typeface="Arial" pitchFamily="34" charset="0"/>
                <a:cs typeface="Arial" pitchFamily="34" charset="0"/>
              </a:rPr>
              <a:t>      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pe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ramura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 </a:t>
            </a:r>
            <a:r>
              <a:rPr lang="en-US" sz="1600" b="1" dirty="0">
                <a:latin typeface="Arial" pitchFamily="34" charset="0"/>
                <a:cs typeface="Arial" pitchFamily="34" charset="0"/>
              </a:rPr>
              <a:t>True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 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și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pe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err="1">
                <a:latin typeface="Arial" pitchFamily="34" charset="0"/>
                <a:cs typeface="Arial" pitchFamily="34" charset="0"/>
              </a:rPr>
              <a:t>ramura</a:t>
            </a:r>
            <a:r>
              <a:rPr lang="en-US" sz="1600" dirty="0">
                <a:latin typeface="Arial" pitchFamily="34" charset="0"/>
                <a:cs typeface="Arial" pitchFamily="34" charset="0"/>
              </a:rPr>
              <a:t> </a:t>
            </a:r>
            <a:r>
              <a:rPr lang="en-US" sz="1600" b="1" dirty="0">
                <a:latin typeface="Arial" pitchFamily="34" charset="0"/>
                <a:cs typeface="Arial" pitchFamily="34" charset="0"/>
              </a:rPr>
              <a:t>False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.</a:t>
            </a:r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endParaRPr lang="ro-RO" sz="1600" dirty="0">
              <a:latin typeface="Arial" pitchFamily="34" charset="0"/>
              <a:cs typeface="Arial" pitchFamily="34" charset="0"/>
            </a:endParaRPr>
          </a:p>
          <a:p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b="1" dirty="0" err="1">
                <a:latin typeface="Arial" pitchFamily="34" charset="0"/>
                <a:cs typeface="Arial" pitchFamily="34" charset="0"/>
              </a:rPr>
              <a:t>Acoperire</a:t>
            </a:r>
            <a:r>
              <a:rPr lang="en-US" sz="16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b="1" dirty="0" err="1" smtClean="0">
                <a:latin typeface="Arial" pitchFamily="34" charset="0"/>
                <a:cs typeface="Arial" pitchFamily="34" charset="0"/>
              </a:rPr>
              <a:t>condiție</a:t>
            </a:r>
            <a:r>
              <a:rPr lang="ro-RO" sz="1600" b="1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vi-VN" sz="1600" dirty="0">
                <a:latin typeface="Arial" pitchFamily="34" charset="0"/>
                <a:cs typeface="Arial" pitchFamily="34" charset="0"/>
              </a:rPr>
              <a:t>Fiecare condiție atomică dintr-o </a:t>
            </a:r>
            <a:endParaRPr lang="ro-RO" sz="16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ro-RO" sz="1600" dirty="0" smtClean="0">
                <a:latin typeface="Arial" pitchFamily="34" charset="0"/>
                <a:cs typeface="Arial" pitchFamily="34" charset="0"/>
              </a:rPr>
              <a:t>      </a:t>
            </a:r>
            <a:r>
              <a:rPr lang="vi-VN" sz="1600" dirty="0" smtClean="0">
                <a:latin typeface="Arial" pitchFamily="34" charset="0"/>
                <a:cs typeface="Arial" pitchFamily="34" charset="0"/>
              </a:rPr>
              <a:t>expresie </a:t>
            </a:r>
            <a:r>
              <a:rPr lang="vi-VN" sz="1600" dirty="0">
                <a:latin typeface="Arial" pitchFamily="34" charset="0"/>
                <a:cs typeface="Arial" pitchFamily="34" charset="0"/>
              </a:rPr>
              <a:t>compusă este testată independent</a:t>
            </a:r>
            <a:r>
              <a:rPr lang="vi-VN" sz="1600" dirty="0" smtClean="0">
                <a:latin typeface="Arial" pitchFamily="34" charset="0"/>
                <a:cs typeface="Arial" pitchFamily="34" charset="0"/>
              </a:rPr>
              <a:t>.</a:t>
            </a:r>
            <a:endParaRPr lang="ro-RO" sz="16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796" y="1758905"/>
            <a:ext cx="8406882" cy="8899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807" y="2328995"/>
            <a:ext cx="7539307" cy="20097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2416" y="4404053"/>
            <a:ext cx="5218469" cy="2458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56327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8973355" cy="557477"/>
          </a:xfrm>
        </p:spPr>
        <p:txBody>
          <a:bodyPr>
            <a:normAutofit/>
          </a:bodyPr>
          <a:lstStyle/>
          <a:p>
            <a:r>
              <a:rPr lang="en-US" b="1" dirty="0" err="1"/>
              <a:t>Circuite</a:t>
            </a:r>
            <a:r>
              <a:rPr lang="en-US" b="1" dirty="0"/>
              <a:t> </a:t>
            </a:r>
            <a:r>
              <a:rPr lang="en-US" b="1" dirty="0" err="1"/>
              <a:t>independente</a:t>
            </a:r>
            <a:r>
              <a:rPr lang="en-US" b="1" dirty="0"/>
              <a:t> </a:t>
            </a:r>
            <a:r>
              <a:rPr lang="en-US" b="1" dirty="0" err="1"/>
              <a:t>și</a:t>
            </a:r>
            <a:r>
              <a:rPr lang="en-US" b="1" dirty="0"/>
              <a:t> </a:t>
            </a:r>
            <a:r>
              <a:rPr lang="en-US" b="1" dirty="0" err="1" smtClean="0"/>
              <a:t>diagrame</a:t>
            </a:r>
            <a:r>
              <a:rPr lang="ro-RO" b="1" dirty="0" smtClean="0"/>
              <a:t> – 10 drumuri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025" y="1590098"/>
            <a:ext cx="2975353" cy="2638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ctangle 3"/>
          <p:cNvSpPr/>
          <p:nvPr/>
        </p:nvSpPr>
        <p:spPr>
          <a:xfrm>
            <a:off x="756769" y="1220766"/>
            <a:ext cx="3385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b="1" dirty="0"/>
              <a:t>Cele 9 decizii principale (D1–D9)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76372" y="1973241"/>
            <a:ext cx="30993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err="1"/>
              <a:t>Cele</a:t>
            </a:r>
            <a:r>
              <a:rPr lang="en-US" b="1" dirty="0"/>
              <a:t> 10 </a:t>
            </a:r>
            <a:r>
              <a:rPr lang="en-US" b="1" dirty="0" err="1"/>
              <a:t>circuite</a:t>
            </a:r>
            <a:r>
              <a:rPr lang="en-US" b="1" dirty="0"/>
              <a:t> </a:t>
            </a:r>
            <a:r>
              <a:rPr lang="en-US" b="1" dirty="0" err="1"/>
              <a:t>independente</a:t>
            </a:r>
            <a:endParaRPr lang="en-US" b="1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839" y="2422139"/>
            <a:ext cx="4016375" cy="2720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0075" y="1439264"/>
            <a:ext cx="3623339" cy="51797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7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1" y="4250485"/>
            <a:ext cx="4038600" cy="26075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Rectangle 9"/>
          <p:cNvSpPr/>
          <p:nvPr/>
        </p:nvSpPr>
        <p:spPr>
          <a:xfrm>
            <a:off x="8033414" y="6434333"/>
            <a:ext cx="43852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o-RO" b="1" dirty="0" smtClean="0"/>
              <a:t>Diagramele pot fi văzute în README.md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07809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9254" y="494509"/>
            <a:ext cx="11641921" cy="746443"/>
          </a:xfrm>
        </p:spPr>
        <p:txBody>
          <a:bodyPr>
            <a:noAutofit/>
          </a:bodyPr>
          <a:lstStyle/>
          <a:p>
            <a:r>
              <a:rPr lang="en-US" sz="2000" b="1" dirty="0"/>
              <a:t>Mutation Testing: </a:t>
            </a:r>
            <a:r>
              <a:rPr lang="en-US" sz="2000" b="1" dirty="0" err="1" smtClean="0"/>
              <a:t>mutmut</a:t>
            </a:r>
            <a:r>
              <a:rPr lang="ro-RO" sz="2000" b="1" dirty="0" smtClean="0"/>
              <a:t/>
            </a:r>
            <a:br>
              <a:rPr lang="ro-RO" sz="2000" b="1" dirty="0" smtClean="0"/>
            </a:br>
            <a:r>
              <a:rPr lang="vi-VN" sz="2000" dirty="0"/>
              <a:t>Testele sunt suficient de precise pentru a detecta modificări greșite ale codului?</a:t>
            </a:r>
            <a:endParaRPr lang="en-US" sz="2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574447"/>
            <a:ext cx="12027158" cy="3634486"/>
          </a:xfrm>
        </p:spPr>
        <p:txBody>
          <a:bodyPr>
            <a:normAutofit/>
          </a:bodyPr>
          <a:lstStyle/>
          <a:p>
            <a:r>
              <a:rPr lang="en-US" b="1" i="1" dirty="0" err="1"/>
              <a:t>Ce</a:t>
            </a:r>
            <a:r>
              <a:rPr lang="en-US" b="1" i="1" dirty="0"/>
              <a:t> </a:t>
            </a:r>
            <a:r>
              <a:rPr lang="en-US" b="1" i="1" dirty="0" err="1"/>
              <a:t>este</a:t>
            </a:r>
            <a:r>
              <a:rPr lang="en-US" b="1" i="1" dirty="0"/>
              <a:t> mutation testing</a:t>
            </a:r>
            <a:r>
              <a:rPr lang="en-US" b="1" i="1" dirty="0" smtClean="0"/>
              <a:t>?</a:t>
            </a:r>
            <a:r>
              <a:rPr lang="ro-RO" i="1" dirty="0" smtClean="0"/>
              <a:t> </a:t>
            </a:r>
            <a:r>
              <a:rPr lang="vi-VN" dirty="0"/>
              <a:t>Se introduc automat modificări mici (mutanți) în codul sursă și se verifică dacă testele le detectează. </a:t>
            </a:r>
            <a:r>
              <a:rPr lang="vi-VN" b="1" dirty="0"/>
              <a:t>Mutant ucis</a:t>
            </a:r>
            <a:r>
              <a:rPr lang="vi-VN" dirty="0"/>
              <a:t> = testul a eșuat → testul e precis. </a:t>
            </a:r>
            <a:r>
              <a:rPr lang="vi-VN" b="1" dirty="0"/>
              <a:t>Mutant supraviețuitor</a:t>
            </a:r>
            <a:r>
              <a:rPr lang="vi-VN" dirty="0"/>
              <a:t> = niciun test nu a sesizat modificarea</a:t>
            </a:r>
            <a:r>
              <a:rPr lang="vi-VN" dirty="0" smtClean="0"/>
              <a:t>.</a:t>
            </a:r>
            <a:endParaRPr lang="ro-RO" dirty="0" smtClean="0"/>
          </a:p>
          <a:p>
            <a:r>
              <a:rPr lang="en-US" b="1" dirty="0" err="1"/>
              <a:t>Rezultate</a:t>
            </a:r>
            <a:r>
              <a:rPr lang="en-US" b="1" dirty="0"/>
              <a:t> </a:t>
            </a:r>
            <a:r>
              <a:rPr lang="en-US" b="1" dirty="0" err="1"/>
              <a:t>mutmut</a:t>
            </a:r>
            <a:r>
              <a:rPr lang="en-US" b="1" dirty="0"/>
              <a:t> 2.5.1</a:t>
            </a:r>
          </a:p>
          <a:p>
            <a:endParaRPr lang="ro-RO" b="1" dirty="0" smtClean="0"/>
          </a:p>
          <a:p>
            <a:pPr marL="0" indent="0">
              <a:buNone/>
            </a:pPr>
            <a:endParaRPr lang="ro-RO" b="1" dirty="0" smtClean="0"/>
          </a:p>
          <a:p>
            <a:r>
              <a:rPr lang="vi-VN" b="1" dirty="0"/>
              <a:t>Suspicious ≠ Survived.</a:t>
            </a:r>
            <a:r>
              <a:rPr lang="vi-VN" dirty="0"/>
              <a:t> Categoria </a:t>
            </a:r>
            <a:r>
              <a:rPr lang="vi-VN" dirty="0"/>
              <a:t>Suspicious</a:t>
            </a:r>
            <a:r>
              <a:rPr lang="vi-VN" dirty="0"/>
              <a:t> înseamnă că rularea unui test a durat mai mult decât baseline-ul, fără timeout fatal. Rezultatul important este </a:t>
            </a:r>
            <a:r>
              <a:rPr lang="vi-VN" b="1" dirty="0"/>
              <a:t>0 survived</a:t>
            </a:r>
            <a:r>
              <a:rPr lang="vi-VN" dirty="0" smtClean="0"/>
              <a:t>.</a:t>
            </a:r>
            <a:endParaRPr lang="ro-RO" dirty="0" smtClean="0"/>
          </a:p>
          <a:p>
            <a:r>
              <a:rPr lang="en-US" b="1" dirty="0"/>
              <a:t>test_mutation.py — 11 </a:t>
            </a:r>
            <a:r>
              <a:rPr lang="en-US" b="1" dirty="0" err="1"/>
              <a:t>teste</a:t>
            </a:r>
            <a:r>
              <a:rPr lang="en-US" b="1" dirty="0"/>
              <a:t> dedicate </a:t>
            </a:r>
            <a:r>
              <a:rPr lang="en-US" b="1" dirty="0" err="1"/>
              <a:t>pentru</a:t>
            </a:r>
            <a:r>
              <a:rPr lang="en-US" b="1" dirty="0"/>
              <a:t> </a:t>
            </a:r>
            <a:r>
              <a:rPr lang="en-US" b="1" dirty="0" err="1"/>
              <a:t>mutanți</a:t>
            </a:r>
            <a:r>
              <a:rPr lang="en-US" b="1" dirty="0"/>
              <a:t> </a:t>
            </a:r>
            <a:r>
              <a:rPr lang="en-US" b="1" dirty="0" err="1"/>
              <a:t>neechivalenți</a:t>
            </a:r>
            <a:endParaRPr lang="en-US" b="1" dirty="0"/>
          </a:p>
          <a:p>
            <a:pPr marL="0" indent="0">
              <a:buNone/>
            </a:pPr>
            <a:endParaRPr lang="ro-RO" b="1" dirty="0"/>
          </a:p>
          <a:p>
            <a:endParaRPr lang="en-US" b="1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6806" y="2044021"/>
            <a:ext cx="1501775" cy="146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834" y="4704800"/>
            <a:ext cx="8903571" cy="215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15858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0960775" cy="678775"/>
          </a:xfrm>
        </p:spPr>
        <p:txBody>
          <a:bodyPr>
            <a:noAutofit/>
          </a:bodyPr>
          <a:lstStyle/>
          <a:p>
            <a:r>
              <a:rPr lang="it-IT" sz="2000" b="1" dirty="0"/>
              <a:t>Utilizarea AI și rezultate </a:t>
            </a:r>
            <a:r>
              <a:rPr lang="it-IT" sz="2000" b="1" dirty="0" smtClean="0"/>
              <a:t>finale</a:t>
            </a:r>
            <a:r>
              <a:rPr lang="ro-RO" sz="2000" b="1" dirty="0" smtClean="0"/>
              <a:t/>
            </a:r>
            <a:br>
              <a:rPr lang="ro-RO" sz="2000" b="1" dirty="0" smtClean="0"/>
            </a:br>
            <a:r>
              <a:rPr lang="vi-VN" sz="2000" dirty="0"/>
              <a:t>ChatGPT/Codex ca instrument de verificare · Nu înlocuiește validarea manuală</a:t>
            </a:r>
            <a:endParaRPr lang="en-US" sz="2000" dirty="0"/>
          </a:p>
        </p:txBody>
      </p:sp>
      <p:sp>
        <p:nvSpPr>
          <p:cNvPr id="4" name="Rectangle 3"/>
          <p:cNvSpPr/>
          <p:nvPr/>
        </p:nvSpPr>
        <p:spPr>
          <a:xfrm>
            <a:off x="485516" y="1648799"/>
            <a:ext cx="21702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Cum a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utilizat</a:t>
            </a:r>
            <a:r>
              <a:rPr lang="en-US" dirty="0"/>
              <a:t> AI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73" y="2108881"/>
            <a:ext cx="4229100" cy="1203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Rectangle 4"/>
          <p:cNvSpPr/>
          <p:nvPr/>
        </p:nvSpPr>
        <p:spPr>
          <a:xfrm>
            <a:off x="424900" y="3465549"/>
            <a:ext cx="24743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dirty="0"/>
              <a:t>Suita AI vs suita proprie</a:t>
            </a:r>
            <a:endParaRPr lang="en-US" dirty="0"/>
          </a:p>
        </p:txBody>
      </p: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73" y="3801450"/>
            <a:ext cx="4180679" cy="1377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ectangle 5"/>
          <p:cNvSpPr/>
          <p:nvPr/>
        </p:nvSpPr>
        <p:spPr>
          <a:xfrm>
            <a:off x="6068239" y="1690177"/>
            <a:ext cx="16977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Rezultate</a:t>
            </a:r>
            <a:r>
              <a:rPr lang="en-US" dirty="0"/>
              <a:t> finale</a:t>
            </a:r>
          </a:p>
        </p:txBody>
      </p:sp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699" y="2108881"/>
            <a:ext cx="4216686" cy="12399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6"/>
          <p:cNvSpPr/>
          <p:nvPr/>
        </p:nvSpPr>
        <p:spPr>
          <a:xfrm>
            <a:off x="4830147" y="3889805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vi-VN" dirty="0"/>
              <a:t>Metoda </a:t>
            </a:r>
            <a:r>
              <a:rPr lang="vi-VN" b="1" dirty="0"/>
              <a:t>evaluate_client_package</a:t>
            </a:r>
            <a:r>
              <a:rPr lang="vi-VN" dirty="0"/>
              <a:t> a permis ilustrarea tuturor strategiilor cerute: partiționare, frontiere, acoperire la trei niveluri, circuite independente și mutation testing cu două instrumente complementare.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46070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DividendVTI" id="{97558BDE-0B66-457C-BB6F-7B1B22DAA9B8}" vid="{F53508A3-AC60-448A-AF37-934D5F1A0D5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1E7CA09-9778-4414-AE97-8064B12DA3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D289AE2-D2AE-49D1-AFAC-3A79F6794255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{03D20150-71BC-4020-964D-64EC933C4955}TF201209c3-d067-44f9-a26f-c8f216c4431347f6cf9d_win32-4021059b889a</Template>
  <TotalTime>1157</TotalTime>
  <Words>391</Words>
  <Application>Microsoft Office PowerPoint</Application>
  <PresentationFormat>Custom</PresentationFormat>
  <Paragraphs>73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DividendVTI</vt:lpstr>
      <vt:lpstr>Testarea sistemelor software – t1 - Testare unitară în Python</vt:lpstr>
      <vt:lpstr>Metoda testată - Evaluarea stării unui pachet de ședințe de fitness</vt:lpstr>
      <vt:lpstr>Strategiile de testare </vt:lpstr>
      <vt:lpstr>Validări și reguli de business</vt:lpstr>
      <vt:lpstr>Partiționare în clase de echivalență – 23 de teste Grupuri de valori cu comportament identic · câte un reprezentant per clasă</vt:lpstr>
      <vt:lpstr>Analiza valorilor de frontieră – 16 teste</vt:lpstr>
      <vt:lpstr>Acoperire structurală: instrucțiune, decizie, condiție – 40 de teste Statement · Decision · Condition coverage → 43 instrucțiuni · 26 ramuri · 100%</vt:lpstr>
      <vt:lpstr>Circuite independente și diagrame – 10 drumuri</vt:lpstr>
      <vt:lpstr>Mutation Testing: mutmut Testele sunt suficient de precise pentru a detecta modificări greșite ale codului?</vt:lpstr>
      <vt:lpstr>Utilizarea AI și rezultate finale ChatGPT/Codex ca instrument de verificare · Nu înlocuiește validarea manuală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Testarea sistemelor software – Testare unitară în Python</dc:title>
  <dc:creator>Dan-Alexandru Nite</dc:creator>
  <cp:lastModifiedBy>user</cp:lastModifiedBy>
  <cp:revision>16</cp:revision>
  <dcterms:created xsi:type="dcterms:W3CDTF">2026-05-16T03:40:25Z</dcterms:created>
  <dcterms:modified xsi:type="dcterms:W3CDTF">2026-05-17T05:10:36Z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