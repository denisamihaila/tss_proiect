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6" autoAdjust="0"/>
    <p:restoredTop sz="94619" autoAdjust="0"/>
  </p:normalViewPr>
  <p:slideViewPr>
    <p:cSldViewPr snapToGrid="0">
      <p:cViewPr varScale="1">
        <p:scale>
          <a:sx n="109" d="100"/>
          <a:sy n="109" d="100"/>
        </p:scale>
        <p:origin x="13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>
            <a:normAutofit/>
          </a:bodyPr>
          <a:lstStyle/>
          <a:p>
            <a:r>
              <a:rPr lang="en-US" sz="2800" dirty="0" err="1"/>
              <a:t>Testarea</a:t>
            </a:r>
            <a:r>
              <a:rPr lang="en-US" sz="2800" dirty="0"/>
              <a:t> </a:t>
            </a:r>
            <a:r>
              <a:rPr lang="en-US" sz="2800" dirty="0" err="1"/>
              <a:t>sistemelor</a:t>
            </a:r>
            <a:r>
              <a:rPr lang="en-US" sz="2800" dirty="0"/>
              <a:t> software – </a:t>
            </a:r>
            <a:r>
              <a:rPr lang="en-US" sz="2800" dirty="0" err="1"/>
              <a:t>Testare</a:t>
            </a:r>
            <a:r>
              <a:rPr lang="en-US" sz="2800" dirty="0"/>
              <a:t> </a:t>
            </a:r>
            <a:r>
              <a:rPr lang="en-US" sz="2800" dirty="0" err="1"/>
              <a:t>unitară</a:t>
            </a:r>
            <a:r>
              <a:rPr lang="en-US" sz="2800" dirty="0"/>
              <a:t> </a:t>
            </a:r>
            <a:r>
              <a:rPr lang="en-US" sz="2800" dirty="0" err="1"/>
              <a:t>în</a:t>
            </a:r>
            <a:r>
              <a:rPr lang="en-US" sz="2800" dirty="0"/>
              <a:t>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>
            <a:normAutofit/>
          </a:bodyPr>
          <a:lstStyle/>
          <a:p>
            <a:r>
              <a:rPr lang="en-US" dirty="0" err="1"/>
              <a:t>FitnessClassBooking</a:t>
            </a:r>
            <a:r>
              <a:rPr lang="en-US" dirty="0"/>
              <a:t> · </a:t>
            </a:r>
            <a:r>
              <a:rPr lang="en-US" dirty="0" err="1"/>
              <a:t>evaluate_client_package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6" name="Picture 5" descr="abstract image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2972-3449-42D1-8185-B4BEFD52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Statistici</a:t>
            </a:r>
            <a:r>
              <a:rPr lang="en-US" dirty="0"/>
              <a:t> </a:t>
            </a:r>
            <a:r>
              <a:rPr lang="en-US" dirty="0" err="1"/>
              <a:t>principale</a:t>
            </a:r>
            <a:r>
              <a:rPr lang="en-US" dirty="0"/>
              <a:t>: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AB8C41-677D-FD6E-0A57-97DE556596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9175910"/>
              </p:ext>
            </p:extLst>
          </p:nvPr>
        </p:nvGraphicFramePr>
        <p:xfrm>
          <a:off x="581025" y="2341563"/>
          <a:ext cx="11029950" cy="3742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2883498173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425193750"/>
                    </a:ext>
                  </a:extLst>
                </a:gridCol>
              </a:tblGrid>
              <a:tr h="623786">
                <a:tc>
                  <a:txBody>
                    <a:bodyPr/>
                    <a:lstStyle/>
                    <a:p>
                      <a:r>
                        <a:rPr lang="en-US" dirty="0"/>
                        <a:t>Statistica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Valoare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100653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Teste </a:t>
                      </a:r>
                      <a:r>
                        <a:rPr lang="en-US" dirty="0" err="1">
                          <a:effectLst/>
                        </a:rPr>
                        <a:t>principale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100 passed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638426398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Coverage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100%</a:t>
                      </a:r>
                      <a:r>
                        <a:rPr lang="en-US">
                          <a:effectLst/>
                        </a:rPr>
                        <a:t> (statement + branch)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662970216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Mutanți survived (mutmut)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0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779799031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Kill rate (Cosmic Ray)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94.58%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56274996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Teste AI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70 passed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674459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9274-2633-402D-9E55-53CFF5E84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6609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Cerin</a:t>
            </a:r>
            <a:r>
              <a:rPr lang="ro-RO" b="1" dirty="0"/>
              <a:t>t</a:t>
            </a:r>
            <a:r>
              <a:rPr lang="en-US" b="1" dirty="0" err="1"/>
              <a:t>ele</a:t>
            </a:r>
            <a:r>
              <a:rPr lang="en-US" b="1" dirty="0"/>
              <a:t> </a:t>
            </a:r>
            <a:r>
              <a:rPr lang="en-US" b="1" dirty="0" err="1"/>
              <a:t>temei</a:t>
            </a:r>
            <a:r>
              <a:rPr lang="en-US" b="1" dirty="0"/>
              <a:t> T1 </a:t>
            </a:r>
            <a:r>
              <a:rPr lang="ro-RO" b="1" dirty="0"/>
              <a:t>s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ro-RO" b="1" dirty="0"/>
              <a:t>corespondenta in cod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1427154-225F-6860-C801-BB4DC047DA9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500580020"/>
              </p:ext>
            </p:extLst>
          </p:nvPr>
        </p:nvGraphicFramePr>
        <p:xfrm>
          <a:off x="581192" y="1383290"/>
          <a:ext cx="5793400" cy="240469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96700">
                  <a:extLst>
                    <a:ext uri="{9D8B030D-6E8A-4147-A177-3AD203B41FA5}">
                      <a16:colId xmlns:a16="http://schemas.microsoft.com/office/drawing/2014/main" val="4109069834"/>
                    </a:ext>
                  </a:extLst>
                </a:gridCol>
                <a:gridCol w="2896700">
                  <a:extLst>
                    <a:ext uri="{9D8B030D-6E8A-4147-A177-3AD203B41FA5}">
                      <a16:colId xmlns:a16="http://schemas.microsoft.com/office/drawing/2014/main" val="4130365598"/>
                    </a:ext>
                  </a:extLst>
                </a:gridCol>
              </a:tblGrid>
              <a:tr h="297442">
                <a:tc>
                  <a:txBody>
                    <a:bodyPr/>
                    <a:lstStyle/>
                    <a:p>
                      <a:r>
                        <a:rPr lang="en-US" dirty="0" err="1"/>
                        <a:t>Strategie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cerut</a:t>
                      </a:r>
                      <a:r>
                        <a:rPr lang="ro-RO" dirty="0"/>
                        <a:t>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Fișier</a:t>
                      </a:r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teste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755292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Partiționare</a:t>
                      </a:r>
                      <a:r>
                        <a:rPr lang="es-E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în</a:t>
                      </a:r>
                      <a:r>
                        <a:rPr lang="es-E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clase de </a:t>
                      </a:r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echivalență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test_equivalence_partitioning.py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704993225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Analiza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valorilor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 de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frontieră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test_boundary_value_analysis.py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384153292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Acoperire instrucțiune / decizie / condiție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test_coverage.py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02070994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Circuite independente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test_independent_circuits.py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859600517"/>
                  </a:ext>
                </a:extLst>
              </a:tr>
              <a:tr h="3749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Analiză pe baza unui generator de mutanți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test_mutation.py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333195930"/>
                  </a:ext>
                </a:extLst>
              </a:tr>
              <a:tr h="3749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>
                          <a:solidFill>
                            <a:schemeClr val="tx1"/>
                          </a:solidFill>
                          <a:effectLst/>
                        </a:rPr>
                        <a:t>Teste suplimentare pentru mutanți neechivalenți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test_mutation.py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082694751"/>
                  </a:ext>
                </a:extLst>
              </a:tr>
            </a:tbl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021E2C-E4CD-07DF-0E58-8CBDCC812F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Python: bool </a:t>
            </a:r>
            <a:r>
              <a:rPr lang="en-US" b="1" dirty="0" err="1"/>
              <a:t>este</a:t>
            </a:r>
            <a:r>
              <a:rPr lang="en-US" b="1" dirty="0"/>
              <a:t> </a:t>
            </a:r>
            <a:r>
              <a:rPr lang="en-US" b="1" dirty="0" err="1"/>
              <a:t>subclasă</a:t>
            </a:r>
            <a:r>
              <a:rPr lang="en-US" b="1" dirty="0"/>
              <a:t> a int</a:t>
            </a:r>
            <a:r>
              <a:rPr lang="en-US" dirty="0"/>
              <a:t> → True </a:t>
            </a:r>
            <a:r>
              <a:rPr lang="en-US" dirty="0" err="1"/>
              <a:t>și</a:t>
            </a:r>
            <a:r>
              <a:rPr lang="en-US" dirty="0"/>
              <a:t> False </a:t>
            </a:r>
            <a:r>
              <a:rPr lang="en-US" dirty="0" err="1"/>
              <a:t>ar</a:t>
            </a:r>
            <a:r>
              <a:rPr lang="en-US" dirty="0"/>
              <a:t> </a:t>
            </a:r>
            <a:r>
              <a:rPr lang="en-US" dirty="0" err="1"/>
              <a:t>trece</a:t>
            </a:r>
            <a:r>
              <a:rPr lang="en-US" dirty="0"/>
              <a:t> ca 1 </a:t>
            </a:r>
            <a:r>
              <a:rPr lang="en-US" dirty="0" err="1"/>
              <a:t>și</a:t>
            </a:r>
            <a:r>
              <a:rPr lang="en-US" dirty="0"/>
              <a:t> 0 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validări</a:t>
            </a:r>
            <a:r>
              <a:rPr lang="en-US" dirty="0"/>
              <a:t> </a:t>
            </a:r>
            <a:r>
              <a:rPr lang="en-US" dirty="0" err="1"/>
              <a:t>numerice</a:t>
            </a:r>
            <a:r>
              <a:rPr lang="en-US" dirty="0"/>
              <a:t> </a:t>
            </a:r>
            <a:r>
              <a:rPr lang="en-US" dirty="0" err="1"/>
              <a:t>dacă</a:t>
            </a:r>
            <a:r>
              <a:rPr lang="en-US" dirty="0"/>
              <a:t> nu sunt </a:t>
            </a:r>
            <a:r>
              <a:rPr lang="en-US" dirty="0" err="1"/>
              <a:t>respinse</a:t>
            </a:r>
            <a:r>
              <a:rPr lang="en-US" dirty="0"/>
              <a:t> explicit. </a:t>
            </a:r>
            <a:r>
              <a:rPr lang="en-US" dirty="0" err="1"/>
              <a:t>Implementarea</a:t>
            </a:r>
            <a:r>
              <a:rPr lang="en-US" dirty="0"/>
              <a:t> </a:t>
            </a:r>
            <a:r>
              <a:rPr lang="en-US" dirty="0" err="1"/>
              <a:t>conține</a:t>
            </a:r>
            <a:r>
              <a:rPr lang="en-US" dirty="0"/>
              <a:t>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separată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 bool la </a:t>
            </a:r>
            <a:r>
              <a:rPr lang="en-US" dirty="0" err="1"/>
              <a:t>toți</a:t>
            </a:r>
            <a:r>
              <a:rPr lang="en-US" dirty="0"/>
              <a:t> </a:t>
            </a:r>
            <a:r>
              <a:rPr lang="en-US" dirty="0" err="1"/>
              <a:t>parametrii</a:t>
            </a:r>
            <a:r>
              <a:rPr lang="en-US" dirty="0"/>
              <a:t> </a:t>
            </a:r>
            <a:r>
              <a:rPr lang="en-US" dirty="0" err="1"/>
              <a:t>numerici</a:t>
            </a:r>
            <a:r>
              <a:rPr lang="en-US" dirty="0"/>
              <a:t>.</a:t>
            </a:r>
          </a:p>
        </p:txBody>
      </p:sp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AFA8B733-E06F-DA3C-CCDB-48A6FA2BF8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4383543"/>
              </p:ext>
            </p:extLst>
          </p:nvPr>
        </p:nvGraphicFramePr>
        <p:xfrm>
          <a:off x="581192" y="3975522"/>
          <a:ext cx="5793400" cy="271040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96700">
                  <a:extLst>
                    <a:ext uri="{9D8B030D-6E8A-4147-A177-3AD203B41FA5}">
                      <a16:colId xmlns:a16="http://schemas.microsoft.com/office/drawing/2014/main" val="4109069834"/>
                    </a:ext>
                  </a:extLst>
                </a:gridCol>
                <a:gridCol w="2896700">
                  <a:extLst>
                    <a:ext uri="{9D8B030D-6E8A-4147-A177-3AD203B41FA5}">
                      <a16:colId xmlns:a16="http://schemas.microsoft.com/office/drawing/2014/main" val="4130365598"/>
                    </a:ext>
                  </a:extLst>
                </a:gridCol>
              </a:tblGrid>
              <a:tr h="2887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Cerință</a:t>
                      </a:r>
                      <a:endParaRPr lang="en-US" sz="1200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Implementare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în</a:t>
                      </a:r>
                      <a:r>
                        <a:rPr lang="en-US" sz="1200" dirty="0">
                          <a:effectLst/>
                        </a:rPr>
                        <a:t> cod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39755292"/>
                  </a:ext>
                </a:extLst>
              </a:tr>
              <a:tr h="3923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Minimum 3 parametri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session_history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,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package_sessions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,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has_membership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704993225"/>
                  </a:ext>
                </a:extLst>
              </a:tr>
              <a:tr h="359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Instrucțiune repetitivă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for session_status in session_history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384153292"/>
                  </a:ext>
                </a:extLst>
              </a:tr>
              <a:tr h="3923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 cu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session_status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"attended": … else: …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02070994"/>
                  </a:ext>
                </a:extLst>
              </a:tr>
              <a:tr h="288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 fără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has_membership: …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859600517"/>
                  </a:ext>
                </a:extLst>
              </a:tr>
              <a:tr h="288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Condiție simplă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has_membership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333195930"/>
                  </a:ext>
                </a:extLst>
              </a:tr>
              <a:tr h="359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Condiție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compusă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remaining_sessions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0 and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no_show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0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082694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8890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FDE86-3C1A-178A-35A5-BF4D8A27B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857" y="933450"/>
            <a:ext cx="3259020" cy="172241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Clasa</a:t>
            </a:r>
            <a:r>
              <a:rPr lang="en-US" dirty="0"/>
              <a:t> </a:t>
            </a:r>
            <a:r>
              <a:rPr lang="en-US" dirty="0" err="1"/>
              <a:t>FitnessClassBooking</a:t>
            </a:r>
            <a:r>
              <a:rPr lang="en-US" dirty="0"/>
              <a:t> </a:t>
            </a:r>
            <a:br>
              <a:rPr lang="ro-RO" dirty="0"/>
            </a:br>
            <a:r>
              <a:rPr lang="en-US" sz="2000" dirty="0"/>
              <a:t>Func</a:t>
            </a:r>
            <a:r>
              <a:rPr lang="ro-RO" sz="2000" dirty="0"/>
              <a:t>t</a:t>
            </a:r>
            <a:r>
              <a:rPr lang="en-US" sz="2000" dirty="0" err="1"/>
              <a:t>ionalitate</a:t>
            </a:r>
            <a:r>
              <a:rPr lang="ro-RO" sz="2000" dirty="0"/>
              <a:t>a</a:t>
            </a:r>
            <a:r>
              <a:rPr lang="en-US" sz="2000" dirty="0"/>
              <a:t> </a:t>
            </a:r>
            <a:r>
              <a:rPr lang="en-US" sz="2000" dirty="0" err="1"/>
              <a:t>testată</a:t>
            </a:r>
            <a:endParaRPr lang="en-US" sz="2000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F6EF54FB-E507-46C7-00C7-CB0661E5ED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5779132"/>
              </p:ext>
            </p:extLst>
          </p:nvPr>
        </p:nvGraphicFramePr>
        <p:xfrm>
          <a:off x="767857" y="2836654"/>
          <a:ext cx="3031851" cy="3168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10617">
                  <a:extLst>
                    <a:ext uri="{9D8B030D-6E8A-4147-A177-3AD203B41FA5}">
                      <a16:colId xmlns:a16="http://schemas.microsoft.com/office/drawing/2014/main" val="2499345031"/>
                    </a:ext>
                  </a:extLst>
                </a:gridCol>
                <a:gridCol w="1010617">
                  <a:extLst>
                    <a:ext uri="{9D8B030D-6E8A-4147-A177-3AD203B41FA5}">
                      <a16:colId xmlns:a16="http://schemas.microsoft.com/office/drawing/2014/main" val="2745786238"/>
                    </a:ext>
                  </a:extLst>
                </a:gridCol>
                <a:gridCol w="1010617">
                  <a:extLst>
                    <a:ext uri="{9D8B030D-6E8A-4147-A177-3AD203B41FA5}">
                      <a16:colId xmlns:a16="http://schemas.microsoft.com/office/drawing/2014/main" val="4232967936"/>
                    </a:ext>
                  </a:extLst>
                </a:gridCol>
              </a:tblGrid>
              <a:tr h="6511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Status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Semnificație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Consumă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ședință</a:t>
                      </a:r>
                      <a:r>
                        <a:rPr lang="en-US" sz="1200" dirty="0">
                          <a:effectLst/>
                        </a:rPr>
                        <a:t> din </a:t>
                      </a:r>
                      <a:r>
                        <a:rPr lang="en-US" sz="1200" dirty="0" err="1">
                          <a:effectLst/>
                        </a:rPr>
                        <a:t>pachet</a:t>
                      </a:r>
                      <a:r>
                        <a:rPr lang="en-US" sz="1200" dirty="0">
                          <a:effectLst/>
                        </a:rPr>
                        <a:t>?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929505174"/>
                  </a:ext>
                </a:extLst>
              </a:tr>
              <a:tr h="85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attended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Clientul a participat la ședință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tx1"/>
                          </a:solidFill>
                          <a:effectLst/>
                        </a:rPr>
                        <a:t>Da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445302600"/>
                  </a:ext>
                </a:extLst>
              </a:tr>
              <a:tr h="928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no_show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>
                          <a:solidFill>
                            <a:schemeClr val="tx1"/>
                          </a:solidFill>
                          <a:effectLst/>
                        </a:rPr>
                        <a:t>Clientul nu s-a prezentat și nu a anunțat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tx1"/>
                          </a:solidFill>
                          <a:effectLst/>
                        </a:rPr>
                        <a:t>Da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212780542"/>
                  </a:ext>
                </a:extLst>
              </a:tr>
              <a:tr h="6511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cancelled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Clientul a anulat la timp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effectLst/>
                        </a:rPr>
                        <a:t>Nu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692863160"/>
                  </a:ext>
                </a:extLst>
              </a:tr>
            </a:tbl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746267-5A55-F8A8-E748-36CD2B7493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80074" y="1917537"/>
            <a:ext cx="3031852" cy="3001392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chemeClr val="tx1"/>
                </a:solidFill>
              </a:rPr>
              <a:t>Exemplu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complet</a:t>
            </a:r>
            <a:r>
              <a:rPr lang="en-US" b="1" dirty="0">
                <a:solidFill>
                  <a:schemeClr val="tx1"/>
                </a:solidFill>
              </a:rPr>
              <a:t> de </a:t>
            </a:r>
            <a:r>
              <a:rPr lang="en-US" b="1" dirty="0" err="1">
                <a:solidFill>
                  <a:schemeClr val="tx1"/>
                </a:solidFill>
              </a:rPr>
              <a:t>calcul</a:t>
            </a:r>
            <a:r>
              <a:rPr lang="ro-RO" b="1" dirty="0">
                <a:solidFill>
                  <a:schemeClr val="tx1"/>
                </a:solidFill>
              </a:rPr>
              <a:t>   </a:t>
            </a:r>
            <a:r>
              <a:rPr lang="ro-RO" sz="1400" dirty="0">
                <a:solidFill>
                  <a:schemeClr val="tx1"/>
                </a:solidFill>
              </a:rPr>
              <a:t>input:</a:t>
            </a:r>
          </a:p>
          <a:p>
            <a:endParaRPr lang="ro-RO" sz="1400" dirty="0">
              <a:solidFill>
                <a:schemeClr val="tx1"/>
              </a:solidFill>
            </a:endParaRPr>
          </a:p>
          <a:p>
            <a:endParaRPr lang="ro-RO" sz="1400" dirty="0">
              <a:solidFill>
                <a:schemeClr val="tx1"/>
              </a:solidFill>
            </a:endParaRPr>
          </a:p>
          <a:p>
            <a:r>
              <a:rPr lang="ro-RO" sz="1400" dirty="0">
                <a:solidFill>
                  <a:schemeClr val="tx1"/>
                </a:solidFill>
              </a:rPr>
              <a:t>output:</a:t>
            </a:r>
            <a:endParaRPr lang="en-US" sz="1400" dirty="0">
              <a:solidFill>
                <a:schemeClr val="tx1"/>
              </a:solidFill>
            </a:endParaRPr>
          </a:p>
          <a:p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535FF0-8D3F-118C-F412-CF0FE3159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760" y="755325"/>
            <a:ext cx="7173326" cy="11622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F30BD4-7735-70DF-30E3-F1F80D6D1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760" y="2497525"/>
            <a:ext cx="4644917" cy="8158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E8646B-11F2-247A-5BB1-5582D21D7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445" y="3534362"/>
            <a:ext cx="3796403" cy="145822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8B60573-B48C-14F3-A8D1-3CAC9EF9914D}"/>
              </a:ext>
            </a:extLst>
          </p:cNvPr>
          <p:cNvSpPr/>
          <p:nvPr/>
        </p:nvSpPr>
        <p:spPr>
          <a:xfrm>
            <a:off x="9407770" y="2400299"/>
            <a:ext cx="2497015" cy="127488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ro-RO" sz="1400" dirty="0"/>
            </a:br>
            <a:r>
              <a:rPr lang="ro-RO" sz="1400" dirty="0"/>
              <a:t>Constantele clasei:</a:t>
            </a:r>
            <a:br>
              <a:rPr lang="ro-RO" sz="1400" dirty="0"/>
            </a:br>
            <a:r>
              <a:rPr lang="en-US" sz="1200" b="1" dirty="0"/>
              <a:t>VALID_CLASSES = {"dance", "</a:t>
            </a:r>
            <a:r>
              <a:rPr lang="en-US" sz="1200" b="1" dirty="0" err="1"/>
              <a:t>pilates</a:t>
            </a:r>
            <a:r>
              <a:rPr lang="en-US" sz="1200" b="1" dirty="0"/>
              <a:t>", "yoga", "</a:t>
            </a:r>
            <a:r>
              <a:rPr lang="en-US" sz="1200" b="1" dirty="0" err="1"/>
              <a:t>zumba</a:t>
            </a:r>
            <a:r>
              <a:rPr lang="en-US" sz="1200" b="1" dirty="0"/>
              <a:t>"}</a:t>
            </a:r>
          </a:p>
          <a:p>
            <a:r>
              <a:rPr lang="en-US" sz="1200" b="1" dirty="0"/>
              <a:t>MAX_PACKAGE_SESSIONS = 20</a:t>
            </a:r>
          </a:p>
          <a:p>
            <a:r>
              <a:rPr lang="en-US" sz="1200" b="1" dirty="0"/>
              <a:t>MEMBERSHIP_DISCOUNT = 0.20</a:t>
            </a:r>
          </a:p>
          <a:p>
            <a:pPr algn="ctr"/>
            <a:br>
              <a:rPr lang="ro-RO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28085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B3796-1AA2-1F4B-DD7E-74ED6AF5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72729"/>
          </a:xfrm>
        </p:spPr>
        <p:txBody>
          <a:bodyPr/>
          <a:lstStyle/>
          <a:p>
            <a:r>
              <a:rPr lang="nb-NO" dirty="0"/>
              <a:t>Validări </a:t>
            </a:r>
            <a:r>
              <a:rPr lang="ro-RO" dirty="0"/>
              <a:t>s</a:t>
            </a:r>
            <a:r>
              <a:rPr lang="nb-NO" dirty="0"/>
              <a:t>i reguli de business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6675575-EF92-9029-378E-A616DA4237D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025" y="1468438"/>
          <a:ext cx="576071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  <a:endParaRPr sz="1200" b="1" dirty="0">
                        <a:solidFill>
                          <a:srgbClr val="38BDF8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class_name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în {dance, pilates, yoga, zumba}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instructor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Șir nevid după strip()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price_per_session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FFFFFF"/>
                          </a:solidFill>
                          <a:latin typeface="Calibri"/>
                        </a:rPr>
                        <a:t>Număr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  <a:latin typeface="Calibri"/>
                        </a:rPr>
                        <a:t>pozitiv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; bool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  <a:latin typeface="Calibri"/>
                        </a:rPr>
                        <a:t>respins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 explicit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04A91B1-A473-C28A-7D9F-A062290E5E07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1600200"/>
          <a:ext cx="5577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session_history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de tip list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package_sessions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int în [1, 20]; bool respins explicit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Strict bool (nu int)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statusuri în istoric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Doar 'attended', 'no_show', 'cancelled'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consum vs pachet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FFFFFF"/>
                          </a:solidFill>
                          <a:latin typeface="Calibri"/>
                        </a:rPr>
                        <a:t>used_sessions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 ≤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  <a:latin typeface="Calibri"/>
                        </a:rPr>
                        <a:t>package_sessions</a:t>
                      </a:r>
                      <a:endParaRPr sz="1100" b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56651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{03D20150-71BC-4020-964D-64EC933C4955}TF201209c3-d067-44f9-a26f-c8f216c4431347f6cf9d_win32-4021059b889a</Template>
  <TotalTime>352</TotalTime>
  <Words>424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Consolas</vt:lpstr>
      <vt:lpstr>Franklin Gothic Book</vt:lpstr>
      <vt:lpstr>Franklin Gothic Demi</vt:lpstr>
      <vt:lpstr>Wingdings 2</vt:lpstr>
      <vt:lpstr>DividendVTI</vt:lpstr>
      <vt:lpstr>Testarea sistemelor software – Testare unitară în Python</vt:lpstr>
      <vt:lpstr>Statistici principale:</vt:lpstr>
      <vt:lpstr>Cerintele temei T1 si corespondenta in cod</vt:lpstr>
      <vt:lpstr>Clasa FitnessClassBooking  Functionalitatea testată</vt:lpstr>
      <vt:lpstr>Validări si reguli de business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Dan-Alexandru Nite</dc:creator>
  <cp:lastModifiedBy>Dan-Alexandru Nite</cp:lastModifiedBy>
  <cp:revision>2</cp:revision>
  <dcterms:created xsi:type="dcterms:W3CDTF">2026-05-16T03:40:25Z</dcterms:created>
  <dcterms:modified xsi:type="dcterms:W3CDTF">2026-05-16T09:34:52Z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