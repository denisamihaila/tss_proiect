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6" autoAdjust="0"/>
    <p:restoredTop sz="94619" autoAdjust="0"/>
  </p:normalViewPr>
  <p:slideViewPr>
    <p:cSldViewPr snapToGrid="0">
      <p:cViewPr varScale="1">
        <p:scale>
          <a:sx n="109" d="100"/>
          <a:sy n="109" d="100"/>
        </p:scale>
        <p:origin x="78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715" y="721852"/>
            <a:ext cx="10993549" cy="724393"/>
          </a:xfrm>
        </p:spPr>
        <p:txBody>
          <a:bodyPr>
            <a:normAutofit fontScale="90000"/>
          </a:bodyPr>
          <a:lstStyle/>
          <a:p>
            <a:r>
              <a:rPr lang="en-US" sz="2800" dirty="0" err="1"/>
              <a:t>Testarea</a:t>
            </a:r>
            <a:r>
              <a:rPr lang="en-US" sz="2800" dirty="0"/>
              <a:t> </a:t>
            </a:r>
            <a:r>
              <a:rPr lang="en-US" sz="2800" dirty="0" err="1"/>
              <a:t>sistemelor</a:t>
            </a:r>
            <a:r>
              <a:rPr lang="en-US" sz="2800" dirty="0"/>
              <a:t> software – </a:t>
            </a:r>
            <a:r>
              <a:rPr lang="ro-RO" sz="2800" dirty="0"/>
              <a:t>t1 - </a:t>
            </a:r>
            <a:r>
              <a:rPr lang="en-US" sz="2800" dirty="0" err="1"/>
              <a:t>Testare</a:t>
            </a:r>
            <a:r>
              <a:rPr lang="en-US" sz="2800" dirty="0"/>
              <a:t> </a:t>
            </a:r>
            <a:r>
              <a:rPr lang="en-US" sz="2800" dirty="0" err="1"/>
              <a:t>unitară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Python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 txBox="1">
            <a:spLocks/>
          </p:cNvSpPr>
          <p:nvPr/>
        </p:nvSpPr>
        <p:spPr>
          <a:xfrm>
            <a:off x="6472728" y="1638059"/>
            <a:ext cx="4810966" cy="8106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>
                <a:latin typeface="Arial" pitchFamily="34" charset="0"/>
                <a:cs typeface="Arial" pitchFamily="34" charset="0"/>
              </a:rPr>
              <a:t>Proiect realizat de: mihăilă denisa (352)</a:t>
            </a:r>
          </a:p>
          <a:p>
            <a:r>
              <a:rPr lang="ro-RO" dirty="0">
                <a:latin typeface="Arial" pitchFamily="34" charset="0"/>
                <a:cs typeface="Arial" pitchFamily="34" charset="0"/>
              </a:rPr>
              <a:t>				     Nițe dan-alexandru (344)</a:t>
            </a:r>
            <a:br>
              <a:rPr lang="ro-RO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B021E2C-E4CD-07DF-0E58-8CBDCC812FD4}"/>
              </a:ext>
            </a:extLst>
          </p:cNvPr>
          <p:cNvSpPr txBox="1">
            <a:spLocks/>
          </p:cNvSpPr>
          <p:nvPr/>
        </p:nvSpPr>
        <p:spPr>
          <a:xfrm>
            <a:off x="446534" y="2682019"/>
            <a:ext cx="11496650" cy="2739067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1600" b="1" dirty="0">
                <a:latin typeface="Arial" pitchFamily="34" charset="0"/>
                <a:cs typeface="Arial" pitchFamily="34" charset="0"/>
              </a:rPr>
              <a:t>Clasa implementată: </a:t>
            </a:r>
            <a:r>
              <a:rPr lang="en-US" sz="1600" i="1" dirty="0" err="1">
                <a:latin typeface="Arial" pitchFamily="34" charset="0"/>
                <a:cs typeface="Arial" pitchFamily="34" charset="0"/>
              </a:rPr>
              <a:t>FitnessClassBooking</a:t>
            </a:r>
            <a:r>
              <a:rPr lang="ro-RO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ro-RO" sz="1600" dirty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1600" dirty="0">
                <a:latin typeface="Arial" pitchFamily="34" charset="0"/>
                <a:cs typeface="Arial" pitchFamily="34" charset="0"/>
                <a:sym typeface="Wingdings" pitchFamily="2" charset="2"/>
              </a:rPr>
              <a:t> </a:t>
            </a:r>
            <a:r>
              <a:rPr lang="vi-VN" sz="1600" dirty="0">
                <a:latin typeface="Arial" pitchFamily="34" charset="0"/>
                <a:cs typeface="Arial" pitchFamily="34" charset="0"/>
                <a:sym typeface="Wingdings" pitchFamily="2" charset="2"/>
              </a:rPr>
              <a:t>modelează evaluarea unui pachet de ședințe pentru o clasă de fitness.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r>
              <a:rPr lang="ro-RO" sz="1600" b="1" dirty="0">
                <a:latin typeface="Arial" pitchFamily="34" charset="0"/>
                <a:cs typeface="Arial" pitchFamily="34" charset="0"/>
              </a:rPr>
              <a:t>Metoda testată: </a:t>
            </a:r>
            <a:r>
              <a:rPr lang="en-US" sz="1600" i="1" dirty="0" err="1">
                <a:latin typeface="Arial" pitchFamily="34" charset="0"/>
                <a:cs typeface="Arial" pitchFamily="34" charset="0"/>
              </a:rPr>
              <a:t>evaluate_client_package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(self,</a:t>
            </a:r>
            <a:r>
              <a:rPr lang="ro-RO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session_history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 list[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str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],</a:t>
            </a:r>
            <a:r>
              <a:rPr lang="ro-RO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package_sessions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</a:t>
            </a:r>
            <a:r>
              <a:rPr lang="ro-RO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has_membership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bool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)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Framework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testare</a:t>
            </a:r>
            <a:r>
              <a:rPr lang="ro-RO" sz="16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pytest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9.0.3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Coverage</a:t>
            </a:r>
            <a:r>
              <a:rPr lang="ro-RO" sz="1600" b="1" dirty="0">
                <a:latin typeface="Arial" pitchFamily="34" charset="0"/>
                <a:cs typeface="Arial" pitchFamily="34" charset="0"/>
              </a:rPr>
              <a:t>:</a:t>
            </a:r>
            <a:r>
              <a:rPr lang="ro-RO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coverage.py 7.13.5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Mutation testing</a:t>
            </a:r>
            <a:r>
              <a:rPr lang="ro-RO" sz="16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mutmut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2.5.1</a:t>
            </a:r>
          </a:p>
          <a:p>
            <a:r>
              <a:rPr lang="en-US" sz="1600" b="1" dirty="0" err="1">
                <a:latin typeface="Arial" pitchFamily="34" charset="0"/>
                <a:cs typeface="Arial" pitchFamily="34" charset="0"/>
              </a:rPr>
              <a:t>Mediu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rulare</a:t>
            </a:r>
            <a:r>
              <a:rPr lang="ro-RO" sz="16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Windows 11 Pro · Python 3.13.3 · WSL Ubuntu 24.04.1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82" y="4428623"/>
            <a:ext cx="3612548" cy="1499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334020" cy="464171"/>
          </a:xfrm>
        </p:spPr>
        <p:txBody>
          <a:bodyPr>
            <a:noAutofit/>
          </a:bodyPr>
          <a:lstStyle/>
          <a:p>
            <a:r>
              <a:rPr lang="en-US" sz="2200" b="1" dirty="0" err="1">
                <a:latin typeface="Arial" pitchFamily="34" charset="0"/>
                <a:cs typeface="Arial" pitchFamily="34" charset="0"/>
              </a:rPr>
              <a:t>Metoda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200" b="1" dirty="0">
                <a:latin typeface="Arial" pitchFamily="34" charset="0"/>
                <a:cs typeface="Arial" pitchFamily="34" charset="0"/>
              </a:rPr>
              <a:t>testată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 - </a:t>
            </a:r>
            <a:r>
              <a:rPr lang="vi-VN" sz="2200" b="1" dirty="0">
                <a:latin typeface="Arial" pitchFamily="34" charset="0"/>
                <a:cs typeface="Arial" pitchFamily="34" charset="0"/>
              </a:rPr>
              <a:t>Evaluarea stării unui pachet de ședințe de fitness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278293"/>
            <a:ext cx="11610808" cy="324705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Descrierea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clasei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și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metodei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</a:p>
          <a:p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FitnessClassBooking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 este o clasă Python care modelează o clasă de fitness dintr-un sistem de rezervări. Constructorul primește tipul clasei (class_name), instructorul și prețul per ședință, și validează aceste date la creare.</a:t>
            </a:r>
          </a:p>
          <a:p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evaluate_client_package</a:t>
            </a: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 este metoda principală testată. Primește istoricul ședințelor unui client (session_history), numărul de ședințe din pachetul cumpărat (package_sessions) și dacă clientul are membership (has_membership). Pe baza acestora calculează câte ședințe au fost consumate, câte au rămas, costul total al pachetului (cu sau fără discount) și statusul final al pachetului.</a:t>
            </a:r>
          </a:p>
          <a:p>
            <a:pPr marL="0" indent="0">
              <a:buNone/>
            </a:pPr>
            <a:r>
              <a:rPr lang="vi-VN" b="1" dirty="0">
                <a:latin typeface="Tahoma" pitchFamily="34" charset="0"/>
                <a:ea typeface="Tahoma" pitchFamily="34" charset="0"/>
                <a:cs typeface="Tahoma" pitchFamily="34" charset="0"/>
              </a:rPr>
              <a:t>Semnăturile metodelor</a:t>
            </a:r>
          </a:p>
          <a:p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booking =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FitnessClassBooking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class_name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, instructor,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price_per_session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) </a:t>
            </a:r>
          </a:p>
          <a:p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result =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booking.evaluate_client_package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session_history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package_sessions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has_membership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Statusurile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din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session_history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                                </a:t>
            </a:r>
            <a:r>
              <a:rPr lang="en-US" sz="16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Statusul</a:t>
            </a:r>
            <a:r>
              <a:rPr lang="en-US" sz="1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final al </a:t>
            </a:r>
            <a:r>
              <a:rPr lang="en-US" sz="16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pachetului</a:t>
            </a:r>
            <a:endParaRPr lang="en-U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indent="0">
              <a:buNone/>
            </a:pPr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88" y="4288809"/>
            <a:ext cx="3916654" cy="1160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213" y="4288810"/>
            <a:ext cx="4569430" cy="1160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96724" y="5551864"/>
            <a:ext cx="4420510" cy="9579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Exemplu</a:t>
            </a:r>
            <a:r>
              <a:rPr lang="en-US" sz="1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pPr marL="0" indent="0">
              <a:buNone/>
            </a:pPr>
            <a:r>
              <a:rPr lang="en-US" sz="1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br>
              <a:rPr lang="en-US" sz="1400" b="1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1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Input: </a:t>
            </a:r>
            <a:r>
              <a:rPr lang="en-US" sz="1400" dirty="0"/>
              <a:t>["attended", "attended", "cancelled", "</a:t>
            </a:r>
            <a:r>
              <a:rPr lang="en-US" sz="1400" dirty="0" err="1"/>
              <a:t>no_show</a:t>
            </a:r>
            <a:r>
              <a:rPr lang="en-US" sz="1400" dirty="0"/>
              <a:t>"], </a:t>
            </a:r>
            <a:r>
              <a:rPr lang="en-US" sz="1400" dirty="0" err="1"/>
              <a:t>package_sessions</a:t>
            </a:r>
            <a:r>
              <a:rPr lang="en-US" sz="1400" dirty="0"/>
              <a:t>=5, </a:t>
            </a:r>
            <a:r>
              <a:rPr lang="en-US" sz="1400" dirty="0" err="1"/>
              <a:t>has_membership</a:t>
            </a:r>
            <a:r>
              <a:rPr lang="en-US" sz="1400" dirty="0"/>
              <a:t>=True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057213" y="5847791"/>
            <a:ext cx="6857999" cy="957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Output: </a:t>
            </a:r>
            <a:r>
              <a:rPr lang="en-US" sz="1400" dirty="0"/>
              <a:t>attended=2 ; </a:t>
            </a:r>
            <a:r>
              <a:rPr lang="en-US" sz="1400" dirty="0" err="1"/>
              <a:t>no_show</a:t>
            </a:r>
            <a:r>
              <a:rPr lang="en-US" sz="1400" dirty="0"/>
              <a:t>=1 ; cancelled=1 ; </a:t>
            </a:r>
            <a:r>
              <a:rPr lang="en-US" sz="1400" dirty="0" err="1"/>
              <a:t>used_sessions</a:t>
            </a:r>
            <a:r>
              <a:rPr lang="en-US" sz="1400" dirty="0"/>
              <a:t>=3 ; remaining=2 ; </a:t>
            </a:r>
            <a:r>
              <a:rPr lang="en-US" sz="1400" dirty="0" err="1"/>
              <a:t>total_cost</a:t>
            </a:r>
            <a:r>
              <a:rPr lang="en-US" sz="1400" dirty="0"/>
              <a:t> = 5 × 50 × 0.80 = 200.0 ; status = "active"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05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151" y="802431"/>
            <a:ext cx="4569306" cy="715219"/>
          </a:xfrm>
        </p:spPr>
        <p:txBody>
          <a:bodyPr/>
          <a:lstStyle/>
          <a:p>
            <a:r>
              <a:rPr lang="en-US" dirty="0" err="1"/>
              <a:t>Strategiile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00" y="1591529"/>
            <a:ext cx="6027878" cy="2206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49290" y="3670039"/>
            <a:ext cx="6195526" cy="71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Distribu</a:t>
            </a:r>
            <a:r>
              <a:rPr lang="ro-RO" dirty="0"/>
              <a:t>tia celor 100 de teste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85" y="4534545"/>
            <a:ext cx="6112535" cy="190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924939" y="758889"/>
            <a:ext cx="6267061" cy="7152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o-RO" sz="2000" dirty="0"/>
              <a:t>Obiectul verificat de teste – outputul metodei</a:t>
            </a:r>
            <a:endParaRPr lang="en-US" sz="20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320" y="1627706"/>
            <a:ext cx="5761038" cy="141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723667" y="3295396"/>
            <a:ext cx="51821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/>
              <a:t>Testele verifică fiecare câmp din acest dicționar</a:t>
            </a:r>
            <a:r>
              <a:rPr lang="ro-RO" dirty="0"/>
              <a:t> (</a:t>
            </a:r>
            <a:r>
              <a:rPr lang="vi-VN" dirty="0"/>
              <a:t>atât individual, cât și combinat</a:t>
            </a:r>
            <a:r>
              <a:rPr lang="ro-RO" dirty="0"/>
              <a:t>)</a:t>
            </a:r>
            <a:r>
              <a:rPr lang="vi-VN" dirty="0"/>
              <a:t> pentru a confirma că logica metodei este corectă.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28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04130"/>
          </a:xfrm>
        </p:spPr>
        <p:txBody>
          <a:bodyPr/>
          <a:lstStyle/>
          <a:p>
            <a:r>
              <a:rPr lang="nb-NO" b="1" dirty="0"/>
              <a:t>Validări și reguli de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877" y="1343608"/>
            <a:ext cx="11548605" cy="5187821"/>
          </a:xfrm>
        </p:spPr>
        <p:txBody>
          <a:bodyPr/>
          <a:lstStyle/>
          <a:p>
            <a:r>
              <a:rPr lang="vi-VN" b="1" dirty="0"/>
              <a:t>Validări constructor __init__</a:t>
            </a:r>
            <a:endParaRPr lang="ro-RO" b="1" dirty="0"/>
          </a:p>
          <a:p>
            <a:pPr marL="0" indent="0">
              <a:buNone/>
            </a:pPr>
            <a:endParaRPr lang="ro-RO" b="1" dirty="0"/>
          </a:p>
          <a:p>
            <a:pPr marL="0" indent="0">
              <a:buNone/>
            </a:pPr>
            <a:endParaRPr lang="vi-VN" b="1" dirty="0"/>
          </a:p>
          <a:p>
            <a:r>
              <a:rPr lang="vi-VN" b="1" dirty="0"/>
              <a:t>Validări metodă evaluate_client_package</a:t>
            </a:r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pPr marL="0" indent="0">
              <a:buNone/>
            </a:pPr>
            <a:endParaRPr lang="ro-RO" dirty="0"/>
          </a:p>
          <a:p>
            <a:r>
              <a:rPr lang="vi-VN" b="1" dirty="0"/>
              <a:t>Cazul special bool / int</a:t>
            </a:r>
            <a:endParaRPr lang="ro-RO" b="1" dirty="0"/>
          </a:p>
          <a:p>
            <a:endParaRPr lang="ro-RO" b="1" dirty="0"/>
          </a:p>
          <a:p>
            <a:pPr marL="0" indent="0">
              <a:buNone/>
            </a:pPr>
            <a:endParaRPr lang="ro-RO" b="1" dirty="0"/>
          </a:p>
          <a:p>
            <a:r>
              <a:rPr lang="vi-VN" b="1" dirty="0"/>
              <a:t>Formula costului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289" y="1482405"/>
            <a:ext cx="4046602" cy="1066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269" y="2651758"/>
            <a:ext cx="3913083" cy="1789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72" y="6263789"/>
            <a:ext cx="7529756" cy="510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43" y="4658535"/>
            <a:ext cx="4062412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707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282" y="403073"/>
            <a:ext cx="11681926" cy="988332"/>
          </a:xfrm>
        </p:spPr>
        <p:txBody>
          <a:bodyPr>
            <a:noAutofit/>
          </a:bodyPr>
          <a:lstStyle/>
          <a:p>
            <a:r>
              <a:rPr lang="es-ES" sz="2000" b="1" dirty="0" err="1">
                <a:latin typeface="Arial" pitchFamily="34" charset="0"/>
                <a:cs typeface="Arial" pitchFamily="34" charset="0"/>
              </a:rPr>
              <a:t>Partiționare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latin typeface="Arial" pitchFamily="34" charset="0"/>
                <a:cs typeface="Arial" pitchFamily="34" charset="0"/>
              </a:rPr>
              <a:t>în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 clase de </a:t>
            </a:r>
            <a:r>
              <a:rPr lang="es-ES" sz="2000" b="1" dirty="0" err="1">
                <a:latin typeface="Arial" pitchFamily="34" charset="0"/>
                <a:cs typeface="Arial" pitchFamily="34" charset="0"/>
              </a:rPr>
              <a:t>echivalență</a:t>
            </a:r>
            <a:r>
              <a:rPr lang="ro-RO" sz="2000" b="1" dirty="0">
                <a:latin typeface="Arial" pitchFamily="34" charset="0"/>
                <a:cs typeface="Arial" pitchFamily="34" charset="0"/>
              </a:rPr>
              <a:t> – 23 de teste</a:t>
            </a:r>
            <a:br>
              <a:rPr lang="ro-RO" sz="2000" b="1" dirty="0">
                <a:latin typeface="Arial" pitchFamily="34" charset="0"/>
                <a:cs typeface="Arial" pitchFamily="34" charset="0"/>
              </a:rPr>
            </a:br>
            <a:r>
              <a:rPr lang="it-IT" sz="2000" dirty="0">
                <a:latin typeface="Arial" pitchFamily="34" charset="0"/>
                <a:cs typeface="Arial" pitchFamily="34" charset="0"/>
              </a:rPr>
              <a:t>Grupuri de valori cu comportament identic · câte un reprezentant per clasă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74060" y="1555493"/>
            <a:ext cx="1352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valide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066383" y="1598101"/>
            <a:ext cx="3049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invalide</a:t>
            </a:r>
            <a:r>
              <a:rPr lang="en-US" dirty="0"/>
              <a:t> (</a:t>
            </a:r>
            <a:r>
              <a:rPr lang="ro-RO" dirty="0"/>
              <a:t>=</a:t>
            </a:r>
            <a:r>
              <a:rPr lang="en-US" dirty="0"/>
              <a:t>&gt; </a:t>
            </a:r>
            <a:r>
              <a:rPr lang="en-US" dirty="0" err="1"/>
              <a:t>ValueError</a:t>
            </a:r>
            <a:r>
              <a:rPr lang="en-US" dirty="0"/>
              <a:t>)</a:t>
            </a: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6" y="2004755"/>
            <a:ext cx="5003842" cy="3372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5" y="2004755"/>
            <a:ext cx="7064375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5127625" y="4321719"/>
            <a:ext cx="70985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b="1" dirty="0"/>
              <a:t>price_per_session</a:t>
            </a:r>
            <a:r>
              <a:rPr lang="vi-VN" sz="1600" dirty="0"/>
              <a:t> și </a:t>
            </a:r>
            <a:r>
              <a:rPr lang="vi-VN" sz="1600" b="1" dirty="0"/>
              <a:t>package_sessions</a:t>
            </a:r>
            <a:r>
              <a:rPr lang="vi-VN" sz="1600" dirty="0"/>
              <a:t> au câte o clasă invalidă separată pentru bool față de restul valorilor numerice invalide. Motivul: în Python bool este subclasă a lui int, deci True și False ar trece de isinstance(..., int) fără o verificare explicită pusă înaintea ei.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2393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66807"/>
          </a:xfrm>
        </p:spPr>
        <p:txBody>
          <a:bodyPr/>
          <a:lstStyle/>
          <a:p>
            <a:r>
              <a:rPr lang="vi-VN" b="1" dirty="0"/>
              <a:t>Analiza valorilor de frontieră</a:t>
            </a:r>
            <a:r>
              <a:rPr lang="ro-RO" b="1" dirty="0"/>
              <a:t> – 16 teste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3683" y="1618089"/>
            <a:ext cx="4945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Frontierele</a:t>
            </a:r>
            <a:r>
              <a:rPr lang="fr-FR" dirty="0"/>
              <a:t> </a:t>
            </a:r>
            <a:r>
              <a:rPr lang="fr-FR" b="1" dirty="0" err="1"/>
              <a:t>package_sessions</a:t>
            </a:r>
            <a:r>
              <a:rPr lang="fr-FR" dirty="0"/>
              <a:t> </a:t>
            </a:r>
            <a:r>
              <a:rPr lang="ro-RO" dirty="0"/>
              <a:t>--</a:t>
            </a:r>
            <a:r>
              <a:rPr lang="fr-FR" dirty="0"/>
              <a:t> </a:t>
            </a:r>
            <a:r>
              <a:rPr lang="fr-FR" dirty="0" err="1"/>
              <a:t>intervalul</a:t>
            </a:r>
            <a:r>
              <a:rPr lang="fr-FR" dirty="0"/>
              <a:t> [1, 20]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75" y="1980809"/>
            <a:ext cx="4831531" cy="2236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10776" y="4391999"/>
            <a:ext cx="4471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Frontierele</a:t>
            </a:r>
            <a:r>
              <a:rPr lang="en-US" dirty="0"/>
              <a:t> </a:t>
            </a:r>
            <a:r>
              <a:rPr lang="en-US" b="1" dirty="0" err="1"/>
              <a:t>price_per_session</a:t>
            </a:r>
            <a:r>
              <a:rPr lang="en-US" dirty="0"/>
              <a:t> </a:t>
            </a:r>
            <a:r>
              <a:rPr lang="ro-RO" dirty="0"/>
              <a:t>--</a:t>
            </a:r>
            <a:r>
              <a:rPr lang="en-US" dirty="0"/>
              <a:t> </a:t>
            </a:r>
            <a:r>
              <a:rPr lang="en-US" dirty="0" err="1"/>
              <a:t>condiție</a:t>
            </a:r>
            <a:r>
              <a:rPr lang="en-US" dirty="0"/>
              <a:t> &gt; 0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31" y="4858509"/>
            <a:ext cx="3024058" cy="132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098" y="2170325"/>
            <a:ext cx="2416629" cy="9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6026098" y="1618089"/>
            <a:ext cx="4803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dirty="0"/>
              <a:t>Frontierele </a:t>
            </a:r>
            <a:r>
              <a:rPr lang="vi-VN" b="1" dirty="0"/>
              <a:t>instructor</a:t>
            </a:r>
            <a:r>
              <a:rPr lang="ro-RO" dirty="0"/>
              <a:t> --</a:t>
            </a:r>
            <a:r>
              <a:rPr lang="vi-VN" dirty="0"/>
              <a:t> lungime după strip()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26098" y="3241246"/>
            <a:ext cx="6066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dirty="0"/>
              <a:t>Frontiera de </a:t>
            </a:r>
            <a:r>
              <a:rPr lang="vi-VN" b="1" dirty="0"/>
              <a:t>consum</a:t>
            </a:r>
            <a:r>
              <a:rPr lang="vi-VN" dirty="0"/>
              <a:t> </a:t>
            </a:r>
            <a:r>
              <a:rPr lang="ro-RO" dirty="0"/>
              <a:t>--</a:t>
            </a:r>
            <a:r>
              <a:rPr lang="vi-VN" dirty="0"/>
              <a:t> momentul completării pachetului</a:t>
            </a:r>
            <a:endParaRPr lang="en-US" dirty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098" y="3764128"/>
            <a:ext cx="4897351" cy="2422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47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702156"/>
            <a:ext cx="11501951" cy="772081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Arial" pitchFamily="34" charset="0"/>
                <a:cs typeface="Arial" pitchFamily="34" charset="0"/>
              </a:rPr>
              <a:t>Acoperire structurală: instrucțiune, decizie, condiție</a:t>
            </a:r>
            <a:r>
              <a:rPr lang="ro-RO" sz="2000" b="1" dirty="0">
                <a:latin typeface="Arial" pitchFamily="34" charset="0"/>
                <a:cs typeface="Arial" pitchFamily="34" charset="0"/>
              </a:rPr>
              <a:t> – 40 de teste</a:t>
            </a:r>
            <a:br>
              <a:rPr lang="ro-RO" sz="2000" b="1" dirty="0">
                <a:latin typeface="Arial" pitchFamily="34" charset="0"/>
                <a:cs typeface="Arial" pitchFamily="34" charset="0"/>
              </a:rPr>
            </a:br>
            <a:r>
              <a:rPr lang="en-US" sz="2000" dirty="0">
                <a:latin typeface="Arial" pitchFamily="34" charset="0"/>
                <a:cs typeface="Arial" pitchFamily="34" charset="0"/>
              </a:rPr>
              <a:t>Statement · Decision · Condition coverage → 43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instrucțiuni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· 26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ramuri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· 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100%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935" y="1755957"/>
            <a:ext cx="11029615" cy="3634486"/>
          </a:xfrm>
        </p:spPr>
        <p:txBody>
          <a:bodyPr>
            <a:noAutofit/>
          </a:bodyPr>
          <a:lstStyle/>
          <a:p>
            <a:r>
              <a:rPr lang="en-US" sz="1600" b="1" dirty="0" err="1">
                <a:latin typeface="Arial" pitchFamily="34" charset="0"/>
                <a:cs typeface="Arial" pitchFamily="34" charset="0"/>
              </a:rPr>
              <a:t>Acoperire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instrucțiune</a:t>
            </a:r>
            <a:r>
              <a:rPr lang="ro-RO" sz="1600" b="1" dirty="0">
                <a:latin typeface="Arial" pitchFamily="34" charset="0"/>
                <a:cs typeface="Arial" pitchFamily="34" charset="0"/>
              </a:rPr>
              <a:t>: </a:t>
            </a:r>
            <a:r>
              <a:rPr lang="vi-VN" sz="1600" dirty="0">
                <a:latin typeface="Arial" pitchFamily="34" charset="0"/>
                <a:cs typeface="Arial" pitchFamily="34" charset="0"/>
              </a:rPr>
              <a:t>Fiecare din cele </a:t>
            </a:r>
            <a:r>
              <a:rPr lang="vi-VN" sz="1600" b="1" dirty="0">
                <a:latin typeface="Arial" pitchFamily="34" charset="0"/>
                <a:cs typeface="Arial" pitchFamily="34" charset="0"/>
              </a:rPr>
              <a:t>43 de instrucțiuni</a:t>
            </a:r>
            <a:r>
              <a:rPr lang="vi-VN" sz="1600" dirty="0">
                <a:latin typeface="Arial" pitchFamily="34" charset="0"/>
                <a:cs typeface="Arial" pitchFamily="34" charset="0"/>
              </a:rPr>
              <a:t> este executată cel puțin o dată.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endParaRPr lang="ro-RO" sz="16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o-RO" sz="16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o-RO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 err="1">
                <a:latin typeface="Arial" pitchFamily="34" charset="0"/>
                <a:cs typeface="Arial" pitchFamily="34" charset="0"/>
              </a:rPr>
              <a:t>Acoperire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decizie</a:t>
            </a:r>
            <a:r>
              <a:rPr lang="ro-RO" sz="16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Fiecare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if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executat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ro-RO" sz="1600" dirty="0"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pe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ramura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True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și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pe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ramura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False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.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endParaRPr lang="ro-RO" sz="1600" dirty="0">
              <a:latin typeface="Arial" pitchFamily="34" charset="0"/>
              <a:cs typeface="Arial" pitchFamily="34" charset="0"/>
            </a:endParaRPr>
          </a:p>
          <a:p>
            <a:endParaRPr lang="ro-RO" sz="16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o-RO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b="1" dirty="0" err="1">
                <a:latin typeface="Arial" pitchFamily="34" charset="0"/>
                <a:cs typeface="Arial" pitchFamily="34" charset="0"/>
              </a:rPr>
              <a:t>Acoperire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condiție</a:t>
            </a:r>
            <a:r>
              <a:rPr lang="ro-RO" sz="1600" b="1" dirty="0">
                <a:latin typeface="Arial" pitchFamily="34" charset="0"/>
                <a:cs typeface="Arial" pitchFamily="34" charset="0"/>
              </a:rPr>
              <a:t>: </a:t>
            </a:r>
            <a:r>
              <a:rPr lang="vi-VN" sz="1600" dirty="0">
                <a:latin typeface="Arial" pitchFamily="34" charset="0"/>
                <a:cs typeface="Arial" pitchFamily="34" charset="0"/>
              </a:rPr>
              <a:t>Fiecare condiție atomică dintr-o </a:t>
            </a:r>
            <a:endParaRPr lang="ro-RO" sz="16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ro-RO" sz="1600" dirty="0">
                <a:latin typeface="Arial" pitchFamily="34" charset="0"/>
                <a:cs typeface="Arial" pitchFamily="34" charset="0"/>
              </a:rPr>
              <a:t>      </a:t>
            </a:r>
            <a:r>
              <a:rPr lang="vi-VN" sz="1600" dirty="0">
                <a:latin typeface="Arial" pitchFamily="34" charset="0"/>
                <a:cs typeface="Arial" pitchFamily="34" charset="0"/>
              </a:rPr>
              <a:t>expresie compusă este testată independent.</a:t>
            </a:r>
            <a:endParaRPr lang="ro-RO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96" y="1758905"/>
            <a:ext cx="8406882" cy="889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7" y="2328995"/>
            <a:ext cx="7539307" cy="200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416" y="4404053"/>
            <a:ext cx="5218469" cy="245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6327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8973355" cy="557477"/>
          </a:xfrm>
        </p:spPr>
        <p:txBody>
          <a:bodyPr>
            <a:normAutofit/>
          </a:bodyPr>
          <a:lstStyle/>
          <a:p>
            <a:r>
              <a:rPr lang="en-US" b="1" dirty="0" err="1"/>
              <a:t>Circuite</a:t>
            </a:r>
            <a:r>
              <a:rPr lang="en-US" b="1" dirty="0"/>
              <a:t> </a:t>
            </a:r>
            <a:r>
              <a:rPr lang="en-US" b="1" dirty="0" err="1"/>
              <a:t>independente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diagrame</a:t>
            </a:r>
            <a:r>
              <a:rPr lang="ro-RO" b="1" dirty="0"/>
              <a:t> – 10 drumuri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590098"/>
            <a:ext cx="2975353" cy="2638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56769" y="1220766"/>
            <a:ext cx="3385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/>
              <a:t>Cele 9 decizii principale (D1–D9)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76372" y="1973241"/>
            <a:ext cx="3099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Cele</a:t>
            </a:r>
            <a:r>
              <a:rPr lang="en-US" b="1" dirty="0"/>
              <a:t> 10 </a:t>
            </a:r>
            <a:r>
              <a:rPr lang="en-US" b="1" dirty="0" err="1"/>
              <a:t>circuite</a:t>
            </a:r>
            <a:r>
              <a:rPr lang="en-US" b="1" dirty="0"/>
              <a:t> </a:t>
            </a:r>
            <a:r>
              <a:rPr lang="en-US" b="1" dirty="0" err="1"/>
              <a:t>independente</a:t>
            </a:r>
            <a:endParaRPr lang="en-US" b="1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839" y="2422139"/>
            <a:ext cx="4016375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5" y="1439264"/>
            <a:ext cx="3623339" cy="517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8033414" y="6434333"/>
            <a:ext cx="43852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/>
              <a:t>Diagramele pot fi văzute în README.md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406CC1-0139-9AAF-059A-FE9A0A4C6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41" y="4188558"/>
            <a:ext cx="4175918" cy="266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09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254" y="494509"/>
            <a:ext cx="11641921" cy="746443"/>
          </a:xfrm>
        </p:spPr>
        <p:txBody>
          <a:bodyPr>
            <a:noAutofit/>
          </a:bodyPr>
          <a:lstStyle/>
          <a:p>
            <a:r>
              <a:rPr lang="en-US" sz="2000" b="1" dirty="0"/>
              <a:t>Mutation Testing: </a:t>
            </a:r>
            <a:r>
              <a:rPr lang="en-US" sz="2000" b="1" dirty="0" err="1"/>
              <a:t>mutmut</a:t>
            </a:r>
            <a:br>
              <a:rPr lang="ro-RO" sz="2000" b="1" dirty="0"/>
            </a:br>
            <a:r>
              <a:rPr lang="vi-VN" sz="2000" dirty="0"/>
              <a:t>Testele sunt suficient de precise pentru a detecta modificări greșite ale codului?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74447"/>
            <a:ext cx="12027158" cy="3634486"/>
          </a:xfrm>
        </p:spPr>
        <p:txBody>
          <a:bodyPr>
            <a:normAutofit/>
          </a:bodyPr>
          <a:lstStyle/>
          <a:p>
            <a:r>
              <a:rPr lang="en-US" b="1" i="1" dirty="0" err="1"/>
              <a:t>Ce</a:t>
            </a:r>
            <a:r>
              <a:rPr lang="en-US" b="1" i="1" dirty="0"/>
              <a:t> </a:t>
            </a:r>
            <a:r>
              <a:rPr lang="en-US" b="1" i="1" dirty="0" err="1"/>
              <a:t>este</a:t>
            </a:r>
            <a:r>
              <a:rPr lang="en-US" b="1" i="1" dirty="0"/>
              <a:t> mutation testing?</a:t>
            </a:r>
            <a:r>
              <a:rPr lang="ro-RO" i="1" dirty="0"/>
              <a:t> </a:t>
            </a:r>
            <a:r>
              <a:rPr lang="vi-VN" dirty="0"/>
              <a:t>Se introduc automat modificări mici (mutanți) în codul sursă și se verifică dacă testele le detectează. </a:t>
            </a:r>
            <a:r>
              <a:rPr lang="vi-VN" b="1" dirty="0"/>
              <a:t>Mutant ucis</a:t>
            </a:r>
            <a:r>
              <a:rPr lang="vi-VN" dirty="0"/>
              <a:t> = testul a eșuat → testul e precis. </a:t>
            </a:r>
            <a:r>
              <a:rPr lang="vi-VN" b="1" dirty="0"/>
              <a:t>Mutant supraviețuitor</a:t>
            </a:r>
            <a:r>
              <a:rPr lang="vi-VN" dirty="0"/>
              <a:t> = niciun test nu a sesizat modificarea.</a:t>
            </a:r>
            <a:endParaRPr lang="ro-RO" dirty="0"/>
          </a:p>
          <a:p>
            <a:r>
              <a:rPr lang="en-US" b="1" dirty="0" err="1"/>
              <a:t>Rezultate</a:t>
            </a:r>
            <a:r>
              <a:rPr lang="en-US" b="1" dirty="0"/>
              <a:t> </a:t>
            </a:r>
            <a:r>
              <a:rPr lang="en-US" b="1" dirty="0" err="1"/>
              <a:t>mutmut</a:t>
            </a:r>
            <a:r>
              <a:rPr lang="en-US" b="1" dirty="0"/>
              <a:t> 2.5.1</a:t>
            </a:r>
          </a:p>
          <a:p>
            <a:endParaRPr lang="ro-RO" b="1" dirty="0"/>
          </a:p>
          <a:p>
            <a:pPr marL="0" indent="0">
              <a:buNone/>
            </a:pPr>
            <a:endParaRPr lang="ro-RO" b="1" dirty="0"/>
          </a:p>
          <a:p>
            <a:r>
              <a:rPr lang="vi-VN" b="1" dirty="0"/>
              <a:t>Suspicious ≠ Survived.</a:t>
            </a:r>
            <a:r>
              <a:rPr lang="vi-VN" dirty="0"/>
              <a:t> Categoria Suspicious înseamnă că rularea unui test a durat mai mult decât baseline-ul, fără timeout fatal. Rezultatul important este </a:t>
            </a:r>
            <a:r>
              <a:rPr lang="vi-VN" b="1" dirty="0"/>
              <a:t>0 survived</a:t>
            </a:r>
            <a:r>
              <a:rPr lang="vi-VN" dirty="0"/>
              <a:t>.</a:t>
            </a:r>
            <a:endParaRPr lang="ro-RO" dirty="0"/>
          </a:p>
          <a:p>
            <a:r>
              <a:rPr lang="en-US" b="1" dirty="0"/>
              <a:t>test_mutation.py — 11 </a:t>
            </a:r>
            <a:r>
              <a:rPr lang="en-US" b="1" dirty="0" err="1"/>
              <a:t>teste</a:t>
            </a:r>
            <a:r>
              <a:rPr lang="en-US" b="1" dirty="0"/>
              <a:t> dedicate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mutanți</a:t>
            </a:r>
            <a:r>
              <a:rPr lang="en-US" b="1" dirty="0"/>
              <a:t> </a:t>
            </a:r>
            <a:r>
              <a:rPr lang="en-US" b="1" dirty="0" err="1"/>
              <a:t>neechivalenți</a:t>
            </a:r>
            <a:endParaRPr lang="en-US" b="1" dirty="0"/>
          </a:p>
          <a:p>
            <a:pPr marL="0" indent="0">
              <a:buNone/>
            </a:pPr>
            <a:endParaRPr lang="ro-RO" b="1" dirty="0"/>
          </a:p>
          <a:p>
            <a:endParaRPr lang="en-US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806" y="2044021"/>
            <a:ext cx="150177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34" y="4704800"/>
            <a:ext cx="8903571" cy="21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5858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0960775" cy="678775"/>
          </a:xfrm>
        </p:spPr>
        <p:txBody>
          <a:bodyPr>
            <a:noAutofit/>
          </a:bodyPr>
          <a:lstStyle/>
          <a:p>
            <a:r>
              <a:rPr lang="it-IT" sz="2000" b="1" dirty="0"/>
              <a:t>Utilizarea AI și rezultate finale</a:t>
            </a:r>
            <a:br>
              <a:rPr lang="ro-RO" sz="2000" b="1" dirty="0"/>
            </a:br>
            <a:r>
              <a:rPr lang="vi-VN" sz="2000" dirty="0"/>
              <a:t>ChatGPT/Codex ca instrument de verificare · Nu înlocuiește validarea manuală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85516" y="1648799"/>
            <a:ext cx="2170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Cum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utilizat</a:t>
            </a:r>
            <a:r>
              <a:rPr lang="en-US" dirty="0"/>
              <a:t> AI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3" y="2108881"/>
            <a:ext cx="42291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24900" y="3465549"/>
            <a:ext cx="2474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/>
              <a:t>Suita AI vs suita proprie</a:t>
            </a:r>
            <a:endParaRPr 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3" y="3801450"/>
            <a:ext cx="4180679" cy="137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68239" y="1690177"/>
            <a:ext cx="1697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Rezultate</a:t>
            </a:r>
            <a:r>
              <a:rPr lang="en-US" dirty="0"/>
              <a:t> finale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699" y="2108881"/>
            <a:ext cx="4216686" cy="1239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830147" y="388980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dirty="0"/>
              <a:t>Metoda </a:t>
            </a:r>
            <a:r>
              <a:rPr lang="vi-VN" b="1" dirty="0"/>
              <a:t>evaluate_client_package</a:t>
            </a:r>
            <a:r>
              <a:rPr lang="vi-VN" dirty="0"/>
              <a:t> a permis ilustrarea tuturor strategiilor cerute: partiționare, frontiere, acoperire la trei niveluri, circuite independente și mutation testing cu două instrumente complementare.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46070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{03D20150-71BC-4020-964D-64EC933C4955}TF201209c3-d067-44f9-a26f-c8f216c4431347f6cf9d_win32-4021059b889a</Template>
  <TotalTime>1157</TotalTime>
  <Words>816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Franklin Gothic Book</vt:lpstr>
      <vt:lpstr>Franklin Gothic Demi</vt:lpstr>
      <vt:lpstr>Tahoma</vt:lpstr>
      <vt:lpstr>Wingdings 2</vt:lpstr>
      <vt:lpstr>DividendVTI</vt:lpstr>
      <vt:lpstr>Testarea sistemelor software – t1 - Testare unitară în Python</vt:lpstr>
      <vt:lpstr>Metoda testată - Evaluarea stării unui pachet de ședințe de fitness</vt:lpstr>
      <vt:lpstr>Strategiile de testare </vt:lpstr>
      <vt:lpstr>Validări și reguli de business</vt:lpstr>
      <vt:lpstr>Partiționare în clase de echivalență – 23 de teste Grupuri de valori cu comportament identic · câte un reprezentant per clasă</vt:lpstr>
      <vt:lpstr>Analiza valorilor de frontieră – 16 teste</vt:lpstr>
      <vt:lpstr>Acoperire structurală: instrucțiune, decizie, condiție – 40 de teste Statement · Decision · Condition coverage → 43 instrucțiuni · 26 ramuri · 100%</vt:lpstr>
      <vt:lpstr>Circuite independente și diagrame – 10 drumuri</vt:lpstr>
      <vt:lpstr>Mutation Testing: mutmut Testele sunt suficient de precise pentru a detecta modificări greșite ale codului?</vt:lpstr>
      <vt:lpstr>Utilizarea AI și rezultate finale ChatGPT/Codex ca instrument de verificare · Nu înlocuiește validarea manuală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Testarea sistemelor software – Testare unitară în Python</dc:title>
  <dc:creator>Dan-Alexandru Nite</dc:creator>
  <cp:lastModifiedBy>Dan-Alexandru Nite</cp:lastModifiedBy>
  <cp:revision>18</cp:revision>
  <dcterms:created xsi:type="dcterms:W3CDTF">2026-05-16T03:40:25Z</dcterms:created>
  <dcterms:modified xsi:type="dcterms:W3CDTF">2026-05-17T12:30:43Z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